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here today to discuss how we can fundamentally change wafer defect analysis. This system is not just an incremental improvement; it is a complete AI-driven automation solution. Our core promise is simple: we will maximize your yield, minimize your operational costs, and dramatically accelerate root cause analysis. This is achieved through a combination of 99-plus percent detection accuracy and a high-throughput design that can process over a thousand wafers every hour. The system is designed for continuous learning, ensuring its performance only improves over time. Now, let's look at the critical problems this system is designed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into the solution, we must acknowledge the current manufacturing bottlenecks. The first major challenge is the high cost and inefficiency of manual review. Expert engineers, costing around $150,000 annually, spend hours manually reviewing defect maps, a process that is both slow and prone to human error. This leads directly to the second problem: slow analysis speed. Waiting two to four hours for root cause analysis means significant production delays and lost capacity. Finally, the subjective nature of manual classification leads to inconsistent data, making reliable process improvement nearly impossible. These bottlenecks translate directly into millions in lost revenue from yield loss and a 15 to 20 percent drop in capacity utilization. We need a solution that eliminates these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our end-to-end AI automation platform, built to address those three critical challenges head-on. We deliver real-time automated analysis, completing detection, classification, and root cause analysis in under five seconds. This eliminates the multi-hour delay we just discussed. Our system achieves over 99 percent accuracy by leveraging state-of-the-art deep learning models like YOLOv10 and Vision Transformers. Crucially, the system is designed for continuous learning; it uses expert feedback and generative AI to automatically retrain and improve weekly. This scalable, production-ready solution is built on a microservices architecture, which we will detail next, and it delivers a clear ROI: a 50 percent reduction in labor and a two to three percent yield improvement, with a payback period of 12 to 18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deliver that high performance and scalability, we built the system on a modern microservices architecture. This design ensures high availability and allows us to scale horizontally as your production demands increase. Key components include our API Gateway for secure access and the Inference Service, which runs on NVIDIA Triton and is accelerated by two H100 GPUs. We also integrate a dedicated GAN Service for synthetic data generation and a robust MLOps pipeline using Kubeflow for continuous improvement. This architecture is engineered for speed, delivering P99 inference latency under 50 milliseconds and achieving the target throughput of over a thousand wafers per hour. This robust foundation is what allows us to deploy and manage our advanced AI models effectively.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performance is directly tied to our state-of-the-art deep learning model stack. We use a complementary ensemble of three models, each serving a specific purpose. YOLOv10-Medium handles the initial defect detection, giving us precise localization with 98.5 percent accuracy. We then use DeiT-Tiny, a Vision Transformer, for fine-grained classification, which is highly efficient and handles class imbalance well. Finally, we use a ResNet50 ensemble with an attention mechanism to refine confidence scores and provide the final, highly accurate vote. This ensemble approach pushes our combined accuracy to 99.1 percent. We use TensorRT optimization to ensure this entire process executes in under 50 milliseconds, providing a 2.5 times speedup and significant power savings. This model stack is the engine of our high-accuracy, high-speed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established that our model stack delivers 99.1% accuracy, but sustaining that performance requires solving the data scarcity problem. Real-world defect data is rare and expensive to label, so we're using Generative Adversarial Networks, or GANs, to create high-fidelity synthetic data. We use StyleGAN2 to generate physically plausible images, expanding our training data tenfold, which is critical for model robustness. And we use Conditional GANs to specifically target and augment those minority defect classes, boosting their F1 score by 25%. This strategy is the engine for continuous improvement, ensuring we always have enough quality data to train the best models. Now, let's look at how this data feeds into our continuous learning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system isn't static; it's designed for continuous evolution through an automated MLOps pipeline. The key message here is that we've closed the loop, ensuring the system gets smarter every day without manual intervention. The cycle begins with automatically collecting new labeled data and expert feedback, which is then augmented by our GAN system, especially for rare defects. When we detect model drift or accumulate enough new data, the system automatically triggers a retraining cycle. The new model is validated through A/B testing in a shadow environment, and if it shows even a one percent improvement, it's automatically deployed to production. This automated process ensures we achieve a continuous performance gain of up to one percent per month and reduces the time needed to identify new defect types from weeks to just days. Next, we'll examine how this intelligence is delivered to the factory floor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of real-time analysis is realized through seamless integration with the existing Manufacturing Execution System, or MES. We provide a robust, high-throughput REST API that allows the MES to send defect maps and receive a full analysis in under five seconds. This speed is crucial because it eliminates the production delay caused by manual analysis. Our system doesn't just classify defects; it performs automatic root cause identification and generates real-time alerts, allowing engineers to intervene immediately. This creates a closed-loop feedback system, ensuring that the insights from our AI are instantly actionable and flow directly back into the MES for process control. Now, let's look at the robust architecture that makes this real-time performance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handle the high throughput required—over 1,000 wafers per hour—we built this system on a Kubernetes-native, cloud-native architecture. This design ensures both high availability and elastic scalability, which is essential for manufacturing environments. We leverage dedicated GPU node pools with NVIDIA H100s for all high-performance tasks like inference and GAN generation, achieving 95% GPU utilization. The system employs horizontal and vertical auto-scaling, meaning it can automatically provision more resources during peak loads and scale down to optimize costs. This architecture guarantees 99.5% availability and allows us to scale throughput by 500 wafers per hour for every additional H100 we deploy. This scalable foundation supports our aggressive 8-month delivery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structured the implementation into a focused, 8-month phased delivery roadmap with clear milestones and deliverables. Phase one focuses on building the foundational data pipeline and optimizing the initial YOLOv10 model. By the end of phase two, we will have integrated the full core AI functionality, including the GAN system, and achieved the 99.1% accuracy target. Phase three focuses on production readiness, integrating with the MES, and building the expert feedback loop. Finally, phase four is dedicated to optimization, full-scale Kubernetes deployment, and user training, resulting in a fully operational production system. This structured approach ensures we manage risk and deliver a high-performing system on time. Next, we'll review the quantifiable business metrics that define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outlined the plan, and now we must define success. This slide translates our technical capabilities into clear, quantifiable business outcomes. Our system targets a 99% defect detection accuracy, which is a 9 to 14 percentage point leap over current baselines. More importantly, we're collapsing the inference latency from hours—two to four hours—down to less than 50 milliseconds, a near-instantaneous response that eliminates production delays. This speed and accuracy drives our business metrics. We project a 2 to 3 percent yield improvement, which directly translates to $1 million to $1.5 million in annual revenue. This strong return means we anticipate a full investment payback within 12 to 18 months. But remember, any major project has inherent risks, and we've planned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ROI is compelling, we must proactively manage the risks that could derail our timeline or performance. The primary technical risk is model performance drift, where new defect patterns emerge that the model hasn't seen. We mitigate this with a continuous learning pipeline and automatic rollback mechanisms, ensuring the system is always improving, not degrading. Operationally, we address user adoption by implementing a phased rollout and providing comprehensive training, making sure the engineering team sees this as a tool, not a threat. Finally, we manage implementation delays through an agile methodology and strict milestone checkpoints, keeping the project on track. This robust risk framework is a key differentiator, as you'll see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competitive advantage is not just one feature; it's the convergence of superior performance and a future-proof architecture. No other solution offers our combination of 99.1% accuracy and sub-50 millisecond latency, which sets a new industry benchmark for speed and precision. This technical leadership translates directly into cost effectiveness, delivering a rapid 12 to 18 month payback period. Furthermore, our system is designed for easy integration, using standardized REST APIs that allow us to plug into any existing MES without disrupting your current workflow. This modular design and automated MLOps pipeline ensure continuous improvement, meaning the system adapts as your manufacturing processes evolve.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demonstrated that this project is technically feasible, strategically aligned, and financially compelling. The initial investment of $500K to $800K is quickly offset by the projected $1 million to $1.5 million in Year 1 ROI. This means the investment criteria are met: the business value is clear, and the risk is controlled. We recommend approving project initiation this month to capture the competitive advantage immediately. Our plan is to move quickly, with a pilot deployment on a single line by Month 6, leading to a full production rollout across all lines by Month 8. We need your approval today to assemble the project team and begin development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slideLayout" Target="../slideLayouts/slideLayout1.xml"/><Relationship Id="rId1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5029200" cy="5143500"/>
          </a:xfrm>
          <a:prstGeom prst="rect">
            <a:avLst/>
          </a:prstGeom>
          <a:solidFill>
            <a:srgbClr val="F0F0F0"/>
          </a:solidFill>
          <a:ln/>
        </p:spPr>
      </p:sp>
      <p:pic>
        <p:nvPicPr>
          <p:cNvPr id="5" name="Image 1" descr="preencoded.png">    </p:cNvPr>
          <p:cNvPicPr>
            <a:picLocks noChangeAspect="1"/>
          </p:cNvPicPr>
          <p:nvPr/>
        </p:nvPicPr>
        <p:blipFill>
          <a:blip r:embed="rId2"/>
          <a:stretch>
            <a:fillRect/>
          </a:stretch>
        </p:blipFill>
        <p:spPr>
          <a:xfrm>
            <a:off x="0" y="0"/>
            <a:ext cx="5029200" cy="5143500"/>
          </a:xfrm>
          <a:prstGeom prst="rect">
            <a:avLst/>
          </a:prstGeom>
        </p:spPr>
      </p:pic>
      <p:sp>
        <p:nvSpPr>
          <p:cNvPr id="6" name="Shape 1"/>
          <p:cNvSpPr/>
          <p:nvPr/>
        </p:nvSpPr>
        <p:spPr>
          <a:xfrm>
            <a:off x="5029200" y="0"/>
            <a:ext cx="4114800" cy="5143500"/>
          </a:xfrm>
          <a:prstGeom prst="rect">
            <a:avLst/>
          </a:prstGeom>
          <a:solidFill>
            <a:srgbClr val="002B5C"/>
          </a:solidFill>
          <a:ln/>
        </p:spPr>
      </p:sp>
      <p:sp>
        <p:nvSpPr>
          <p:cNvPr id="7" name="Text 2"/>
          <p:cNvSpPr/>
          <p:nvPr/>
        </p:nvSpPr>
        <p:spPr>
          <a:xfrm>
            <a:off x="5386388" y="428625"/>
            <a:ext cx="3400425" cy="1508671"/>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rPr>
              <a:t>AI-Driven</a:t>
            </a:r>
            <a:pPr algn="l" indent="0" marL="0">
              <a:lnSpc>
                <a:spcPts val="3000"/>
              </a:lnSpc>
              <a:buNone/>
            </a:pPr>
            <a:r>
              <a:rPr lang="en-US" sz="2436" b="1" dirty="0">
                <a:solidFill>
                  <a:srgbClr val="FFFFFF"/>
                </a:solidFill>
              </a:rPr>
              <a:t>
</a:t>
            </a:r>
            <a:pPr algn="l" indent="0" marL="0">
              <a:lnSpc>
                <a:spcPts val="3000"/>
              </a:lnSpc>
              <a:buNone/>
            </a:pPr>
            <a:r>
              <a:rPr lang="en-US" sz="2436" b="1" dirty="0">
                <a:solidFill>
                  <a:srgbClr val="FFFFFF"/>
                </a:solidFill>
              </a:rPr>
              <a:t>Automated</a:t>
            </a:r>
            <a:pPr algn="l" indent="0" marL="0">
              <a:lnSpc>
                <a:spcPts val="3000"/>
              </a:lnSpc>
              <a:buNone/>
            </a:pPr>
            <a:r>
              <a:rPr lang="en-US" sz="2436" b="1" dirty="0">
                <a:solidFill>
                  <a:srgbClr val="FFFFFF"/>
                </a:solidFill>
              </a:rPr>
              <a:t>
</a:t>
            </a:r>
            <a:pPr algn="l" indent="0" marL="0">
              <a:lnSpc>
                <a:spcPts val="3000"/>
              </a:lnSpc>
              <a:buNone/>
            </a:pPr>
            <a:r>
              <a:rPr lang="en-US" sz="2436" b="1" dirty="0">
                <a:solidFill>
                  <a:srgbClr val="FFFFFF"/>
                </a:solidFill>
              </a:rPr>
              <a:t>Wafer Defect</a:t>
            </a:r>
            <a:pPr algn="l" indent="0" marL="0">
              <a:lnSpc>
                <a:spcPts val="3000"/>
              </a:lnSpc>
              <a:buNone/>
            </a:pPr>
            <a:r>
              <a:rPr lang="en-US" sz="2436" b="1" dirty="0">
                <a:solidFill>
                  <a:srgbClr val="FFFFFF"/>
                </a:solidFill>
              </a:rPr>
              <a:t>
</a:t>
            </a:r>
            <a:pPr algn="l" indent="0" marL="0">
              <a:lnSpc>
                <a:spcPts val="3000"/>
              </a:lnSpc>
              <a:buNone/>
            </a:pPr>
            <a:r>
              <a:rPr lang="en-US" sz="2436" b="1" dirty="0">
                <a:solidFill>
                  <a:srgbClr val="FFFFFF"/>
                </a:solidFill>
              </a:rPr>
              <a:t>Analysis System</a:t>
            </a:r>
            <a:endParaRPr lang="en-US" sz="2436" dirty="0"/>
          </a:p>
        </p:txBody>
      </p:sp>
      <p:sp>
        <p:nvSpPr>
          <p:cNvPr id="8" name="Text 3"/>
          <p:cNvSpPr/>
          <p:nvPr/>
        </p:nvSpPr>
        <p:spPr>
          <a:xfrm>
            <a:off x="5386388" y="2080171"/>
            <a:ext cx="3400425" cy="428625"/>
          </a:xfrm>
          <a:prstGeom prst="rect">
            <a:avLst/>
          </a:prstGeom>
          <a:noFill/>
          <a:ln/>
        </p:spPr>
        <p:txBody>
          <a:bodyPr wrap="square" lIns="170053" tIns="0" rIns="0" bIns="0" rtlCol="0" anchor="t">
            <a:spAutoFit/>
          </a:bodyPr>
          <a:lstStyle/>
          <a:p>
            <a:pPr algn="l" indent="0" marL="0">
              <a:lnSpc>
                <a:spcPts val="1700"/>
              </a:lnSpc>
              <a:buNone/>
            </a:pPr>
            <a:r>
              <a:rPr lang="en-US" sz="1050" dirty="0">
                <a:solidFill>
                  <a:srgbClr val="FFFFFF">
                    <a:alpha val="90000"/>
                  </a:srgbClr>
                </a:solidFill>
              </a:rPr>
              <a:t>Maximize Yield · Minimize Cost · Accelerate Root Cause Analysis</a:t>
            </a:r>
            <a:endParaRPr lang="en-US" sz="1050" dirty="0"/>
          </a:p>
        </p:txBody>
      </p:sp>
      <p:sp>
        <p:nvSpPr>
          <p:cNvPr id="9" name="Text 4"/>
          <p:cNvSpPr/>
          <p:nvPr/>
        </p:nvSpPr>
        <p:spPr>
          <a:xfrm>
            <a:off x="5386388" y="3470077"/>
            <a:ext cx="714375"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4F00"/>
                </a:solidFill>
              </a:rPr>
              <a:t>99%+</a:t>
            </a:r>
            <a:endParaRPr lang="en-US" sz="1602" dirty="0"/>
          </a:p>
        </p:txBody>
      </p:sp>
      <p:sp>
        <p:nvSpPr>
          <p:cNvPr id="10" name="Text 5"/>
          <p:cNvSpPr/>
          <p:nvPr/>
        </p:nvSpPr>
        <p:spPr>
          <a:xfrm>
            <a:off x="6207919" y="3593306"/>
            <a:ext cx="1491202"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FFFFFF"/>
                </a:solidFill>
              </a:rPr>
              <a:t>Defect Detection Accuracy</a:t>
            </a:r>
            <a:endParaRPr lang="en-US" sz="834" dirty="0"/>
          </a:p>
        </p:txBody>
      </p:sp>
      <p:sp>
        <p:nvSpPr>
          <p:cNvPr id="11" name="Text 6"/>
          <p:cNvSpPr/>
          <p:nvPr/>
        </p:nvSpPr>
        <p:spPr>
          <a:xfrm>
            <a:off x="5386388" y="4004072"/>
            <a:ext cx="714375"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4F00"/>
                </a:solidFill>
              </a:rPr>
              <a:t>1000+</a:t>
            </a:r>
            <a:endParaRPr lang="en-US" sz="1602" dirty="0"/>
          </a:p>
        </p:txBody>
      </p:sp>
      <p:sp>
        <p:nvSpPr>
          <p:cNvPr id="12" name="Text 7"/>
          <p:cNvSpPr/>
          <p:nvPr/>
        </p:nvSpPr>
        <p:spPr>
          <a:xfrm>
            <a:off x="6207919" y="4127302"/>
            <a:ext cx="1438433"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FFFFFF"/>
                </a:solidFill>
              </a:rPr>
              <a:t>Wafers/Hour Throughput</a:t>
            </a:r>
            <a:endParaRPr lang="en-US" sz="834" dirty="0"/>
          </a:p>
        </p:txBody>
      </p:sp>
      <p:sp>
        <p:nvSpPr>
          <p:cNvPr id="13" name="Text 8"/>
          <p:cNvSpPr/>
          <p:nvPr/>
        </p:nvSpPr>
        <p:spPr>
          <a:xfrm>
            <a:off x="5386388" y="4538067"/>
            <a:ext cx="714375"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4F00"/>
                </a:solidFill>
              </a:rPr>
              <a:t>100%</a:t>
            </a:r>
            <a:endParaRPr lang="en-US" sz="1602" dirty="0"/>
          </a:p>
        </p:txBody>
      </p:sp>
      <p:sp>
        <p:nvSpPr>
          <p:cNvPr id="14" name="Text 9"/>
          <p:cNvSpPr/>
          <p:nvPr/>
        </p:nvSpPr>
        <p:spPr>
          <a:xfrm>
            <a:off x="6207919" y="4661297"/>
            <a:ext cx="1859468"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FFFFFF"/>
                </a:solidFill>
              </a:rPr>
              <a:t>Automated Continuous Learning</a:t>
            </a:r>
            <a:endParaRPr lang="en-US" sz="834" dirty="0"/>
          </a:p>
        </p:txBody>
      </p:sp>
      <p:sp>
        <p:nvSpPr>
          <p:cNvPr id="15" name="Text 10"/>
          <p:cNvSpPr/>
          <p:nvPr/>
        </p:nvSpPr>
        <p:spPr>
          <a:xfrm>
            <a:off x="8472767" y="4580930"/>
            <a:ext cx="456921" cy="348258"/>
          </a:xfrm>
          <a:prstGeom prst="rect">
            <a:avLst/>
          </a:prstGeom>
          <a:noFill/>
          <a:ln/>
        </p:spPr>
        <p:txBody>
          <a:bodyPr wrap="square" lIns="0" tIns="0" rIns="0" bIns="0" rtlCol="0" anchor="t">
            <a:spAutoFit/>
          </a:bodyPr>
          <a:lstStyle/>
          <a:p>
            <a:pPr algn="r" indent="0" marL="0">
              <a:lnSpc>
                <a:spcPts val="800"/>
              </a:lnSpc>
              <a:buNone/>
            </a:pPr>
            <a:r>
              <a:rPr lang="en-US" sz="621" dirty="0">
                <a:solidFill>
                  <a:srgbClr val="FFFFFF">
                    <a:alpha val="30000"/>
                  </a:srgbClr>
                </a:solidFill>
              </a:rPr>
              <a:t>SYS.VER.1.0</a:t>
            </a:r>
            <a:pPr algn="r" indent="0" marL="0">
              <a:lnSpc>
                <a:spcPts val="800"/>
              </a:lnSpc>
              <a:buNone/>
            </a:pPr>
            <a:r>
              <a:rPr lang="en-US" sz="621" dirty="0">
                <a:solidFill>
                  <a:srgbClr val="FFFFFF">
                    <a:alpha val="30000"/>
                  </a:srgbClr>
                </a:solidFill>
              </a:rPr>
              <a:t>
</a:t>
            </a:r>
            <a:pPr algn="r" indent="0" marL="0">
              <a:lnSpc>
                <a:spcPts val="800"/>
              </a:lnSpc>
              <a:buNone/>
            </a:pPr>
            <a:r>
              <a:rPr lang="en-US" sz="621" dirty="0">
                <a:solidFill>
                  <a:srgbClr val="FFFFFF">
                    <a:alpha val="30000"/>
                  </a:srgbClr>
                </a:solidFill>
              </a:rPr>
              <a:t> MANUS AI</a:t>
            </a:r>
            <a:pPr algn="r" indent="0" marL="0">
              <a:lnSpc>
                <a:spcPts val="800"/>
              </a:lnSpc>
              <a:buNone/>
            </a:pPr>
            <a:r>
              <a:rPr lang="en-US" sz="621" dirty="0">
                <a:solidFill>
                  <a:srgbClr val="FFFFFF">
                    <a:alpha val="30000"/>
                  </a:srgbClr>
                </a:solidFill>
              </a:rPr>
              <a:t>
</a:t>
            </a:r>
            <a:pPr algn="r" indent="0" marL="0">
              <a:lnSpc>
                <a:spcPts val="800"/>
              </a:lnSpc>
              <a:buNone/>
            </a:pPr>
            <a:r>
              <a:rPr lang="en-US" sz="621" dirty="0">
                <a:solidFill>
                  <a:srgbClr val="FFFFFF">
                    <a:alpha val="30000"/>
                  </a:srgbClr>
                </a:solidFill>
              </a:rPr>
              <a:t> 2026.01.17</a:t>
            </a:r>
            <a:endParaRPr lang="en-US" sz="62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214938"/>
          </a:xfrm>
          <a:prstGeom prst="rect">
            <a:avLst/>
          </a:prstGeom>
        </p:spPr>
      </p:pic>
      <p:sp>
        <p:nvSpPr>
          <p:cNvPr id="4" name="Shape 0"/>
          <p:cNvSpPr/>
          <p:nvPr/>
        </p:nvSpPr>
        <p:spPr>
          <a:xfrm>
            <a:off x="571500" y="428625"/>
            <a:ext cx="8001000" cy="989409"/>
          </a:xfrm>
          <a:prstGeom prst="rect">
            <a:avLst/>
          </a:prstGeom>
          <a:solidFill>
            <a:srgbClr val="000000">
              <a:alpha val="0"/>
            </a:srgbClr>
          </a:solidFill>
          <a:ln/>
        </p:spPr>
      </p:sp>
      <p:sp>
        <p:nvSpPr>
          <p:cNvPr id="5" name="Shape 1"/>
          <p:cNvSpPr/>
          <p:nvPr/>
        </p:nvSpPr>
        <p:spPr>
          <a:xfrm>
            <a:off x="571500" y="1389459"/>
            <a:ext cx="8001000" cy="28575"/>
          </a:xfrm>
          <a:prstGeom prst="rect">
            <a:avLst/>
          </a:prstGeom>
          <a:solidFill>
            <a:srgbClr val="002B5C"/>
          </a:solidFill>
          <a:ln/>
        </p:spPr>
      </p:sp>
      <p:sp>
        <p:nvSpPr>
          <p:cNvPr id="6" name="Text 2"/>
          <p:cNvSpPr/>
          <p:nvPr/>
        </p:nvSpPr>
        <p:spPr>
          <a:xfrm>
            <a:off x="571500" y="428625"/>
            <a:ext cx="4660292" cy="817959"/>
          </a:xfrm>
          <a:prstGeom prst="rect">
            <a:avLst/>
          </a:prstGeom>
          <a:noFill/>
          <a:ln/>
        </p:spPr>
        <p:txBody>
          <a:bodyPr wrap="square" lIns="0" tIns="0" rIns="0" bIns="0" rtlCol="0" anchor="t">
            <a:spAutoFit/>
          </a:bodyPr>
          <a:lstStyle/>
          <a:p>
            <a:pPr algn="l" indent="0" marL="0">
              <a:lnSpc>
                <a:spcPts val="2800"/>
              </a:lnSpc>
              <a:buNone/>
            </a:pPr>
            <a:r>
              <a:rPr lang="en-US" sz="2121" b="1" dirty="0">
                <a:solidFill>
                  <a:srgbClr val="002B5C"/>
                </a:solidFill>
              </a:rPr>
              <a:t>Manufacturing Challenges</a:t>
            </a:r>
            <a:pPr algn="l" indent="0" marL="0">
              <a:lnSpc>
                <a:spcPts val="2800"/>
              </a:lnSpc>
              <a:buNone/>
            </a:pPr>
            <a:r>
              <a:rPr lang="en-US" sz="2121" b="1" dirty="0">
                <a:solidFill>
                  <a:srgbClr val="002B5C"/>
                </a:solidFill>
              </a:rPr>
              <a:t>
</a:t>
            </a:r>
            <a:pPr algn="l" indent="0" marL="0">
              <a:lnSpc>
                <a:spcPts val="2800"/>
              </a:lnSpc>
              <a:buNone/>
            </a:pPr>
            <a:r>
              <a:rPr lang="en-US" sz="2121" b="1" dirty="0">
                <a:solidFill>
                  <a:srgbClr val="002B5C"/>
                </a:solidFill>
              </a:rPr>
              <a:t>in Wafer Defect Analysis</a:t>
            </a:r>
            <a:endParaRPr lang="en-US" sz="2121" dirty="0"/>
          </a:p>
        </p:txBody>
      </p:sp>
      <p:sp>
        <p:nvSpPr>
          <p:cNvPr id="7" name="Text 3"/>
          <p:cNvSpPr/>
          <p:nvPr/>
        </p:nvSpPr>
        <p:spPr>
          <a:xfrm>
            <a:off x="6830653" y="1071563"/>
            <a:ext cx="1741847" cy="175022"/>
          </a:xfrm>
          <a:prstGeom prst="rect">
            <a:avLst/>
          </a:prstGeom>
          <a:noFill/>
          <a:ln/>
        </p:spPr>
        <p:txBody>
          <a:bodyPr wrap="none" lIns="0" tIns="0" rIns="0" bIns="0" rtlCol="0" anchor="t">
            <a:spAutoFit/>
          </a:bodyPr>
          <a:lstStyle/>
          <a:p>
            <a:pPr algn="l" indent="0" marL="0">
              <a:lnSpc>
                <a:spcPts val="1200"/>
              </a:lnSpc>
              <a:buNone/>
            </a:pPr>
            <a:r>
              <a:rPr lang="en-US" sz="942" dirty="0">
                <a:solidFill>
                  <a:srgbClr val="666666"/>
                </a:solidFill>
              </a:rPr>
              <a:t>Current Industry Bottlenecks</a:t>
            </a:r>
            <a:endParaRPr lang="en-US" sz="942" dirty="0"/>
          </a:p>
        </p:txBody>
      </p:sp>
      <p:sp>
        <p:nvSpPr>
          <p:cNvPr id="8" name="Shape 4"/>
          <p:cNvSpPr/>
          <p:nvPr/>
        </p:nvSpPr>
        <p:spPr>
          <a:xfrm>
            <a:off x="571500" y="1746647"/>
            <a:ext cx="571500" cy="571500"/>
          </a:xfrm>
          <a:prstGeom prst="rect">
            <a:avLst/>
          </a:prstGeom>
          <a:solidFill>
            <a:srgbClr val="F0F4F8"/>
          </a:solidFill>
          <a:ln/>
        </p:spPr>
      </p:sp>
      <p:sp>
        <p:nvSpPr>
          <p:cNvPr id="9" name="Shape 5"/>
          <p:cNvSpPr/>
          <p:nvPr/>
        </p:nvSpPr>
        <p:spPr>
          <a:xfrm>
            <a:off x="571500" y="1746647"/>
            <a:ext cx="28575" cy="571500"/>
          </a:xfrm>
          <a:prstGeom prst="rect">
            <a:avLst/>
          </a:prstGeom>
          <a:solidFill>
            <a:srgbClr val="FF4F00"/>
          </a:solidFill>
          <a:ln/>
        </p:spPr>
      </p:sp>
      <p:pic>
        <p:nvPicPr>
          <p:cNvPr id="10" name="Image 1" descr="preencoded.png">    </p:cNvPr>
          <p:cNvPicPr>
            <a:picLocks noChangeAspect="1"/>
          </p:cNvPicPr>
          <p:nvPr/>
        </p:nvPicPr>
        <p:blipFill>
          <a:blip r:embed="rId2"/>
          <a:stretch>
            <a:fillRect/>
          </a:stretch>
        </p:blipFill>
        <p:spPr>
          <a:xfrm>
            <a:off x="696516" y="1903809"/>
            <a:ext cx="321469" cy="257175"/>
          </a:xfrm>
          <a:prstGeom prst="rect">
            <a:avLst/>
          </a:prstGeom>
        </p:spPr>
      </p:pic>
      <p:sp>
        <p:nvSpPr>
          <p:cNvPr id="11" name="Text 6"/>
          <p:cNvSpPr/>
          <p:nvPr/>
        </p:nvSpPr>
        <p:spPr>
          <a:xfrm>
            <a:off x="571500" y="2461022"/>
            <a:ext cx="1446888" cy="428625"/>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333333"/>
                </a:solidFill>
              </a:rPr>
              <a:t>High Labor Costs</a:t>
            </a:r>
            <a:endParaRPr lang="en-US" sz="1193" dirty="0"/>
          </a:p>
        </p:txBody>
      </p:sp>
      <p:sp>
        <p:nvSpPr>
          <p:cNvPr id="12" name="Text 7"/>
          <p:cNvSpPr/>
          <p:nvPr/>
        </p:nvSpPr>
        <p:spPr>
          <a:xfrm>
            <a:off x="571500" y="2996803"/>
            <a:ext cx="2476481" cy="6858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555555"/>
                </a:solidFill>
              </a:rPr>
              <a:t>Expert engineers manually review defect maps for every wafer. Time-consuming and error-prone process for thousands of wafers daily.</a:t>
            </a:r>
            <a:endParaRPr lang="en-US" sz="834" dirty="0"/>
          </a:p>
        </p:txBody>
      </p:sp>
      <p:sp>
        <p:nvSpPr>
          <p:cNvPr id="13" name="Text 8"/>
          <p:cNvSpPr/>
          <p:nvPr/>
        </p:nvSpPr>
        <p:spPr>
          <a:xfrm>
            <a:off x="571500" y="3789759"/>
            <a:ext cx="2476481" cy="273248"/>
          </a:xfrm>
          <a:prstGeom prst="rect">
            <a:avLst/>
          </a:prstGeom>
          <a:noFill/>
          <a:ln/>
        </p:spPr>
        <p:txBody>
          <a:bodyPr wrap="square" lIns="0" tIns="85090" rIns="0" bIns="0" rtlCol="0" anchor="t">
            <a:spAutoFit/>
          </a:bodyPr>
          <a:lstStyle/>
          <a:p>
            <a:pPr algn="l" indent="0" marL="0">
              <a:lnSpc>
                <a:spcPts val="1400"/>
              </a:lnSpc>
              <a:buNone/>
            </a:pPr>
            <a:r>
              <a:rPr lang="en-US" sz="987" b="1" dirty="0">
                <a:solidFill>
                  <a:srgbClr val="FF4F00"/>
                </a:solidFill>
              </a:rPr>
              <a:t>~$150K / Year Avg Cost</a:t>
            </a:r>
            <a:endParaRPr lang="en-US" sz="987" dirty="0"/>
          </a:p>
        </p:txBody>
      </p:sp>
      <p:sp>
        <p:nvSpPr>
          <p:cNvPr id="14" name="Shape 9"/>
          <p:cNvSpPr/>
          <p:nvPr/>
        </p:nvSpPr>
        <p:spPr>
          <a:xfrm>
            <a:off x="3333731" y="1746647"/>
            <a:ext cx="571500" cy="571500"/>
          </a:xfrm>
          <a:prstGeom prst="rect">
            <a:avLst/>
          </a:prstGeom>
          <a:solidFill>
            <a:srgbClr val="F0F4F8"/>
          </a:solidFill>
          <a:ln/>
        </p:spPr>
      </p:sp>
      <p:sp>
        <p:nvSpPr>
          <p:cNvPr id="15" name="Shape 10"/>
          <p:cNvSpPr/>
          <p:nvPr/>
        </p:nvSpPr>
        <p:spPr>
          <a:xfrm>
            <a:off x="3333731" y="1746647"/>
            <a:ext cx="28575" cy="571500"/>
          </a:xfrm>
          <a:prstGeom prst="rect">
            <a:avLst/>
          </a:prstGeom>
          <a:solidFill>
            <a:srgbClr val="FF4F00"/>
          </a:solidFill>
          <a:ln/>
        </p:spPr>
      </p:sp>
      <p:pic>
        <p:nvPicPr>
          <p:cNvPr id="16" name="Image 2" descr="preencoded.png">    </p:cNvPr>
          <p:cNvPicPr>
            <a:picLocks noChangeAspect="1"/>
          </p:cNvPicPr>
          <p:nvPr/>
        </p:nvPicPr>
        <p:blipFill>
          <a:blip r:embed="rId3"/>
          <a:stretch>
            <a:fillRect/>
          </a:stretch>
        </p:blipFill>
        <p:spPr>
          <a:xfrm>
            <a:off x="3523041" y="1903809"/>
            <a:ext cx="192881" cy="257175"/>
          </a:xfrm>
          <a:prstGeom prst="rect">
            <a:avLst/>
          </a:prstGeom>
        </p:spPr>
      </p:pic>
      <p:sp>
        <p:nvSpPr>
          <p:cNvPr id="17" name="Text 11"/>
          <p:cNvSpPr/>
          <p:nvPr/>
        </p:nvSpPr>
        <p:spPr>
          <a:xfrm>
            <a:off x="3333731" y="2461022"/>
            <a:ext cx="1706631" cy="428625"/>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333333"/>
                </a:solidFill>
              </a:rPr>
              <a:t>Slow Analysis Speed</a:t>
            </a:r>
            <a:endParaRPr lang="en-US" sz="1193" dirty="0"/>
          </a:p>
        </p:txBody>
      </p:sp>
      <p:sp>
        <p:nvSpPr>
          <p:cNvPr id="18" name="Text 12"/>
          <p:cNvSpPr/>
          <p:nvPr/>
        </p:nvSpPr>
        <p:spPr>
          <a:xfrm>
            <a:off x="3333731" y="2996803"/>
            <a:ext cx="2476509" cy="6858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555555"/>
                </a:solidFill>
              </a:rPr>
              <a:t>Traditional methods require hours to complete root cause analysis, causing significant production delays and capacity loss.</a:t>
            </a:r>
            <a:endParaRPr lang="en-US" sz="834" dirty="0"/>
          </a:p>
        </p:txBody>
      </p:sp>
      <p:sp>
        <p:nvSpPr>
          <p:cNvPr id="19" name="Text 13"/>
          <p:cNvSpPr/>
          <p:nvPr/>
        </p:nvSpPr>
        <p:spPr>
          <a:xfrm>
            <a:off x="3333731" y="3789759"/>
            <a:ext cx="2476509" cy="273248"/>
          </a:xfrm>
          <a:prstGeom prst="rect">
            <a:avLst/>
          </a:prstGeom>
          <a:noFill/>
          <a:ln/>
        </p:spPr>
        <p:txBody>
          <a:bodyPr wrap="square" lIns="0" tIns="85090" rIns="0" bIns="0" rtlCol="0" anchor="t">
            <a:spAutoFit/>
          </a:bodyPr>
          <a:lstStyle/>
          <a:p>
            <a:pPr algn="l" indent="0" marL="0">
              <a:lnSpc>
                <a:spcPts val="1400"/>
              </a:lnSpc>
              <a:buNone/>
            </a:pPr>
            <a:r>
              <a:rPr lang="en-US" sz="987" b="1" dirty="0">
                <a:solidFill>
                  <a:srgbClr val="FF4F00"/>
                </a:solidFill>
              </a:rPr>
              <a:t>2-4 Hours / Analysis Cycle</a:t>
            </a:r>
            <a:endParaRPr lang="en-US" sz="987" dirty="0"/>
          </a:p>
        </p:txBody>
      </p:sp>
      <p:sp>
        <p:nvSpPr>
          <p:cNvPr id="20" name="Shape 14"/>
          <p:cNvSpPr/>
          <p:nvPr/>
        </p:nvSpPr>
        <p:spPr>
          <a:xfrm>
            <a:off x="6095991" y="1746647"/>
            <a:ext cx="571500" cy="571500"/>
          </a:xfrm>
          <a:prstGeom prst="rect">
            <a:avLst/>
          </a:prstGeom>
          <a:solidFill>
            <a:srgbClr val="F0F4F8"/>
          </a:solidFill>
          <a:ln/>
        </p:spPr>
      </p:sp>
      <p:sp>
        <p:nvSpPr>
          <p:cNvPr id="21" name="Shape 15"/>
          <p:cNvSpPr/>
          <p:nvPr/>
        </p:nvSpPr>
        <p:spPr>
          <a:xfrm>
            <a:off x="6095991" y="1746647"/>
            <a:ext cx="28575" cy="571500"/>
          </a:xfrm>
          <a:prstGeom prst="rect">
            <a:avLst/>
          </a:prstGeom>
          <a:solidFill>
            <a:srgbClr val="FF4F00"/>
          </a:solidFill>
          <a:ln/>
        </p:spPr>
      </p:sp>
      <p:pic>
        <p:nvPicPr>
          <p:cNvPr id="22" name="Image 3" descr="preencoded.png">    </p:cNvPr>
          <p:cNvPicPr>
            <a:picLocks noChangeAspect="1"/>
          </p:cNvPicPr>
          <p:nvPr/>
        </p:nvPicPr>
        <p:blipFill>
          <a:blip r:embed="rId4"/>
          <a:stretch>
            <a:fillRect/>
          </a:stretch>
        </p:blipFill>
        <p:spPr>
          <a:xfrm>
            <a:off x="6253153" y="1903809"/>
            <a:ext cx="257175" cy="257175"/>
          </a:xfrm>
          <a:prstGeom prst="rect">
            <a:avLst/>
          </a:prstGeom>
        </p:spPr>
      </p:pic>
      <p:sp>
        <p:nvSpPr>
          <p:cNvPr id="23" name="Text 16"/>
          <p:cNvSpPr/>
          <p:nvPr/>
        </p:nvSpPr>
        <p:spPr>
          <a:xfrm>
            <a:off x="6095991" y="2461022"/>
            <a:ext cx="2288009" cy="428625"/>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333333"/>
                </a:solidFill>
              </a:rPr>
              <a:t>Inconsistent Identification</a:t>
            </a:r>
            <a:endParaRPr lang="en-US" sz="1193" dirty="0"/>
          </a:p>
        </p:txBody>
      </p:sp>
      <p:sp>
        <p:nvSpPr>
          <p:cNvPr id="24" name="Text 17"/>
          <p:cNvSpPr/>
          <p:nvPr/>
        </p:nvSpPr>
        <p:spPr>
          <a:xfrm>
            <a:off x="6095991" y="2996803"/>
            <a:ext cx="2476481"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555555"/>
                </a:solidFill>
              </a:rPr>
              <a:t>Subjective classification by different engineers leads to high data inconsistency, impacting process improvement reliability.</a:t>
            </a:r>
            <a:endParaRPr lang="en-US" sz="834" dirty="0"/>
          </a:p>
        </p:txBody>
      </p:sp>
      <p:sp>
        <p:nvSpPr>
          <p:cNvPr id="25" name="Text 18"/>
          <p:cNvSpPr/>
          <p:nvPr/>
        </p:nvSpPr>
        <p:spPr>
          <a:xfrm>
            <a:off x="6095991" y="3789759"/>
            <a:ext cx="2476481" cy="273248"/>
          </a:xfrm>
          <a:prstGeom prst="rect">
            <a:avLst/>
          </a:prstGeom>
          <a:noFill/>
          <a:ln/>
        </p:spPr>
        <p:txBody>
          <a:bodyPr wrap="square" lIns="0" tIns="85090" rIns="0" bIns="0" rtlCol="0" anchor="t">
            <a:spAutoFit/>
          </a:bodyPr>
          <a:lstStyle/>
          <a:p>
            <a:pPr algn="l" indent="0" marL="0">
              <a:lnSpc>
                <a:spcPts val="1400"/>
              </a:lnSpc>
              <a:buNone/>
            </a:pPr>
            <a:r>
              <a:rPr lang="en-US" sz="987" b="1" dirty="0">
                <a:solidFill>
                  <a:srgbClr val="FF4F00"/>
                </a:solidFill>
              </a:rPr>
              <a:t>High Data Inconsistency</a:t>
            </a:r>
            <a:endParaRPr lang="en-US" sz="987" dirty="0"/>
          </a:p>
        </p:txBody>
      </p:sp>
      <p:sp>
        <p:nvSpPr>
          <p:cNvPr id="26" name="Shape 19"/>
          <p:cNvSpPr/>
          <p:nvPr/>
        </p:nvSpPr>
        <p:spPr>
          <a:xfrm>
            <a:off x="571500" y="4348758"/>
            <a:ext cx="8001000" cy="623292"/>
          </a:xfrm>
          <a:prstGeom prst="rect">
            <a:avLst/>
          </a:prstGeom>
          <a:solidFill>
            <a:srgbClr val="002B5C"/>
          </a:solidFill>
          <a:ln/>
        </p:spPr>
      </p:sp>
      <p:sp>
        <p:nvSpPr>
          <p:cNvPr id="27" name="Text 20"/>
          <p:cNvSpPr/>
          <p:nvPr/>
        </p:nvSpPr>
        <p:spPr>
          <a:xfrm>
            <a:off x="857250" y="4563070"/>
            <a:ext cx="127144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4F00"/>
                </a:solidFill>
              </a:rPr>
              <a:t>Business Impact</a:t>
            </a:r>
            <a:endParaRPr lang="en-US" sz="987" dirty="0"/>
          </a:p>
        </p:txBody>
      </p:sp>
      <p:pic>
        <p:nvPicPr>
          <p:cNvPr id="28" name="Image 4" descr="preencoded.png">    </p:cNvPr>
          <p:cNvPicPr>
            <a:picLocks noChangeAspect="1"/>
          </p:cNvPicPr>
          <p:nvPr/>
        </p:nvPicPr>
        <p:blipFill>
          <a:blip r:embed="rId5"/>
          <a:stretch>
            <a:fillRect/>
          </a:stretch>
        </p:blipFill>
        <p:spPr>
          <a:xfrm>
            <a:off x="2414448" y="4603254"/>
            <a:ext cx="85725" cy="114300"/>
          </a:xfrm>
          <a:prstGeom prst="rect">
            <a:avLst/>
          </a:prstGeom>
        </p:spPr>
      </p:pic>
      <p:sp>
        <p:nvSpPr>
          <p:cNvPr id="29" name="Text 21"/>
          <p:cNvSpPr/>
          <p:nvPr/>
        </p:nvSpPr>
        <p:spPr>
          <a:xfrm>
            <a:off x="2571610" y="4582716"/>
            <a:ext cx="1505796"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FFFFFF"/>
                </a:solidFill>
              </a:rPr>
              <a:t>Yield Loss ($500K-$1M/Year)</a:t>
            </a:r>
            <a:endParaRPr lang="en-US" sz="834" dirty="0"/>
          </a:p>
        </p:txBody>
      </p:sp>
      <p:pic>
        <p:nvPicPr>
          <p:cNvPr id="30" name="Image 5" descr="preencoded.png">    </p:cNvPr>
          <p:cNvPicPr>
            <a:picLocks noChangeAspect="1"/>
          </p:cNvPicPr>
          <p:nvPr/>
        </p:nvPicPr>
        <p:blipFill>
          <a:blip r:embed="rId6"/>
          <a:stretch>
            <a:fillRect/>
          </a:stretch>
        </p:blipFill>
        <p:spPr>
          <a:xfrm>
            <a:off x="5001323" y="4603254"/>
            <a:ext cx="114300" cy="114300"/>
          </a:xfrm>
          <a:prstGeom prst="rect">
            <a:avLst/>
          </a:prstGeom>
        </p:spPr>
      </p:pic>
      <p:sp>
        <p:nvSpPr>
          <p:cNvPr id="31" name="Text 22"/>
          <p:cNvSpPr/>
          <p:nvPr/>
        </p:nvSpPr>
        <p:spPr>
          <a:xfrm>
            <a:off x="5187060" y="4582716"/>
            <a:ext cx="1175258"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FFFFFF"/>
                </a:solidFill>
              </a:rPr>
              <a:t>Capacity Drop 15-20%</a:t>
            </a:r>
            <a:endParaRPr lang="en-US" sz="834" dirty="0"/>
          </a:p>
        </p:txBody>
      </p:sp>
      <p:pic>
        <p:nvPicPr>
          <p:cNvPr id="32" name="Image 6" descr="preencoded.png">    </p:cNvPr>
          <p:cNvPicPr>
            <a:picLocks noChangeAspect="1"/>
          </p:cNvPicPr>
          <p:nvPr/>
        </p:nvPicPr>
        <p:blipFill>
          <a:blip r:embed="rId7"/>
          <a:stretch>
            <a:fillRect/>
          </a:stretch>
        </p:blipFill>
        <p:spPr>
          <a:xfrm>
            <a:off x="7286234" y="4603254"/>
            <a:ext cx="114300" cy="114300"/>
          </a:xfrm>
          <a:prstGeom prst="rect">
            <a:avLst/>
          </a:prstGeom>
        </p:spPr>
      </p:pic>
      <p:sp>
        <p:nvSpPr>
          <p:cNvPr id="33" name="Text 23"/>
          <p:cNvSpPr/>
          <p:nvPr/>
        </p:nvSpPr>
        <p:spPr>
          <a:xfrm>
            <a:off x="7471972" y="4582716"/>
            <a:ext cx="814750"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FFFFFF"/>
                </a:solidFill>
              </a:rPr>
              <a:t>Inaccurate RCA</a:t>
            </a:r>
            <a:endParaRPr lang="en-US" sz="83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28625"/>
            <a:ext cx="8001000" cy="637580"/>
          </a:xfrm>
          <a:prstGeom prst="rect">
            <a:avLst/>
          </a:prstGeom>
          <a:solidFill>
            <a:srgbClr val="000000">
              <a:alpha val="0"/>
            </a:srgbClr>
          </a:solidFill>
          <a:ln/>
        </p:spPr>
      </p:sp>
      <p:sp>
        <p:nvSpPr>
          <p:cNvPr id="5" name="Shape 1"/>
          <p:cNvSpPr/>
          <p:nvPr/>
        </p:nvSpPr>
        <p:spPr>
          <a:xfrm>
            <a:off x="571500" y="1037630"/>
            <a:ext cx="8001000" cy="28575"/>
          </a:xfrm>
          <a:prstGeom prst="rect">
            <a:avLst/>
          </a:prstGeom>
          <a:solidFill>
            <a:srgbClr val="002B5C"/>
          </a:solidFill>
          <a:ln/>
        </p:spPr>
      </p:sp>
      <p:sp>
        <p:nvSpPr>
          <p:cNvPr id="6" name="Text 2"/>
          <p:cNvSpPr/>
          <p:nvPr/>
        </p:nvSpPr>
        <p:spPr>
          <a:xfrm>
            <a:off x="571500" y="428625"/>
            <a:ext cx="8001000"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002B5C"/>
                </a:solidFill>
              </a:rPr>
              <a:t>End-to-End AI Automation Solution</a:t>
            </a:r>
            <a:endParaRPr lang="en-US" sz="2436" dirty="0"/>
          </a:p>
        </p:txBody>
      </p:sp>
      <p:pic>
        <p:nvPicPr>
          <p:cNvPr id="7" name="Image 1" descr="preencoded.png">    </p:cNvPr>
          <p:cNvPicPr>
            <a:picLocks noChangeAspect="1"/>
          </p:cNvPicPr>
          <p:nvPr/>
        </p:nvPicPr>
        <p:blipFill>
          <a:blip r:embed="rId2"/>
          <a:stretch>
            <a:fillRect/>
          </a:stretch>
        </p:blipFill>
        <p:spPr>
          <a:xfrm>
            <a:off x="742950" y="1366242"/>
            <a:ext cx="96441" cy="128588"/>
          </a:xfrm>
          <a:prstGeom prst="rect">
            <a:avLst/>
          </a:prstGeom>
        </p:spPr>
      </p:pic>
      <p:sp>
        <p:nvSpPr>
          <p:cNvPr id="8" name="Text 3"/>
          <p:cNvSpPr/>
          <p:nvPr/>
        </p:nvSpPr>
        <p:spPr>
          <a:xfrm>
            <a:off x="910828" y="1323380"/>
            <a:ext cx="2386850"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333333"/>
                </a:solidFill>
              </a:rPr>
              <a:t>Real-Time Automated Analysis</a:t>
            </a:r>
            <a:endParaRPr lang="en-US" sz="1090" dirty="0"/>
          </a:p>
        </p:txBody>
      </p:sp>
      <p:sp>
        <p:nvSpPr>
          <p:cNvPr id="9" name="Text 4"/>
          <p:cNvSpPr/>
          <p:nvPr/>
        </p:nvSpPr>
        <p:spPr>
          <a:xfrm>
            <a:off x="742950" y="1580555"/>
            <a:ext cx="3686175"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666666"/>
                </a:solidFill>
              </a:rPr>
              <a:t>Complete defect detection, classification, and RCA in &lt;5 seconds after wafer entry. Zero human intervention required.</a:t>
            </a:r>
            <a:endParaRPr lang="en-US" sz="834" dirty="0"/>
          </a:p>
        </p:txBody>
      </p:sp>
      <p:pic>
        <p:nvPicPr>
          <p:cNvPr id="10" name="Image 2" descr="preencoded.png">    </p:cNvPr>
          <p:cNvPicPr>
            <a:picLocks noChangeAspect="1"/>
          </p:cNvPicPr>
          <p:nvPr/>
        </p:nvPicPr>
        <p:blipFill>
          <a:blip r:embed="rId3"/>
          <a:stretch>
            <a:fillRect/>
          </a:stretch>
        </p:blipFill>
        <p:spPr>
          <a:xfrm>
            <a:off x="742950" y="2072022"/>
            <a:ext cx="128588" cy="128588"/>
          </a:xfrm>
          <a:prstGeom prst="rect">
            <a:avLst/>
          </a:prstGeom>
        </p:spPr>
      </p:pic>
      <p:sp>
        <p:nvSpPr>
          <p:cNvPr id="11" name="Text 5"/>
          <p:cNvSpPr/>
          <p:nvPr/>
        </p:nvSpPr>
        <p:spPr>
          <a:xfrm>
            <a:off x="942975" y="2029160"/>
            <a:ext cx="1158766"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333333"/>
                </a:solidFill>
              </a:rPr>
              <a:t>99%+ Accuracy</a:t>
            </a:r>
            <a:endParaRPr lang="en-US" sz="1090" dirty="0"/>
          </a:p>
        </p:txBody>
      </p:sp>
      <p:sp>
        <p:nvSpPr>
          <p:cNvPr id="12" name="Text 6"/>
          <p:cNvSpPr/>
          <p:nvPr/>
        </p:nvSpPr>
        <p:spPr>
          <a:xfrm>
            <a:off x="742950" y="2286335"/>
            <a:ext cx="3686175"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666666"/>
                </a:solidFill>
              </a:rPr>
              <a:t>Utilizing state-of-the-art deep learning models (YOLOv10 + Vision Transformer), achieving 99.1% accuracy on WM-811K benchmark.</a:t>
            </a:r>
            <a:endParaRPr lang="en-US" sz="834" dirty="0"/>
          </a:p>
        </p:txBody>
      </p:sp>
      <p:pic>
        <p:nvPicPr>
          <p:cNvPr id="13" name="Image 3" descr="preencoded.png">    </p:cNvPr>
          <p:cNvPicPr>
            <a:picLocks noChangeAspect="1"/>
          </p:cNvPicPr>
          <p:nvPr/>
        </p:nvPicPr>
        <p:blipFill>
          <a:blip r:embed="rId4"/>
          <a:stretch>
            <a:fillRect/>
          </a:stretch>
        </p:blipFill>
        <p:spPr>
          <a:xfrm>
            <a:off x="742950" y="2777803"/>
            <a:ext cx="128588" cy="128588"/>
          </a:xfrm>
          <a:prstGeom prst="rect">
            <a:avLst/>
          </a:prstGeom>
        </p:spPr>
      </p:pic>
      <p:sp>
        <p:nvSpPr>
          <p:cNvPr id="14" name="Text 7"/>
          <p:cNvSpPr/>
          <p:nvPr/>
        </p:nvSpPr>
        <p:spPr>
          <a:xfrm>
            <a:off x="942975" y="2734940"/>
            <a:ext cx="257261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333333"/>
                </a:solidFill>
              </a:rPr>
              <a:t>Continuous Automated Learning</a:t>
            </a:r>
            <a:endParaRPr lang="en-US" sz="1090" dirty="0"/>
          </a:p>
        </p:txBody>
      </p:sp>
      <p:sp>
        <p:nvSpPr>
          <p:cNvPr id="15" name="Text 8"/>
          <p:cNvSpPr/>
          <p:nvPr/>
        </p:nvSpPr>
        <p:spPr>
          <a:xfrm>
            <a:off x="742950" y="2992115"/>
            <a:ext cx="3686175"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666666"/>
                </a:solidFill>
              </a:rPr>
              <a:t>System automatically collects expert feedback and uses GAN to generate synthetic training data for weekly auto-retraining.</a:t>
            </a:r>
            <a:endParaRPr lang="en-US" sz="834" dirty="0"/>
          </a:p>
        </p:txBody>
      </p:sp>
      <p:pic>
        <p:nvPicPr>
          <p:cNvPr id="16" name="Image 4" descr="preencoded.png">    </p:cNvPr>
          <p:cNvPicPr>
            <a:picLocks noChangeAspect="1"/>
          </p:cNvPicPr>
          <p:nvPr/>
        </p:nvPicPr>
        <p:blipFill>
          <a:blip r:embed="rId5"/>
          <a:stretch>
            <a:fillRect/>
          </a:stretch>
        </p:blipFill>
        <p:spPr>
          <a:xfrm>
            <a:off x="742950" y="3483583"/>
            <a:ext cx="128588" cy="128588"/>
          </a:xfrm>
          <a:prstGeom prst="rect">
            <a:avLst/>
          </a:prstGeom>
        </p:spPr>
      </p:pic>
      <p:sp>
        <p:nvSpPr>
          <p:cNvPr id="17" name="Text 9"/>
          <p:cNvSpPr/>
          <p:nvPr/>
        </p:nvSpPr>
        <p:spPr>
          <a:xfrm>
            <a:off x="942975" y="3440720"/>
            <a:ext cx="1645183"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333333"/>
                </a:solidFill>
              </a:rPr>
              <a:t>Scalable Deployment</a:t>
            </a:r>
            <a:endParaRPr lang="en-US" sz="1090" dirty="0"/>
          </a:p>
        </p:txBody>
      </p:sp>
      <p:sp>
        <p:nvSpPr>
          <p:cNvPr id="18" name="Text 10"/>
          <p:cNvSpPr/>
          <p:nvPr/>
        </p:nvSpPr>
        <p:spPr>
          <a:xfrm>
            <a:off x="742950" y="3697895"/>
            <a:ext cx="3686175"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666666"/>
                </a:solidFill>
              </a:rPr>
              <a:t>Kubernetes-based microservices architecture supports horizontal scaling, handling 1000+ wafers/hour throughput.</a:t>
            </a:r>
            <a:endParaRPr lang="en-US" sz="834" dirty="0"/>
          </a:p>
        </p:txBody>
      </p:sp>
      <p:sp>
        <p:nvSpPr>
          <p:cNvPr id="19" name="Shape 11"/>
          <p:cNvSpPr/>
          <p:nvPr/>
        </p:nvSpPr>
        <p:spPr>
          <a:xfrm>
            <a:off x="4714875" y="1323380"/>
            <a:ext cx="3857625" cy="1714500"/>
          </a:xfrm>
          <a:prstGeom prst="rect">
            <a:avLst/>
          </a:prstGeom>
          <a:solidFill>
            <a:srgbClr val="F0F0F0"/>
          </a:solidFill>
          <a:ln/>
        </p:spPr>
      </p:sp>
      <p:pic>
        <p:nvPicPr>
          <p:cNvPr id="20" name="Image 5" descr="preencoded.png">    </p:cNvPr>
          <p:cNvPicPr>
            <a:picLocks noChangeAspect="1"/>
          </p:cNvPicPr>
          <p:nvPr/>
        </p:nvPicPr>
        <p:blipFill>
          <a:blip r:embed="rId6"/>
          <a:stretch>
            <a:fillRect/>
          </a:stretch>
        </p:blipFill>
        <p:spPr>
          <a:xfrm>
            <a:off x="4714875" y="1323380"/>
            <a:ext cx="3857625" cy="1714500"/>
          </a:xfrm>
          <a:prstGeom prst="rect">
            <a:avLst/>
          </a:prstGeom>
        </p:spPr>
      </p:pic>
      <p:sp>
        <p:nvSpPr>
          <p:cNvPr id="21" name="Shape 12"/>
          <p:cNvSpPr/>
          <p:nvPr/>
        </p:nvSpPr>
        <p:spPr>
          <a:xfrm>
            <a:off x="4714875" y="3180755"/>
            <a:ext cx="3857625" cy="1891308"/>
          </a:xfrm>
          <a:prstGeom prst="rect">
            <a:avLst/>
          </a:prstGeom>
          <a:solidFill>
            <a:srgbClr val="002B5C"/>
          </a:solidFill>
          <a:ln/>
        </p:spPr>
      </p:sp>
      <p:sp>
        <p:nvSpPr>
          <p:cNvPr id="22" name="Text 13"/>
          <p:cNvSpPr/>
          <p:nvPr/>
        </p:nvSpPr>
        <p:spPr>
          <a:xfrm>
            <a:off x="4857750" y="3486150"/>
            <a:ext cx="3571875" cy="194667"/>
          </a:xfrm>
          <a:prstGeom prst="rect">
            <a:avLst/>
          </a:prstGeom>
          <a:noFill/>
          <a:ln/>
        </p:spPr>
        <p:txBody>
          <a:bodyPr wrap="none" lIns="0" tIns="0" rIns="0" bIns="0" rtlCol="0" anchor="t">
            <a:spAutoFit/>
          </a:bodyPr>
          <a:lstStyle/>
          <a:p>
            <a:pPr algn="l" indent="0" marL="0">
              <a:lnSpc>
                <a:spcPts val="1400"/>
              </a:lnSpc>
              <a:buNone/>
            </a:pPr>
            <a:r>
              <a:rPr lang="en-US" sz="987" b="1" spc="1" kern="0" dirty="0">
                <a:solidFill>
                  <a:srgbClr val="FF4F00"/>
                </a:solidFill>
              </a:rPr>
              <a:t>Expected ROI</a:t>
            </a:r>
            <a:endParaRPr lang="en-US" sz="987" dirty="0"/>
          </a:p>
        </p:txBody>
      </p:sp>
      <p:sp>
        <p:nvSpPr>
          <p:cNvPr id="23" name="Text 14"/>
          <p:cNvSpPr/>
          <p:nvPr/>
        </p:nvSpPr>
        <p:spPr>
          <a:xfrm>
            <a:off x="4957763" y="3787973"/>
            <a:ext cx="1632347" cy="251817"/>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FFFFFF"/>
                </a:solidFill>
              </a:rPr>
              <a:t>50%</a:t>
            </a:r>
            <a:endParaRPr lang="en-US" sz="1295" dirty="0"/>
          </a:p>
        </p:txBody>
      </p:sp>
      <p:sp>
        <p:nvSpPr>
          <p:cNvPr id="24" name="Text 15"/>
          <p:cNvSpPr/>
          <p:nvPr/>
        </p:nvSpPr>
        <p:spPr>
          <a:xfrm>
            <a:off x="4957763" y="4091583"/>
            <a:ext cx="852841"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FFFFFF">
                    <a:alpha val="70000"/>
                  </a:srgbClr>
                </a:solidFill>
              </a:rPr>
              <a:t>Labor Reduction</a:t>
            </a:r>
            <a:endParaRPr lang="en-US" sz="674" dirty="0"/>
          </a:p>
        </p:txBody>
      </p:sp>
      <p:sp>
        <p:nvSpPr>
          <p:cNvPr id="25" name="Text 16"/>
          <p:cNvSpPr/>
          <p:nvPr/>
        </p:nvSpPr>
        <p:spPr>
          <a:xfrm>
            <a:off x="6797278" y="3787973"/>
            <a:ext cx="1632347" cy="251817"/>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FFFFFF"/>
                </a:solidFill>
              </a:rPr>
              <a:t>&lt;5 Sec</a:t>
            </a:r>
            <a:endParaRPr lang="en-US" sz="1295" dirty="0"/>
          </a:p>
        </p:txBody>
      </p:sp>
      <p:sp>
        <p:nvSpPr>
          <p:cNvPr id="26" name="Text 17"/>
          <p:cNvSpPr/>
          <p:nvPr/>
        </p:nvSpPr>
        <p:spPr>
          <a:xfrm>
            <a:off x="6797278" y="4091583"/>
            <a:ext cx="664313"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FFFFFF">
                    <a:alpha val="70000"/>
                  </a:srgbClr>
                </a:solidFill>
              </a:rPr>
              <a:t>Analysis Time</a:t>
            </a:r>
            <a:endParaRPr lang="en-US" sz="674" dirty="0"/>
          </a:p>
        </p:txBody>
      </p:sp>
      <p:sp>
        <p:nvSpPr>
          <p:cNvPr id="27" name="Text 18"/>
          <p:cNvSpPr/>
          <p:nvPr/>
        </p:nvSpPr>
        <p:spPr>
          <a:xfrm>
            <a:off x="4957763" y="4330898"/>
            <a:ext cx="1632347" cy="251817"/>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FFFFFF"/>
                </a:solidFill>
              </a:rPr>
              <a:t>2-3%</a:t>
            </a:r>
            <a:endParaRPr lang="en-US" sz="1295" dirty="0"/>
          </a:p>
        </p:txBody>
      </p:sp>
      <p:sp>
        <p:nvSpPr>
          <p:cNvPr id="28" name="Text 19"/>
          <p:cNvSpPr/>
          <p:nvPr/>
        </p:nvSpPr>
        <p:spPr>
          <a:xfrm>
            <a:off x="4957763" y="4634508"/>
            <a:ext cx="943003"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FFFFFF">
                    <a:alpha val="70000"/>
                  </a:srgbClr>
                </a:solidFill>
              </a:rPr>
              <a:t>Yield Improvement</a:t>
            </a:r>
            <a:endParaRPr lang="en-US" sz="674" dirty="0"/>
          </a:p>
        </p:txBody>
      </p:sp>
      <p:sp>
        <p:nvSpPr>
          <p:cNvPr id="29" name="Text 20"/>
          <p:cNvSpPr/>
          <p:nvPr/>
        </p:nvSpPr>
        <p:spPr>
          <a:xfrm>
            <a:off x="6797278" y="4330898"/>
            <a:ext cx="1632347" cy="251817"/>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FFFFFF"/>
                </a:solidFill>
              </a:rPr>
              <a:t>12-18 Mo</a:t>
            </a:r>
            <a:endParaRPr lang="en-US" sz="1295" dirty="0"/>
          </a:p>
        </p:txBody>
      </p:sp>
      <p:sp>
        <p:nvSpPr>
          <p:cNvPr id="30" name="Text 21"/>
          <p:cNvSpPr/>
          <p:nvPr/>
        </p:nvSpPr>
        <p:spPr>
          <a:xfrm>
            <a:off x="6797278" y="4634508"/>
            <a:ext cx="753470"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FFFFFF">
                    <a:alpha val="70000"/>
                  </a:srgbClr>
                </a:solidFill>
              </a:rPr>
              <a:t>Payback Period</a:t>
            </a:r>
            <a:endParaRPr lang="en-US" sz="67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28625"/>
            <a:ext cx="8001000" cy="989409"/>
          </a:xfrm>
          <a:prstGeom prst="rect">
            <a:avLst/>
          </a:prstGeom>
          <a:solidFill>
            <a:srgbClr val="000000">
              <a:alpha val="0"/>
            </a:srgbClr>
          </a:solidFill>
          <a:ln/>
        </p:spPr>
      </p:sp>
      <p:sp>
        <p:nvSpPr>
          <p:cNvPr id="5" name="Shape 1"/>
          <p:cNvSpPr/>
          <p:nvPr/>
        </p:nvSpPr>
        <p:spPr>
          <a:xfrm>
            <a:off x="571500" y="1389459"/>
            <a:ext cx="8001000" cy="28575"/>
          </a:xfrm>
          <a:prstGeom prst="rect">
            <a:avLst/>
          </a:prstGeom>
          <a:solidFill>
            <a:srgbClr val="002B5C"/>
          </a:solidFill>
          <a:ln/>
        </p:spPr>
      </p:sp>
      <p:sp>
        <p:nvSpPr>
          <p:cNvPr id="6" name="Text 2"/>
          <p:cNvSpPr/>
          <p:nvPr/>
        </p:nvSpPr>
        <p:spPr>
          <a:xfrm>
            <a:off x="571500" y="428625"/>
            <a:ext cx="8001000" cy="817959"/>
          </a:xfrm>
          <a:prstGeom prst="rect">
            <a:avLst/>
          </a:prstGeom>
          <a:noFill/>
          <a:ln/>
        </p:spPr>
        <p:txBody>
          <a:bodyPr wrap="square" lIns="0" tIns="0" rIns="0" bIns="0" rtlCol="0" anchor="t">
            <a:spAutoFit/>
          </a:bodyPr>
          <a:lstStyle/>
          <a:p>
            <a:pPr algn="l" indent="0" marL="0">
              <a:lnSpc>
                <a:spcPts val="2800"/>
              </a:lnSpc>
              <a:buNone/>
            </a:pPr>
            <a:r>
              <a:rPr lang="en-US" sz="2121" b="1" dirty="0">
                <a:solidFill>
                  <a:srgbClr val="002B5C"/>
                </a:solidFill>
              </a:rPr>
              <a:t>Microservices Architecture Enables</a:t>
            </a:r>
            <a:pPr algn="l" indent="0" marL="0">
              <a:lnSpc>
                <a:spcPts val="2800"/>
              </a:lnSpc>
              <a:buNone/>
            </a:pPr>
            <a:r>
              <a:rPr lang="en-US" sz="2121" b="1" dirty="0">
                <a:solidFill>
                  <a:srgbClr val="002B5C"/>
                </a:solidFill>
              </a:rPr>
              <a:t>
</a:t>
            </a:r>
            <a:pPr algn="l" indent="0" marL="0">
              <a:lnSpc>
                <a:spcPts val="2800"/>
              </a:lnSpc>
              <a:buNone/>
            </a:pPr>
            <a:r>
              <a:rPr lang="en-US" sz="2121" b="1" dirty="0">
                <a:solidFill>
                  <a:srgbClr val="002B5C"/>
                </a:solidFill>
              </a:rPr>
              <a:t>High Availability and Performance</a:t>
            </a:r>
            <a:endParaRPr lang="en-US" sz="2121" dirty="0"/>
          </a:p>
        </p:txBody>
      </p:sp>
      <p:sp>
        <p:nvSpPr>
          <p:cNvPr id="7" name="Text 3"/>
          <p:cNvSpPr/>
          <p:nvPr/>
        </p:nvSpPr>
        <p:spPr>
          <a:xfrm>
            <a:off x="571500" y="1675209"/>
            <a:ext cx="8001000"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999999"/>
                </a:solidFill>
              </a:rPr>
              <a:t>Application Services Layer</a:t>
            </a:r>
            <a:endParaRPr lang="en-US" sz="727" dirty="0"/>
          </a:p>
        </p:txBody>
      </p:sp>
      <p:sp>
        <p:nvSpPr>
          <p:cNvPr id="8" name="Shape 4"/>
          <p:cNvSpPr/>
          <p:nvPr/>
        </p:nvSpPr>
        <p:spPr>
          <a:xfrm>
            <a:off x="571500" y="1882378"/>
            <a:ext cx="2609841" cy="785813"/>
          </a:xfrm>
          <a:prstGeom prst="rect">
            <a:avLst/>
          </a:prstGeom>
          <a:solidFill>
            <a:srgbClr val="FFFFFF"/>
          </a:solidFill>
          <a:ln w="18288">
            <a:solidFill>
              <a:srgbClr val="002B5C"/>
            </a:solidFill>
            <a:prstDash val="solid"/>
          </a:ln>
        </p:spPr>
      </p:sp>
      <p:sp>
        <p:nvSpPr>
          <p:cNvPr id="9" name="Shape 5"/>
          <p:cNvSpPr/>
          <p:nvPr/>
        </p:nvSpPr>
        <p:spPr>
          <a:xfrm>
            <a:off x="571500" y="1882378"/>
            <a:ext cx="42863" cy="757238"/>
          </a:xfrm>
          <a:prstGeom prst="rect">
            <a:avLst/>
          </a:prstGeom>
          <a:solidFill>
            <a:srgbClr val="002B5C"/>
          </a:solidFill>
          <a:ln/>
        </p:spPr>
      </p:sp>
      <p:sp>
        <p:nvSpPr>
          <p:cNvPr id="10" name="Text 6"/>
          <p:cNvSpPr/>
          <p:nvPr/>
        </p:nvSpPr>
        <p:spPr>
          <a:xfrm>
            <a:off x="685800" y="1996678"/>
            <a:ext cx="2381241"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33333"/>
                </a:solidFill>
              </a:rPr>
              <a:t>API Gateway</a:t>
            </a:r>
            <a:endParaRPr lang="en-US" sz="987" dirty="0"/>
          </a:p>
        </p:txBody>
      </p:sp>
      <p:sp>
        <p:nvSpPr>
          <p:cNvPr id="11" name="Shape 7"/>
          <p:cNvSpPr/>
          <p:nvPr/>
        </p:nvSpPr>
        <p:spPr>
          <a:xfrm>
            <a:off x="685800" y="2346722"/>
            <a:ext cx="755870" cy="207169"/>
          </a:xfrm>
          <a:prstGeom prst="rect">
            <a:avLst/>
          </a:prstGeom>
          <a:solidFill>
            <a:srgbClr val="F4F4F4"/>
          </a:solidFill>
          <a:ln/>
        </p:spPr>
      </p:sp>
      <p:sp>
        <p:nvSpPr>
          <p:cNvPr id="12" name="Text 8"/>
          <p:cNvSpPr/>
          <p:nvPr/>
        </p:nvSpPr>
        <p:spPr>
          <a:xfrm>
            <a:off x="685800" y="2346722"/>
            <a:ext cx="755870" cy="207169"/>
          </a:xfrm>
          <a:prstGeom prst="rect">
            <a:avLst/>
          </a:prstGeom>
          <a:noFill/>
          <a:ln/>
        </p:spPr>
        <p:txBody>
          <a:bodyPr wrap="square" lIns="85090" tIns="42545" rIns="85090" bIns="42545" rtlCol="0" anchor="t">
            <a:spAutoFit/>
          </a:bodyPr>
          <a:lstStyle/>
          <a:p>
            <a:pPr algn="l" indent="0" marL="0">
              <a:lnSpc>
                <a:spcPts val="900"/>
              </a:lnSpc>
              <a:buNone/>
            </a:pPr>
            <a:r>
              <a:rPr lang="en-US" sz="727" dirty="0">
                <a:solidFill>
                  <a:srgbClr val="666666"/>
                </a:solidFill>
              </a:rPr>
              <a:t>Kong / Nginx</a:t>
            </a:r>
            <a:endParaRPr lang="en-US" sz="727" dirty="0"/>
          </a:p>
        </p:txBody>
      </p:sp>
      <p:sp>
        <p:nvSpPr>
          <p:cNvPr id="13" name="Shape 9"/>
          <p:cNvSpPr/>
          <p:nvPr/>
        </p:nvSpPr>
        <p:spPr>
          <a:xfrm>
            <a:off x="3267066" y="1882378"/>
            <a:ext cx="2609841" cy="785813"/>
          </a:xfrm>
          <a:prstGeom prst="rect">
            <a:avLst/>
          </a:prstGeom>
          <a:solidFill>
            <a:srgbClr val="FFFFFF"/>
          </a:solidFill>
          <a:ln w="18288">
            <a:solidFill>
              <a:srgbClr val="002B5C"/>
            </a:solidFill>
            <a:prstDash val="solid"/>
          </a:ln>
        </p:spPr>
      </p:sp>
      <p:sp>
        <p:nvSpPr>
          <p:cNvPr id="14" name="Shape 10"/>
          <p:cNvSpPr/>
          <p:nvPr/>
        </p:nvSpPr>
        <p:spPr>
          <a:xfrm>
            <a:off x="3267066" y="1882378"/>
            <a:ext cx="42863" cy="757238"/>
          </a:xfrm>
          <a:prstGeom prst="rect">
            <a:avLst/>
          </a:prstGeom>
          <a:solidFill>
            <a:srgbClr val="002B5C"/>
          </a:solidFill>
          <a:ln/>
        </p:spPr>
      </p:sp>
      <p:sp>
        <p:nvSpPr>
          <p:cNvPr id="15" name="Text 11"/>
          <p:cNvSpPr/>
          <p:nvPr/>
        </p:nvSpPr>
        <p:spPr>
          <a:xfrm>
            <a:off x="3381366" y="1996678"/>
            <a:ext cx="2381241"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33333"/>
                </a:solidFill>
              </a:rPr>
              <a:t>Data Ingestion</a:t>
            </a:r>
            <a:endParaRPr lang="en-US" sz="987" dirty="0"/>
          </a:p>
        </p:txBody>
      </p:sp>
      <p:sp>
        <p:nvSpPr>
          <p:cNvPr id="16" name="Shape 12"/>
          <p:cNvSpPr/>
          <p:nvPr/>
        </p:nvSpPr>
        <p:spPr>
          <a:xfrm>
            <a:off x="3381366" y="2346722"/>
            <a:ext cx="850971" cy="207169"/>
          </a:xfrm>
          <a:prstGeom prst="rect">
            <a:avLst/>
          </a:prstGeom>
          <a:solidFill>
            <a:srgbClr val="F4F4F4"/>
          </a:solidFill>
          <a:ln/>
        </p:spPr>
      </p:sp>
      <p:sp>
        <p:nvSpPr>
          <p:cNvPr id="17" name="Text 13"/>
          <p:cNvSpPr/>
          <p:nvPr/>
        </p:nvSpPr>
        <p:spPr>
          <a:xfrm>
            <a:off x="3381366" y="2346722"/>
            <a:ext cx="850971" cy="207169"/>
          </a:xfrm>
          <a:prstGeom prst="rect">
            <a:avLst/>
          </a:prstGeom>
          <a:noFill/>
          <a:ln/>
        </p:spPr>
        <p:txBody>
          <a:bodyPr wrap="square" lIns="85090" tIns="42545" rIns="85090" bIns="42545" rtlCol="0" anchor="t">
            <a:spAutoFit/>
          </a:bodyPr>
          <a:lstStyle/>
          <a:p>
            <a:pPr algn="l" indent="0" marL="0">
              <a:lnSpc>
                <a:spcPts val="900"/>
              </a:lnSpc>
              <a:buNone/>
            </a:pPr>
            <a:r>
              <a:rPr lang="en-US" sz="727" dirty="0">
                <a:solidFill>
                  <a:srgbClr val="666666"/>
                </a:solidFill>
              </a:rPr>
              <a:t>Python FastAPI</a:t>
            </a:r>
            <a:endParaRPr lang="en-US" sz="727" dirty="0"/>
          </a:p>
        </p:txBody>
      </p:sp>
      <p:sp>
        <p:nvSpPr>
          <p:cNvPr id="18" name="Shape 14"/>
          <p:cNvSpPr/>
          <p:nvPr/>
        </p:nvSpPr>
        <p:spPr>
          <a:xfrm>
            <a:off x="5962631" y="1882378"/>
            <a:ext cx="2609869" cy="785813"/>
          </a:xfrm>
          <a:prstGeom prst="rect">
            <a:avLst/>
          </a:prstGeom>
          <a:solidFill>
            <a:srgbClr val="FFFFFF"/>
          </a:solidFill>
          <a:ln w="18288">
            <a:solidFill>
              <a:srgbClr val="002B5C"/>
            </a:solidFill>
            <a:prstDash val="solid"/>
          </a:ln>
        </p:spPr>
      </p:sp>
      <p:sp>
        <p:nvSpPr>
          <p:cNvPr id="19" name="Shape 15"/>
          <p:cNvSpPr/>
          <p:nvPr/>
        </p:nvSpPr>
        <p:spPr>
          <a:xfrm>
            <a:off x="5962631" y="1882378"/>
            <a:ext cx="42863" cy="757238"/>
          </a:xfrm>
          <a:prstGeom prst="rect">
            <a:avLst/>
          </a:prstGeom>
          <a:solidFill>
            <a:srgbClr val="FF4F00"/>
          </a:solidFill>
          <a:ln/>
        </p:spPr>
      </p:sp>
      <p:sp>
        <p:nvSpPr>
          <p:cNvPr id="20" name="Text 16"/>
          <p:cNvSpPr/>
          <p:nvPr/>
        </p:nvSpPr>
        <p:spPr>
          <a:xfrm>
            <a:off x="6076931" y="1996678"/>
            <a:ext cx="2381269"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33333"/>
                </a:solidFill>
              </a:rPr>
              <a:t>Preprocessing</a:t>
            </a:r>
            <a:endParaRPr lang="en-US" sz="987" dirty="0"/>
          </a:p>
        </p:txBody>
      </p:sp>
      <p:sp>
        <p:nvSpPr>
          <p:cNvPr id="21" name="Shape 17"/>
          <p:cNvSpPr/>
          <p:nvPr/>
        </p:nvSpPr>
        <p:spPr>
          <a:xfrm>
            <a:off x="6076931" y="2346722"/>
            <a:ext cx="884374" cy="207169"/>
          </a:xfrm>
          <a:prstGeom prst="rect">
            <a:avLst/>
          </a:prstGeom>
          <a:solidFill>
            <a:srgbClr val="F4F4F4"/>
          </a:solidFill>
          <a:ln/>
        </p:spPr>
      </p:sp>
      <p:sp>
        <p:nvSpPr>
          <p:cNvPr id="22" name="Text 18"/>
          <p:cNvSpPr/>
          <p:nvPr/>
        </p:nvSpPr>
        <p:spPr>
          <a:xfrm>
            <a:off x="6076931" y="2346722"/>
            <a:ext cx="884374" cy="207169"/>
          </a:xfrm>
          <a:prstGeom prst="rect">
            <a:avLst/>
          </a:prstGeom>
          <a:noFill/>
          <a:ln/>
        </p:spPr>
        <p:txBody>
          <a:bodyPr wrap="square" lIns="85090" tIns="42545" rIns="85090" bIns="42545" rtlCol="0" anchor="t">
            <a:spAutoFit/>
          </a:bodyPr>
          <a:lstStyle/>
          <a:p>
            <a:pPr algn="l" indent="0" marL="0">
              <a:lnSpc>
                <a:spcPts val="900"/>
              </a:lnSpc>
              <a:buNone/>
            </a:pPr>
            <a:r>
              <a:rPr lang="en-US" sz="727" dirty="0">
                <a:solidFill>
                  <a:srgbClr val="666666"/>
                </a:solidFill>
              </a:rPr>
              <a:t>CUDA / OpenCV</a:t>
            </a:r>
            <a:endParaRPr lang="en-US" sz="727" dirty="0"/>
          </a:p>
        </p:txBody>
      </p:sp>
      <p:sp>
        <p:nvSpPr>
          <p:cNvPr id="23" name="Shape 19"/>
          <p:cNvSpPr/>
          <p:nvPr/>
        </p:nvSpPr>
        <p:spPr>
          <a:xfrm>
            <a:off x="571500" y="2753916"/>
            <a:ext cx="2609841" cy="785813"/>
          </a:xfrm>
          <a:prstGeom prst="rect">
            <a:avLst/>
          </a:prstGeom>
          <a:solidFill>
            <a:srgbClr val="FFFFFF"/>
          </a:solidFill>
          <a:ln w="18288">
            <a:solidFill>
              <a:srgbClr val="002B5C"/>
            </a:solidFill>
            <a:prstDash val="solid"/>
          </a:ln>
        </p:spPr>
      </p:sp>
      <p:sp>
        <p:nvSpPr>
          <p:cNvPr id="24" name="Shape 20"/>
          <p:cNvSpPr/>
          <p:nvPr/>
        </p:nvSpPr>
        <p:spPr>
          <a:xfrm>
            <a:off x="571500" y="2753916"/>
            <a:ext cx="42863" cy="757238"/>
          </a:xfrm>
          <a:prstGeom prst="rect">
            <a:avLst/>
          </a:prstGeom>
          <a:solidFill>
            <a:srgbClr val="FF4F00"/>
          </a:solidFill>
          <a:ln/>
        </p:spPr>
      </p:sp>
      <p:sp>
        <p:nvSpPr>
          <p:cNvPr id="25" name="Text 21"/>
          <p:cNvSpPr/>
          <p:nvPr/>
        </p:nvSpPr>
        <p:spPr>
          <a:xfrm>
            <a:off x="685800" y="2868216"/>
            <a:ext cx="2381241"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33333"/>
                </a:solidFill>
              </a:rPr>
              <a:t>Inference Service</a:t>
            </a:r>
            <a:endParaRPr lang="en-US" sz="987" dirty="0"/>
          </a:p>
        </p:txBody>
      </p:sp>
      <p:sp>
        <p:nvSpPr>
          <p:cNvPr id="26" name="Shape 22"/>
          <p:cNvSpPr/>
          <p:nvPr/>
        </p:nvSpPr>
        <p:spPr>
          <a:xfrm>
            <a:off x="685800" y="3218259"/>
            <a:ext cx="785757" cy="207169"/>
          </a:xfrm>
          <a:prstGeom prst="rect">
            <a:avLst/>
          </a:prstGeom>
          <a:solidFill>
            <a:srgbClr val="F4F4F4"/>
          </a:solidFill>
          <a:ln/>
        </p:spPr>
      </p:sp>
      <p:sp>
        <p:nvSpPr>
          <p:cNvPr id="27" name="Text 23"/>
          <p:cNvSpPr/>
          <p:nvPr/>
        </p:nvSpPr>
        <p:spPr>
          <a:xfrm>
            <a:off x="685800" y="3218259"/>
            <a:ext cx="785757" cy="207169"/>
          </a:xfrm>
          <a:prstGeom prst="rect">
            <a:avLst/>
          </a:prstGeom>
          <a:noFill/>
          <a:ln/>
        </p:spPr>
        <p:txBody>
          <a:bodyPr wrap="square" lIns="85090" tIns="42545" rIns="85090" bIns="42545" rtlCol="0" anchor="t">
            <a:spAutoFit/>
          </a:bodyPr>
          <a:lstStyle/>
          <a:p>
            <a:pPr algn="l" indent="0" marL="0">
              <a:lnSpc>
                <a:spcPts val="900"/>
              </a:lnSpc>
              <a:buNone/>
            </a:pPr>
            <a:r>
              <a:rPr lang="en-US" sz="727" dirty="0">
                <a:solidFill>
                  <a:srgbClr val="666666"/>
                </a:solidFill>
              </a:rPr>
              <a:t>NVIDIA Triton</a:t>
            </a:r>
            <a:endParaRPr lang="en-US" sz="727" dirty="0"/>
          </a:p>
        </p:txBody>
      </p:sp>
      <p:sp>
        <p:nvSpPr>
          <p:cNvPr id="28" name="Shape 24"/>
          <p:cNvSpPr/>
          <p:nvPr/>
        </p:nvSpPr>
        <p:spPr>
          <a:xfrm>
            <a:off x="3267066" y="2753916"/>
            <a:ext cx="2609841" cy="785813"/>
          </a:xfrm>
          <a:prstGeom prst="rect">
            <a:avLst/>
          </a:prstGeom>
          <a:solidFill>
            <a:srgbClr val="FFFFFF"/>
          </a:solidFill>
          <a:ln w="18288">
            <a:solidFill>
              <a:srgbClr val="002B5C"/>
            </a:solidFill>
            <a:prstDash val="solid"/>
          </a:ln>
        </p:spPr>
      </p:sp>
      <p:sp>
        <p:nvSpPr>
          <p:cNvPr id="29" name="Shape 25"/>
          <p:cNvSpPr/>
          <p:nvPr/>
        </p:nvSpPr>
        <p:spPr>
          <a:xfrm>
            <a:off x="3267066" y="2753916"/>
            <a:ext cx="42863" cy="757238"/>
          </a:xfrm>
          <a:prstGeom prst="rect">
            <a:avLst/>
          </a:prstGeom>
          <a:solidFill>
            <a:srgbClr val="002B5C"/>
          </a:solidFill>
          <a:ln/>
        </p:spPr>
      </p:sp>
      <p:sp>
        <p:nvSpPr>
          <p:cNvPr id="30" name="Text 26"/>
          <p:cNvSpPr/>
          <p:nvPr/>
        </p:nvSpPr>
        <p:spPr>
          <a:xfrm>
            <a:off x="3381366" y="2868216"/>
            <a:ext cx="2381241"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33333"/>
                </a:solidFill>
              </a:rPr>
              <a:t>GAN Service</a:t>
            </a:r>
            <a:endParaRPr lang="en-US" sz="987" dirty="0"/>
          </a:p>
        </p:txBody>
      </p:sp>
      <p:sp>
        <p:nvSpPr>
          <p:cNvPr id="31" name="Shape 27"/>
          <p:cNvSpPr/>
          <p:nvPr/>
        </p:nvSpPr>
        <p:spPr>
          <a:xfrm>
            <a:off x="3381366" y="3218259"/>
            <a:ext cx="1032802" cy="207169"/>
          </a:xfrm>
          <a:prstGeom prst="rect">
            <a:avLst/>
          </a:prstGeom>
          <a:solidFill>
            <a:srgbClr val="F4F4F4"/>
          </a:solidFill>
          <a:ln/>
        </p:spPr>
      </p:sp>
      <p:sp>
        <p:nvSpPr>
          <p:cNvPr id="32" name="Text 28"/>
          <p:cNvSpPr/>
          <p:nvPr/>
        </p:nvSpPr>
        <p:spPr>
          <a:xfrm>
            <a:off x="3381366" y="3218259"/>
            <a:ext cx="1032802" cy="207169"/>
          </a:xfrm>
          <a:prstGeom prst="rect">
            <a:avLst/>
          </a:prstGeom>
          <a:noFill/>
          <a:ln/>
        </p:spPr>
        <p:txBody>
          <a:bodyPr wrap="square" lIns="85090" tIns="42545" rIns="85090" bIns="42545" rtlCol="0" anchor="t">
            <a:spAutoFit/>
          </a:bodyPr>
          <a:lstStyle/>
          <a:p>
            <a:pPr algn="l" indent="0" marL="0">
              <a:lnSpc>
                <a:spcPts val="900"/>
              </a:lnSpc>
              <a:buNone/>
            </a:pPr>
            <a:r>
              <a:rPr lang="en-US" sz="727" dirty="0">
                <a:solidFill>
                  <a:srgbClr val="666666"/>
                </a:solidFill>
              </a:rPr>
              <a:t>PyTorch StyleGAN2</a:t>
            </a:r>
            <a:endParaRPr lang="en-US" sz="727" dirty="0"/>
          </a:p>
        </p:txBody>
      </p:sp>
      <p:sp>
        <p:nvSpPr>
          <p:cNvPr id="33" name="Shape 29"/>
          <p:cNvSpPr/>
          <p:nvPr/>
        </p:nvSpPr>
        <p:spPr>
          <a:xfrm>
            <a:off x="5962631" y="2753916"/>
            <a:ext cx="2609869" cy="785813"/>
          </a:xfrm>
          <a:prstGeom prst="rect">
            <a:avLst/>
          </a:prstGeom>
          <a:solidFill>
            <a:srgbClr val="FFFFFF"/>
          </a:solidFill>
          <a:ln w="18288">
            <a:solidFill>
              <a:srgbClr val="002B5C"/>
            </a:solidFill>
            <a:prstDash val="solid"/>
          </a:ln>
        </p:spPr>
      </p:sp>
      <p:sp>
        <p:nvSpPr>
          <p:cNvPr id="34" name="Shape 30"/>
          <p:cNvSpPr/>
          <p:nvPr/>
        </p:nvSpPr>
        <p:spPr>
          <a:xfrm>
            <a:off x="5962631" y="2753916"/>
            <a:ext cx="42863" cy="757238"/>
          </a:xfrm>
          <a:prstGeom prst="rect">
            <a:avLst/>
          </a:prstGeom>
          <a:solidFill>
            <a:srgbClr val="002B5C"/>
          </a:solidFill>
          <a:ln/>
        </p:spPr>
      </p:sp>
      <p:sp>
        <p:nvSpPr>
          <p:cNvPr id="35" name="Text 31"/>
          <p:cNvSpPr/>
          <p:nvPr/>
        </p:nvSpPr>
        <p:spPr>
          <a:xfrm>
            <a:off x="6076931" y="2868216"/>
            <a:ext cx="2381269"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33333"/>
                </a:solidFill>
              </a:rPr>
              <a:t>MLOps Pipeline</a:t>
            </a:r>
            <a:endParaRPr lang="en-US" sz="987" dirty="0"/>
          </a:p>
        </p:txBody>
      </p:sp>
      <p:sp>
        <p:nvSpPr>
          <p:cNvPr id="36" name="Shape 32"/>
          <p:cNvSpPr/>
          <p:nvPr/>
        </p:nvSpPr>
        <p:spPr>
          <a:xfrm>
            <a:off x="6076931" y="3218259"/>
            <a:ext cx="1011510" cy="207169"/>
          </a:xfrm>
          <a:prstGeom prst="rect">
            <a:avLst/>
          </a:prstGeom>
          <a:solidFill>
            <a:srgbClr val="F4F4F4"/>
          </a:solidFill>
          <a:ln/>
        </p:spPr>
      </p:sp>
      <p:sp>
        <p:nvSpPr>
          <p:cNvPr id="37" name="Text 33"/>
          <p:cNvSpPr/>
          <p:nvPr/>
        </p:nvSpPr>
        <p:spPr>
          <a:xfrm>
            <a:off x="6076931" y="3218259"/>
            <a:ext cx="1011510" cy="207169"/>
          </a:xfrm>
          <a:prstGeom prst="rect">
            <a:avLst/>
          </a:prstGeom>
          <a:noFill/>
          <a:ln/>
        </p:spPr>
        <p:txBody>
          <a:bodyPr wrap="square" lIns="85090" tIns="42545" rIns="85090" bIns="42545" rtlCol="0" anchor="t">
            <a:spAutoFit/>
          </a:bodyPr>
          <a:lstStyle/>
          <a:p>
            <a:pPr algn="l" indent="0" marL="0">
              <a:lnSpc>
                <a:spcPts val="900"/>
              </a:lnSpc>
              <a:buNone/>
            </a:pPr>
            <a:r>
              <a:rPr lang="en-US" sz="727" dirty="0">
                <a:solidFill>
                  <a:srgbClr val="666666"/>
                </a:solidFill>
              </a:rPr>
              <a:t>Kubeflow / MLflow</a:t>
            </a:r>
            <a:endParaRPr lang="en-US" sz="727" dirty="0"/>
          </a:p>
        </p:txBody>
      </p:sp>
      <p:sp>
        <p:nvSpPr>
          <p:cNvPr id="38" name="Text 34"/>
          <p:cNvSpPr/>
          <p:nvPr/>
        </p:nvSpPr>
        <p:spPr>
          <a:xfrm>
            <a:off x="571500" y="3625453"/>
            <a:ext cx="8001000"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999999"/>
                </a:solidFill>
              </a:rPr>
              <a:t>Infrastructure &amp; Data Layer</a:t>
            </a:r>
            <a:endParaRPr lang="en-US" sz="727" dirty="0"/>
          </a:p>
        </p:txBody>
      </p:sp>
      <p:sp>
        <p:nvSpPr>
          <p:cNvPr id="39" name="Shape 35"/>
          <p:cNvSpPr/>
          <p:nvPr/>
        </p:nvSpPr>
        <p:spPr>
          <a:xfrm>
            <a:off x="571500" y="3832622"/>
            <a:ext cx="8001000" cy="346472"/>
          </a:xfrm>
          <a:prstGeom prst="rect">
            <a:avLst/>
          </a:prstGeom>
          <a:solidFill>
            <a:srgbClr val="F0F4F8"/>
          </a:solidFill>
          <a:ln/>
        </p:spPr>
      </p:sp>
      <p:sp>
        <p:nvSpPr>
          <p:cNvPr id="40" name="Shape 36"/>
          <p:cNvSpPr/>
          <p:nvPr/>
        </p:nvSpPr>
        <p:spPr>
          <a:xfrm>
            <a:off x="571500" y="3832622"/>
            <a:ext cx="42863" cy="346472"/>
          </a:xfrm>
          <a:prstGeom prst="rect">
            <a:avLst/>
          </a:prstGeom>
          <a:solidFill>
            <a:srgbClr val="999999"/>
          </a:solidFill>
          <a:ln/>
        </p:spPr>
      </p:sp>
      <p:pic>
        <p:nvPicPr>
          <p:cNvPr id="41" name="Image 1" descr="preencoded.png">    </p:cNvPr>
          <p:cNvPicPr>
            <a:picLocks noChangeAspect="1"/>
          </p:cNvPicPr>
          <p:nvPr/>
        </p:nvPicPr>
        <p:blipFill>
          <a:blip r:embed="rId2"/>
          <a:stretch>
            <a:fillRect/>
          </a:stretch>
        </p:blipFill>
        <p:spPr>
          <a:xfrm>
            <a:off x="657225" y="3941564"/>
            <a:ext cx="144661" cy="128588"/>
          </a:xfrm>
          <a:prstGeom prst="rect">
            <a:avLst/>
          </a:prstGeom>
        </p:spPr>
      </p:pic>
      <p:sp>
        <p:nvSpPr>
          <p:cNvPr id="42" name="Text 37"/>
          <p:cNvSpPr/>
          <p:nvPr/>
        </p:nvSpPr>
        <p:spPr>
          <a:xfrm>
            <a:off x="873323" y="3918347"/>
            <a:ext cx="1205536"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33333"/>
                </a:solidFill>
              </a:rPr>
              <a:t>Kubernetes Cluster</a:t>
            </a:r>
            <a:endParaRPr lang="en-US" sz="885" dirty="0"/>
          </a:p>
        </p:txBody>
      </p:sp>
      <p:pic>
        <p:nvPicPr>
          <p:cNvPr id="43" name="Image 2" descr="preencoded.png">    </p:cNvPr>
          <p:cNvPicPr>
            <a:picLocks noChangeAspect="1"/>
          </p:cNvPicPr>
          <p:nvPr/>
        </p:nvPicPr>
        <p:blipFill>
          <a:blip r:embed="rId3"/>
          <a:stretch>
            <a:fillRect/>
          </a:stretch>
        </p:blipFill>
        <p:spPr>
          <a:xfrm>
            <a:off x="3062241" y="3941564"/>
            <a:ext cx="128588" cy="128588"/>
          </a:xfrm>
          <a:prstGeom prst="rect">
            <a:avLst/>
          </a:prstGeom>
        </p:spPr>
      </p:pic>
      <p:sp>
        <p:nvSpPr>
          <p:cNvPr id="44" name="Text 38"/>
          <p:cNvSpPr/>
          <p:nvPr/>
        </p:nvSpPr>
        <p:spPr>
          <a:xfrm>
            <a:off x="3262266" y="3918347"/>
            <a:ext cx="989493"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33333"/>
                </a:solidFill>
              </a:rPr>
              <a:t>2x NVIDIA H100</a:t>
            </a:r>
            <a:endParaRPr lang="en-US" sz="885" dirty="0"/>
          </a:p>
        </p:txBody>
      </p:sp>
      <p:pic>
        <p:nvPicPr>
          <p:cNvPr id="45" name="Image 3" descr="preencoded.png">    </p:cNvPr>
          <p:cNvPicPr>
            <a:picLocks noChangeAspect="1"/>
          </p:cNvPicPr>
          <p:nvPr/>
        </p:nvPicPr>
        <p:blipFill>
          <a:blip r:embed="rId4"/>
          <a:stretch>
            <a:fillRect/>
          </a:stretch>
        </p:blipFill>
        <p:spPr>
          <a:xfrm>
            <a:off x="5235141" y="3941564"/>
            <a:ext cx="112514" cy="128588"/>
          </a:xfrm>
          <a:prstGeom prst="rect">
            <a:avLst/>
          </a:prstGeom>
        </p:spPr>
      </p:pic>
      <p:sp>
        <p:nvSpPr>
          <p:cNvPr id="46" name="Text 39"/>
          <p:cNvSpPr/>
          <p:nvPr/>
        </p:nvSpPr>
        <p:spPr>
          <a:xfrm>
            <a:off x="5419092" y="3918347"/>
            <a:ext cx="1254398"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33333"/>
                </a:solidFill>
              </a:rPr>
              <a:t>PostgreSQL + MinIO</a:t>
            </a:r>
            <a:endParaRPr lang="en-US" sz="885" dirty="0"/>
          </a:p>
        </p:txBody>
      </p:sp>
      <p:pic>
        <p:nvPicPr>
          <p:cNvPr id="47" name="Image 4" descr="preencoded.png">    </p:cNvPr>
          <p:cNvPicPr>
            <a:picLocks noChangeAspect="1"/>
          </p:cNvPicPr>
          <p:nvPr/>
        </p:nvPicPr>
        <p:blipFill>
          <a:blip r:embed="rId5"/>
          <a:stretch>
            <a:fillRect/>
          </a:stretch>
        </p:blipFill>
        <p:spPr>
          <a:xfrm>
            <a:off x="7656872" y="3941564"/>
            <a:ext cx="128588" cy="128588"/>
          </a:xfrm>
          <a:prstGeom prst="rect">
            <a:avLst/>
          </a:prstGeom>
        </p:spPr>
      </p:pic>
      <p:sp>
        <p:nvSpPr>
          <p:cNvPr id="48" name="Text 40"/>
          <p:cNvSpPr/>
          <p:nvPr/>
        </p:nvSpPr>
        <p:spPr>
          <a:xfrm>
            <a:off x="7856897" y="3918347"/>
            <a:ext cx="629822"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33333"/>
                </a:solidFill>
              </a:rPr>
              <a:t>RabbitMQ</a:t>
            </a:r>
            <a:endParaRPr lang="en-US" sz="885" dirty="0"/>
          </a:p>
        </p:txBody>
      </p:sp>
      <p:sp>
        <p:nvSpPr>
          <p:cNvPr id="49" name="Shape 41"/>
          <p:cNvSpPr/>
          <p:nvPr/>
        </p:nvSpPr>
        <p:spPr>
          <a:xfrm>
            <a:off x="571500" y="4402336"/>
            <a:ext cx="8001000" cy="655439"/>
          </a:xfrm>
          <a:prstGeom prst="rect">
            <a:avLst/>
          </a:prstGeom>
          <a:solidFill>
            <a:srgbClr val="002B5C"/>
          </a:solidFill>
          <a:ln/>
        </p:spPr>
      </p:sp>
      <p:sp>
        <p:nvSpPr>
          <p:cNvPr id="50" name="Text 42"/>
          <p:cNvSpPr/>
          <p:nvPr/>
        </p:nvSpPr>
        <p:spPr>
          <a:xfrm>
            <a:off x="857250" y="4488061"/>
            <a:ext cx="1700213"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4F00"/>
                </a:solidFill>
              </a:rPr>
              <a:t>&lt;50ms</a:t>
            </a:r>
            <a:endParaRPr lang="en-US" sz="1602" dirty="0"/>
          </a:p>
        </p:txBody>
      </p:sp>
      <p:sp>
        <p:nvSpPr>
          <p:cNvPr id="51" name="Text 43"/>
          <p:cNvSpPr/>
          <p:nvPr/>
        </p:nvSpPr>
        <p:spPr>
          <a:xfrm>
            <a:off x="857250" y="4836319"/>
            <a:ext cx="1700213"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FFFFFF">
                    <a:alpha val="80000"/>
                  </a:srgbClr>
                </a:solidFill>
              </a:rPr>
              <a:t>Inference Latency</a:t>
            </a:r>
            <a:endParaRPr lang="en-US" sz="727" dirty="0"/>
          </a:p>
        </p:txBody>
      </p:sp>
      <p:sp>
        <p:nvSpPr>
          <p:cNvPr id="52" name="Text 44"/>
          <p:cNvSpPr/>
          <p:nvPr/>
        </p:nvSpPr>
        <p:spPr>
          <a:xfrm>
            <a:off x="2736056" y="4488061"/>
            <a:ext cx="1700213"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4F00"/>
                </a:solidFill>
              </a:rPr>
              <a:t>1000+</a:t>
            </a:r>
            <a:endParaRPr lang="en-US" sz="1602" dirty="0"/>
          </a:p>
        </p:txBody>
      </p:sp>
      <p:sp>
        <p:nvSpPr>
          <p:cNvPr id="53" name="Text 45"/>
          <p:cNvSpPr/>
          <p:nvPr/>
        </p:nvSpPr>
        <p:spPr>
          <a:xfrm>
            <a:off x="2736056" y="4836319"/>
            <a:ext cx="1700213"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FFFFFF">
                    <a:alpha val="80000"/>
                  </a:srgbClr>
                </a:solidFill>
              </a:rPr>
              <a:t>Wafers / Hour</a:t>
            </a:r>
            <a:endParaRPr lang="en-US" sz="727" dirty="0"/>
          </a:p>
        </p:txBody>
      </p:sp>
      <p:sp>
        <p:nvSpPr>
          <p:cNvPr id="54" name="Text 46"/>
          <p:cNvSpPr/>
          <p:nvPr/>
        </p:nvSpPr>
        <p:spPr>
          <a:xfrm>
            <a:off x="4614863" y="4488061"/>
            <a:ext cx="1700213"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4F00"/>
                </a:solidFill>
              </a:rPr>
              <a:t>99.5%</a:t>
            </a:r>
            <a:endParaRPr lang="en-US" sz="1602" dirty="0"/>
          </a:p>
        </p:txBody>
      </p:sp>
      <p:sp>
        <p:nvSpPr>
          <p:cNvPr id="55" name="Text 47"/>
          <p:cNvSpPr/>
          <p:nvPr/>
        </p:nvSpPr>
        <p:spPr>
          <a:xfrm>
            <a:off x="4614863" y="4836319"/>
            <a:ext cx="1700213"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FFFFFF">
                    <a:alpha val="80000"/>
                  </a:srgbClr>
                </a:solidFill>
              </a:rPr>
              <a:t>System Uptime</a:t>
            </a:r>
            <a:endParaRPr lang="en-US" sz="727" dirty="0"/>
          </a:p>
        </p:txBody>
      </p:sp>
      <p:sp>
        <p:nvSpPr>
          <p:cNvPr id="56" name="Text 48"/>
          <p:cNvSpPr/>
          <p:nvPr/>
        </p:nvSpPr>
        <p:spPr>
          <a:xfrm>
            <a:off x="6493669" y="4488061"/>
            <a:ext cx="1707356"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4F00"/>
                </a:solidFill>
              </a:rPr>
              <a:t>95%</a:t>
            </a:r>
            <a:endParaRPr lang="en-US" sz="1602" dirty="0"/>
          </a:p>
        </p:txBody>
      </p:sp>
      <p:sp>
        <p:nvSpPr>
          <p:cNvPr id="57" name="Text 49"/>
          <p:cNvSpPr/>
          <p:nvPr/>
        </p:nvSpPr>
        <p:spPr>
          <a:xfrm>
            <a:off x="6493669" y="4836319"/>
            <a:ext cx="1707356"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FFFFFF">
                    <a:alpha val="80000"/>
                  </a:srgbClr>
                </a:solidFill>
              </a:rPr>
              <a:t>GPU Utilization</a:t>
            </a:r>
            <a:endParaRPr lang="en-US" sz="72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95181"/>
          </a:xfrm>
          <a:prstGeom prst="rect">
            <a:avLst/>
          </a:prstGeom>
        </p:spPr>
      </p:pic>
      <p:sp>
        <p:nvSpPr>
          <p:cNvPr id="4" name="Shape 0"/>
          <p:cNvSpPr/>
          <p:nvPr/>
        </p:nvSpPr>
        <p:spPr>
          <a:xfrm>
            <a:off x="571500" y="428625"/>
            <a:ext cx="8001000" cy="580430"/>
          </a:xfrm>
          <a:prstGeom prst="rect">
            <a:avLst/>
          </a:prstGeom>
          <a:solidFill>
            <a:srgbClr val="000000">
              <a:alpha val="0"/>
            </a:srgbClr>
          </a:solidFill>
          <a:ln/>
        </p:spPr>
      </p:sp>
      <p:sp>
        <p:nvSpPr>
          <p:cNvPr id="5" name="Shape 1"/>
          <p:cNvSpPr/>
          <p:nvPr/>
        </p:nvSpPr>
        <p:spPr>
          <a:xfrm>
            <a:off x="571500" y="980480"/>
            <a:ext cx="8001000" cy="28575"/>
          </a:xfrm>
          <a:prstGeom prst="rect">
            <a:avLst/>
          </a:prstGeom>
          <a:solidFill>
            <a:srgbClr val="002B5C"/>
          </a:solidFill>
          <a:ln/>
        </p:spPr>
      </p:sp>
      <p:sp>
        <p:nvSpPr>
          <p:cNvPr id="6" name="Text 2"/>
          <p:cNvSpPr/>
          <p:nvPr/>
        </p:nvSpPr>
        <p:spPr>
          <a:xfrm>
            <a:off x="571500" y="428625"/>
            <a:ext cx="8001000" cy="40898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002B5C"/>
                </a:solidFill>
              </a:rPr>
              <a:t>State-of-the-Art Deep Learning Model Stack</a:t>
            </a:r>
            <a:endParaRPr lang="en-US" sz="2121" dirty="0"/>
          </a:p>
        </p:txBody>
      </p:sp>
      <p:sp>
        <p:nvSpPr>
          <p:cNvPr id="7" name="Text 3"/>
          <p:cNvSpPr/>
          <p:nvPr/>
        </p:nvSpPr>
        <p:spPr>
          <a:xfrm>
            <a:off x="742950" y="1266230"/>
            <a:ext cx="139671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333333"/>
                </a:solidFill>
              </a:rPr>
              <a:t>YOLOv10-Medium</a:t>
            </a:r>
            <a:endParaRPr lang="en-US" sz="1090" dirty="0"/>
          </a:p>
        </p:txBody>
      </p:sp>
      <p:sp>
        <p:nvSpPr>
          <p:cNvPr id="8" name="Text 4"/>
          <p:cNvSpPr/>
          <p:nvPr/>
        </p:nvSpPr>
        <p:spPr>
          <a:xfrm>
            <a:off x="4214143" y="1328738"/>
            <a:ext cx="943645"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666666"/>
                </a:solidFill>
              </a:rPr>
              <a:t>Defect Detection</a:t>
            </a:r>
            <a:endParaRPr lang="en-US" sz="683" dirty="0"/>
          </a:p>
        </p:txBody>
      </p:sp>
      <p:sp>
        <p:nvSpPr>
          <p:cNvPr id="9" name="Shape 5"/>
          <p:cNvSpPr/>
          <p:nvPr/>
        </p:nvSpPr>
        <p:spPr>
          <a:xfrm>
            <a:off x="742950" y="1537692"/>
            <a:ext cx="1000125" cy="212527"/>
          </a:xfrm>
          <a:prstGeom prst="rect">
            <a:avLst/>
          </a:prstGeom>
          <a:solidFill>
            <a:srgbClr val="F0F4F8"/>
          </a:solidFill>
          <a:ln/>
        </p:spPr>
      </p:sp>
      <p:sp>
        <p:nvSpPr>
          <p:cNvPr id="10" name="Text 6"/>
          <p:cNvSpPr/>
          <p:nvPr/>
        </p:nvSpPr>
        <p:spPr>
          <a:xfrm>
            <a:off x="742950" y="1537692"/>
            <a:ext cx="1000125" cy="212527"/>
          </a:xfrm>
          <a:prstGeom prst="rect">
            <a:avLst/>
          </a:prstGeom>
          <a:noFill/>
          <a:ln/>
        </p:spPr>
        <p:txBody>
          <a:bodyPr wrap="square" lIns="85090" tIns="34036" rIns="85090" bIns="34036" rtlCol="0" anchor="t">
            <a:spAutoFit/>
          </a:bodyPr>
          <a:lstStyle/>
          <a:p>
            <a:pPr algn="l" indent="0" marL="0">
              <a:lnSpc>
                <a:spcPts val="1100"/>
              </a:lnSpc>
              <a:buNone/>
            </a:pPr>
            <a:r>
              <a:rPr lang="en-US" sz="784" b="1" dirty="0">
                <a:solidFill>
                  <a:srgbClr val="002B5C"/>
                </a:solidFill>
              </a:rPr>
              <a:t>98.5% Accuracy</a:t>
            </a:r>
            <a:endParaRPr lang="en-US" sz="784" dirty="0"/>
          </a:p>
        </p:txBody>
      </p:sp>
      <p:sp>
        <p:nvSpPr>
          <p:cNvPr id="11" name="Shape 7"/>
          <p:cNvSpPr/>
          <p:nvPr/>
        </p:nvSpPr>
        <p:spPr>
          <a:xfrm>
            <a:off x="1885950" y="1537692"/>
            <a:ext cx="1007799" cy="212527"/>
          </a:xfrm>
          <a:prstGeom prst="rect">
            <a:avLst/>
          </a:prstGeom>
          <a:solidFill>
            <a:srgbClr val="F0F4F8"/>
          </a:solidFill>
          <a:ln/>
        </p:spPr>
      </p:sp>
      <p:sp>
        <p:nvSpPr>
          <p:cNvPr id="12" name="Text 8"/>
          <p:cNvSpPr/>
          <p:nvPr/>
        </p:nvSpPr>
        <p:spPr>
          <a:xfrm>
            <a:off x="1885950" y="1537692"/>
            <a:ext cx="1007799" cy="212527"/>
          </a:xfrm>
          <a:prstGeom prst="rect">
            <a:avLst/>
          </a:prstGeom>
          <a:noFill/>
          <a:ln/>
        </p:spPr>
        <p:txBody>
          <a:bodyPr wrap="square" lIns="85090" tIns="34036" rIns="85090" bIns="34036" rtlCol="0" anchor="t">
            <a:spAutoFit/>
          </a:bodyPr>
          <a:lstStyle/>
          <a:p>
            <a:pPr algn="l" indent="0" marL="0">
              <a:lnSpc>
                <a:spcPts val="1100"/>
              </a:lnSpc>
              <a:buNone/>
            </a:pPr>
            <a:r>
              <a:rPr lang="en-US" sz="784" b="1" dirty="0">
                <a:solidFill>
                  <a:srgbClr val="002B5C"/>
                </a:solidFill>
              </a:rPr>
              <a:t>8-12ms Latency</a:t>
            </a:r>
            <a:endParaRPr lang="en-US" sz="784" dirty="0"/>
          </a:p>
        </p:txBody>
      </p:sp>
      <p:sp>
        <p:nvSpPr>
          <p:cNvPr id="13" name="Text 9"/>
          <p:cNvSpPr/>
          <p:nvPr/>
        </p:nvSpPr>
        <p:spPr>
          <a:xfrm>
            <a:off x="742950" y="1807369"/>
            <a:ext cx="4414838"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555555"/>
                </a:solidFill>
              </a:rPr>
              <a:t>Real-time detection with precise bounding box localization for all defect types.</a:t>
            </a:r>
            <a:endParaRPr lang="en-US" sz="834" dirty="0"/>
          </a:p>
        </p:txBody>
      </p:sp>
      <p:sp>
        <p:nvSpPr>
          <p:cNvPr id="14" name="Text 10"/>
          <p:cNvSpPr/>
          <p:nvPr/>
        </p:nvSpPr>
        <p:spPr>
          <a:xfrm>
            <a:off x="742950" y="2145971"/>
            <a:ext cx="717779"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333333"/>
                </a:solidFill>
              </a:rPr>
              <a:t>DeiT-Tiny</a:t>
            </a:r>
            <a:endParaRPr lang="en-US" sz="1090" dirty="0"/>
          </a:p>
        </p:txBody>
      </p:sp>
      <p:sp>
        <p:nvSpPr>
          <p:cNvPr id="15" name="Text 11"/>
          <p:cNvSpPr/>
          <p:nvPr/>
        </p:nvSpPr>
        <p:spPr>
          <a:xfrm>
            <a:off x="4358385" y="2208479"/>
            <a:ext cx="799402"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666666"/>
                </a:solidFill>
              </a:rPr>
              <a:t>Classification</a:t>
            </a:r>
            <a:endParaRPr lang="en-US" sz="683" dirty="0"/>
          </a:p>
        </p:txBody>
      </p:sp>
      <p:sp>
        <p:nvSpPr>
          <p:cNvPr id="16" name="Shape 12"/>
          <p:cNvSpPr/>
          <p:nvPr/>
        </p:nvSpPr>
        <p:spPr>
          <a:xfrm>
            <a:off x="742950" y="2417434"/>
            <a:ext cx="1000125" cy="212527"/>
          </a:xfrm>
          <a:prstGeom prst="rect">
            <a:avLst/>
          </a:prstGeom>
          <a:solidFill>
            <a:srgbClr val="F0F4F8"/>
          </a:solidFill>
          <a:ln/>
        </p:spPr>
      </p:sp>
      <p:sp>
        <p:nvSpPr>
          <p:cNvPr id="17" name="Text 13"/>
          <p:cNvSpPr/>
          <p:nvPr/>
        </p:nvSpPr>
        <p:spPr>
          <a:xfrm>
            <a:off x="742950" y="2417434"/>
            <a:ext cx="1000125" cy="212527"/>
          </a:xfrm>
          <a:prstGeom prst="rect">
            <a:avLst/>
          </a:prstGeom>
          <a:noFill/>
          <a:ln/>
        </p:spPr>
        <p:txBody>
          <a:bodyPr wrap="square" lIns="85090" tIns="34036" rIns="85090" bIns="34036" rtlCol="0" anchor="t">
            <a:spAutoFit/>
          </a:bodyPr>
          <a:lstStyle/>
          <a:p>
            <a:pPr algn="l" indent="0" marL="0">
              <a:lnSpc>
                <a:spcPts val="1100"/>
              </a:lnSpc>
              <a:buNone/>
            </a:pPr>
            <a:r>
              <a:rPr lang="en-US" sz="784" b="1" dirty="0">
                <a:solidFill>
                  <a:srgbClr val="002B5C"/>
                </a:solidFill>
              </a:rPr>
              <a:t>96.2% Accuracy</a:t>
            </a:r>
            <a:endParaRPr lang="en-US" sz="784" dirty="0"/>
          </a:p>
        </p:txBody>
      </p:sp>
      <p:sp>
        <p:nvSpPr>
          <p:cNvPr id="18" name="Shape 14"/>
          <p:cNvSpPr/>
          <p:nvPr/>
        </p:nvSpPr>
        <p:spPr>
          <a:xfrm>
            <a:off x="1885950" y="2417434"/>
            <a:ext cx="942417" cy="212527"/>
          </a:xfrm>
          <a:prstGeom prst="rect">
            <a:avLst/>
          </a:prstGeom>
          <a:solidFill>
            <a:srgbClr val="F0F4F8"/>
          </a:solidFill>
          <a:ln/>
        </p:spPr>
      </p:sp>
      <p:sp>
        <p:nvSpPr>
          <p:cNvPr id="19" name="Text 15"/>
          <p:cNvSpPr/>
          <p:nvPr/>
        </p:nvSpPr>
        <p:spPr>
          <a:xfrm>
            <a:off x="1885950" y="2417434"/>
            <a:ext cx="942417" cy="212527"/>
          </a:xfrm>
          <a:prstGeom prst="rect">
            <a:avLst/>
          </a:prstGeom>
          <a:noFill/>
          <a:ln/>
        </p:spPr>
        <p:txBody>
          <a:bodyPr wrap="square" lIns="85090" tIns="34036" rIns="85090" bIns="34036" rtlCol="0" anchor="t">
            <a:spAutoFit/>
          </a:bodyPr>
          <a:lstStyle/>
          <a:p>
            <a:pPr algn="l" indent="0" marL="0">
              <a:lnSpc>
                <a:spcPts val="1100"/>
              </a:lnSpc>
              <a:buNone/>
            </a:pPr>
            <a:r>
              <a:rPr lang="en-US" sz="784" b="1" dirty="0">
                <a:solidFill>
                  <a:srgbClr val="002B5C"/>
                </a:solidFill>
              </a:rPr>
              <a:t>5-8ms Latency</a:t>
            </a:r>
            <a:endParaRPr lang="en-US" sz="784" dirty="0"/>
          </a:p>
        </p:txBody>
      </p:sp>
      <p:sp>
        <p:nvSpPr>
          <p:cNvPr id="20" name="Text 16"/>
          <p:cNvSpPr/>
          <p:nvPr/>
        </p:nvSpPr>
        <p:spPr>
          <a:xfrm>
            <a:off x="742950" y="2687110"/>
            <a:ext cx="441483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555555"/>
                </a:solidFill>
              </a:rPr>
              <a:t>Vision Transformer architecture. Data-efficient and handles class imbalance exceptionally well.</a:t>
            </a:r>
            <a:endParaRPr lang="en-US" sz="834" dirty="0"/>
          </a:p>
        </p:txBody>
      </p:sp>
      <p:sp>
        <p:nvSpPr>
          <p:cNvPr id="21" name="Text 17"/>
          <p:cNvSpPr/>
          <p:nvPr/>
        </p:nvSpPr>
        <p:spPr>
          <a:xfrm>
            <a:off x="742950" y="3185722"/>
            <a:ext cx="1377376"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333333"/>
                </a:solidFill>
              </a:rPr>
              <a:t>ResNet50 + CBAM</a:t>
            </a:r>
            <a:endParaRPr lang="en-US" sz="1090" dirty="0"/>
          </a:p>
        </p:txBody>
      </p:sp>
      <p:sp>
        <p:nvSpPr>
          <p:cNvPr id="22" name="Text 18"/>
          <p:cNvSpPr/>
          <p:nvPr/>
        </p:nvSpPr>
        <p:spPr>
          <a:xfrm>
            <a:off x="4231667" y="3248230"/>
            <a:ext cx="92612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666666"/>
                </a:solidFill>
              </a:rPr>
              <a:t>Ensemble Voting</a:t>
            </a:r>
            <a:endParaRPr lang="en-US" sz="683" dirty="0"/>
          </a:p>
        </p:txBody>
      </p:sp>
      <p:sp>
        <p:nvSpPr>
          <p:cNvPr id="23" name="Shape 19"/>
          <p:cNvSpPr/>
          <p:nvPr/>
        </p:nvSpPr>
        <p:spPr>
          <a:xfrm>
            <a:off x="742950" y="3457184"/>
            <a:ext cx="1065507" cy="212527"/>
          </a:xfrm>
          <a:prstGeom prst="rect">
            <a:avLst/>
          </a:prstGeom>
          <a:solidFill>
            <a:srgbClr val="F0F4F8"/>
          </a:solidFill>
          <a:ln/>
        </p:spPr>
      </p:sp>
      <p:sp>
        <p:nvSpPr>
          <p:cNvPr id="24" name="Text 20"/>
          <p:cNvSpPr/>
          <p:nvPr/>
        </p:nvSpPr>
        <p:spPr>
          <a:xfrm>
            <a:off x="742950" y="3457184"/>
            <a:ext cx="1065507" cy="212527"/>
          </a:xfrm>
          <a:prstGeom prst="rect">
            <a:avLst/>
          </a:prstGeom>
          <a:noFill/>
          <a:ln/>
        </p:spPr>
        <p:txBody>
          <a:bodyPr wrap="square" lIns="85090" tIns="34036" rIns="85090" bIns="34036" rtlCol="0" anchor="t">
            <a:spAutoFit/>
          </a:bodyPr>
          <a:lstStyle/>
          <a:p>
            <a:pPr algn="l" indent="0" marL="0">
              <a:lnSpc>
                <a:spcPts val="1100"/>
              </a:lnSpc>
              <a:buNone/>
            </a:pPr>
            <a:r>
              <a:rPr lang="en-US" sz="784" b="1" dirty="0">
                <a:solidFill>
                  <a:srgbClr val="002B5C"/>
                </a:solidFill>
              </a:rPr>
              <a:t>96.96% Accuracy</a:t>
            </a:r>
            <a:endParaRPr lang="en-US" sz="784" dirty="0"/>
          </a:p>
        </p:txBody>
      </p:sp>
      <p:sp>
        <p:nvSpPr>
          <p:cNvPr id="25" name="Shape 21"/>
          <p:cNvSpPr/>
          <p:nvPr/>
        </p:nvSpPr>
        <p:spPr>
          <a:xfrm>
            <a:off x="1951332" y="3457184"/>
            <a:ext cx="1347490" cy="212527"/>
          </a:xfrm>
          <a:prstGeom prst="rect">
            <a:avLst/>
          </a:prstGeom>
          <a:solidFill>
            <a:srgbClr val="F0F4F8"/>
          </a:solidFill>
          <a:ln/>
        </p:spPr>
      </p:sp>
      <p:sp>
        <p:nvSpPr>
          <p:cNvPr id="26" name="Text 22"/>
          <p:cNvSpPr/>
          <p:nvPr/>
        </p:nvSpPr>
        <p:spPr>
          <a:xfrm>
            <a:off x="1951332" y="3457184"/>
            <a:ext cx="1347490" cy="212527"/>
          </a:xfrm>
          <a:prstGeom prst="rect">
            <a:avLst/>
          </a:prstGeom>
          <a:noFill/>
          <a:ln/>
        </p:spPr>
        <p:txBody>
          <a:bodyPr wrap="square" lIns="85090" tIns="34036" rIns="85090" bIns="34036" rtlCol="0" anchor="t">
            <a:spAutoFit/>
          </a:bodyPr>
          <a:lstStyle/>
          <a:p>
            <a:pPr algn="l" indent="0" marL="0">
              <a:lnSpc>
                <a:spcPts val="1100"/>
              </a:lnSpc>
              <a:buNone/>
            </a:pPr>
            <a:r>
              <a:rPr lang="en-US" sz="784" b="1" dirty="0">
                <a:solidFill>
                  <a:srgbClr val="002B5C"/>
                </a:solidFill>
              </a:rPr>
              <a:t>Attention Mechanism</a:t>
            </a:r>
            <a:endParaRPr lang="en-US" sz="784" dirty="0"/>
          </a:p>
        </p:txBody>
      </p:sp>
      <p:sp>
        <p:nvSpPr>
          <p:cNvPr id="27" name="Text 23"/>
          <p:cNvSpPr/>
          <p:nvPr/>
        </p:nvSpPr>
        <p:spPr>
          <a:xfrm>
            <a:off x="742950" y="3726861"/>
            <a:ext cx="4414838"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555555"/>
                </a:solidFill>
              </a:rPr>
              <a:t>Focuses on relevant defect regions for confidence score refinement.</a:t>
            </a:r>
            <a:endParaRPr lang="en-US" sz="834" dirty="0"/>
          </a:p>
        </p:txBody>
      </p:sp>
      <p:sp>
        <p:nvSpPr>
          <p:cNvPr id="28" name="Shape 24"/>
          <p:cNvSpPr/>
          <p:nvPr/>
        </p:nvSpPr>
        <p:spPr>
          <a:xfrm>
            <a:off x="571500" y="4336145"/>
            <a:ext cx="4586288" cy="616148"/>
          </a:xfrm>
          <a:prstGeom prst="rect">
            <a:avLst/>
          </a:prstGeom>
          <a:solidFill>
            <a:srgbClr val="F9F9F9"/>
          </a:solidFill>
          <a:ln/>
        </p:spPr>
      </p:sp>
      <p:sp>
        <p:nvSpPr>
          <p:cNvPr id="29" name="Shape 25"/>
          <p:cNvSpPr/>
          <p:nvPr/>
        </p:nvSpPr>
        <p:spPr>
          <a:xfrm>
            <a:off x="571500" y="4336145"/>
            <a:ext cx="28575" cy="616148"/>
          </a:xfrm>
          <a:prstGeom prst="rect">
            <a:avLst/>
          </a:prstGeom>
          <a:solidFill>
            <a:srgbClr val="333333"/>
          </a:solidFill>
          <a:ln/>
        </p:spPr>
      </p:sp>
      <p:pic>
        <p:nvPicPr>
          <p:cNvPr id="30" name="Image 1" descr="preencoded.png">    </p:cNvPr>
          <p:cNvPicPr>
            <a:picLocks noChangeAspect="1"/>
          </p:cNvPicPr>
          <p:nvPr/>
        </p:nvPicPr>
        <p:blipFill>
          <a:blip r:embed="rId2"/>
          <a:stretch>
            <a:fillRect/>
          </a:stretch>
        </p:blipFill>
        <p:spPr>
          <a:xfrm>
            <a:off x="714375" y="4466518"/>
            <a:ext cx="128588" cy="128588"/>
          </a:xfrm>
          <a:prstGeom prst="rect">
            <a:avLst/>
          </a:prstGeom>
        </p:spPr>
      </p:pic>
      <p:sp>
        <p:nvSpPr>
          <p:cNvPr id="31" name="Text 26"/>
          <p:cNvSpPr/>
          <p:nvPr/>
        </p:nvSpPr>
        <p:spPr>
          <a:xfrm>
            <a:off x="914400" y="4443301"/>
            <a:ext cx="1464357"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33333"/>
                </a:solidFill>
              </a:rPr>
              <a:t>TensorRT Optimization</a:t>
            </a:r>
            <a:endParaRPr lang="en-US" sz="885" dirty="0"/>
          </a:p>
        </p:txBody>
      </p:sp>
      <p:sp>
        <p:nvSpPr>
          <p:cNvPr id="32" name="Text 27"/>
          <p:cNvSpPr/>
          <p:nvPr/>
        </p:nvSpPr>
        <p:spPr>
          <a:xfrm>
            <a:off x="714375" y="4689760"/>
            <a:ext cx="781962"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02B5C"/>
                </a:solidFill>
              </a:rPr>
              <a:t>Speedup: </a:t>
            </a:r>
            <a:pPr algn="l" indent="0" marL="0">
              <a:lnSpc>
                <a:spcPts val="1100"/>
              </a:lnSpc>
              <a:buNone/>
            </a:pPr>
            <a:r>
              <a:rPr lang="en-US" sz="784" b="1" dirty="0">
                <a:solidFill>
                  <a:srgbClr val="002B5C"/>
                </a:solidFill>
              </a:rPr>
              <a:t>2.5x</a:t>
            </a:r>
            <a:endParaRPr lang="en-US" sz="784" dirty="0"/>
          </a:p>
        </p:txBody>
      </p:sp>
      <p:sp>
        <p:nvSpPr>
          <p:cNvPr id="33" name="Text 28"/>
          <p:cNvSpPr/>
          <p:nvPr/>
        </p:nvSpPr>
        <p:spPr>
          <a:xfrm>
            <a:off x="1710649" y="4689760"/>
            <a:ext cx="1380558"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02B5C"/>
                </a:solidFill>
              </a:rPr>
              <a:t>Memory Reduction: </a:t>
            </a:r>
            <a:pPr algn="l" indent="0" marL="0">
              <a:lnSpc>
                <a:spcPts val="1100"/>
              </a:lnSpc>
              <a:buNone/>
            </a:pPr>
            <a:r>
              <a:rPr lang="en-US" sz="784" b="1" dirty="0">
                <a:solidFill>
                  <a:srgbClr val="002B5C"/>
                </a:solidFill>
              </a:rPr>
              <a:t>40%</a:t>
            </a:r>
            <a:endParaRPr lang="en-US" sz="784" dirty="0"/>
          </a:p>
        </p:txBody>
      </p:sp>
      <p:sp>
        <p:nvSpPr>
          <p:cNvPr id="34" name="Text 29"/>
          <p:cNvSpPr/>
          <p:nvPr/>
        </p:nvSpPr>
        <p:spPr>
          <a:xfrm>
            <a:off x="3305519" y="4689760"/>
            <a:ext cx="1062689"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02B5C"/>
                </a:solidFill>
              </a:rPr>
              <a:t>Power Saving: </a:t>
            </a:r>
            <a:pPr algn="l" indent="0" marL="0">
              <a:lnSpc>
                <a:spcPts val="1100"/>
              </a:lnSpc>
              <a:buNone/>
            </a:pPr>
            <a:r>
              <a:rPr lang="en-US" sz="784" b="1" dirty="0">
                <a:solidFill>
                  <a:srgbClr val="002B5C"/>
                </a:solidFill>
              </a:rPr>
              <a:t>30%</a:t>
            </a:r>
            <a:endParaRPr lang="en-US" sz="784" dirty="0"/>
          </a:p>
        </p:txBody>
      </p:sp>
      <p:sp>
        <p:nvSpPr>
          <p:cNvPr id="35" name="Shape 30"/>
          <p:cNvSpPr/>
          <p:nvPr/>
        </p:nvSpPr>
        <p:spPr>
          <a:xfrm>
            <a:off x="5514975" y="1266230"/>
            <a:ext cx="3057525" cy="1775110"/>
          </a:xfrm>
          <a:prstGeom prst="rect">
            <a:avLst/>
          </a:prstGeom>
          <a:solidFill>
            <a:srgbClr val="FFFFFF"/>
          </a:solidFill>
          <a:ln w="9144">
            <a:solidFill>
              <a:srgbClr val="EEEEEE"/>
            </a:solidFill>
            <a:prstDash val="solid"/>
          </a:ln>
        </p:spPr>
      </p:sp>
      <p:pic>
        <p:nvPicPr>
          <p:cNvPr id="36" name="Image 2" descr="preencoded.png">    </p:cNvPr>
          <p:cNvPicPr>
            <a:picLocks noChangeAspect="1"/>
          </p:cNvPicPr>
          <p:nvPr/>
        </p:nvPicPr>
        <p:blipFill>
          <a:blip r:embed="rId3"/>
          <a:stretch>
            <a:fillRect/>
          </a:stretch>
        </p:blipFill>
        <p:spPr>
          <a:xfrm>
            <a:off x="5586413" y="1337667"/>
            <a:ext cx="2914650" cy="1625929"/>
          </a:xfrm>
          <a:prstGeom prst="rect">
            <a:avLst/>
          </a:prstGeom>
        </p:spPr>
      </p:pic>
      <p:sp>
        <p:nvSpPr>
          <p:cNvPr id="37" name="Shape 31"/>
          <p:cNvSpPr/>
          <p:nvPr/>
        </p:nvSpPr>
        <p:spPr>
          <a:xfrm>
            <a:off x="5514975" y="3249346"/>
            <a:ext cx="3057525" cy="1696641"/>
          </a:xfrm>
          <a:prstGeom prst="rect">
            <a:avLst/>
          </a:prstGeom>
          <a:solidFill>
            <a:srgbClr val="002B5C"/>
          </a:solidFill>
          <a:ln/>
        </p:spPr>
      </p:sp>
      <p:sp>
        <p:nvSpPr>
          <p:cNvPr id="38" name="Text 32"/>
          <p:cNvSpPr/>
          <p:nvPr/>
        </p:nvSpPr>
        <p:spPr>
          <a:xfrm>
            <a:off x="5693569" y="3427940"/>
            <a:ext cx="2700338" cy="273248"/>
          </a:xfrm>
          <a:prstGeom prst="rect">
            <a:avLst/>
          </a:prstGeom>
          <a:noFill/>
          <a:ln/>
        </p:spPr>
        <p:txBody>
          <a:bodyPr wrap="square" lIns="0" tIns="0" rIns="0" bIns="85090" rtlCol="0" anchor="t">
            <a:spAutoFit/>
          </a:bodyPr>
          <a:lstStyle/>
          <a:p>
            <a:pPr algn="l" indent="0" marL="0">
              <a:lnSpc>
                <a:spcPts val="1400"/>
              </a:lnSpc>
              <a:buNone/>
            </a:pPr>
            <a:r>
              <a:rPr lang="en-US" sz="987" b="1" dirty="0">
                <a:solidFill>
                  <a:srgbClr val="FF4F00"/>
                </a:solidFill>
              </a:rPr>
              <a:t>Ensemble Performance</a:t>
            </a:r>
            <a:endParaRPr lang="en-US" sz="987" dirty="0"/>
          </a:p>
        </p:txBody>
      </p:sp>
      <p:sp>
        <p:nvSpPr>
          <p:cNvPr id="39" name="Text 33"/>
          <p:cNvSpPr/>
          <p:nvPr/>
        </p:nvSpPr>
        <p:spPr>
          <a:xfrm>
            <a:off x="5693569" y="3847635"/>
            <a:ext cx="1058782"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FFFFFF">
                    <a:alpha val="80000"/>
                  </a:srgbClr>
                </a:solidFill>
              </a:rPr>
              <a:t>Combined Accuracy</a:t>
            </a:r>
            <a:endParaRPr lang="en-US" sz="834" dirty="0"/>
          </a:p>
        </p:txBody>
      </p:sp>
      <p:sp>
        <p:nvSpPr>
          <p:cNvPr id="40" name="Text 34"/>
          <p:cNvSpPr/>
          <p:nvPr/>
        </p:nvSpPr>
        <p:spPr>
          <a:xfrm>
            <a:off x="7896355" y="3808344"/>
            <a:ext cx="497551"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99.1%</a:t>
            </a:r>
            <a:endParaRPr lang="en-US" sz="1193" dirty="0"/>
          </a:p>
        </p:txBody>
      </p:sp>
      <p:sp>
        <p:nvSpPr>
          <p:cNvPr id="41" name="Text 35"/>
          <p:cNvSpPr/>
          <p:nvPr/>
        </p:nvSpPr>
        <p:spPr>
          <a:xfrm>
            <a:off x="5693569" y="4167318"/>
            <a:ext cx="702850"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FFFFFF">
                    <a:alpha val="80000"/>
                  </a:srgbClr>
                </a:solidFill>
              </a:rPr>
              <a:t>Total Latency</a:t>
            </a:r>
            <a:endParaRPr lang="en-US" sz="834" dirty="0"/>
          </a:p>
        </p:txBody>
      </p:sp>
      <p:sp>
        <p:nvSpPr>
          <p:cNvPr id="42" name="Text 36"/>
          <p:cNvSpPr/>
          <p:nvPr/>
        </p:nvSpPr>
        <p:spPr>
          <a:xfrm>
            <a:off x="7846098" y="4128027"/>
            <a:ext cx="547808"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&lt;50ms</a:t>
            </a:r>
            <a:endParaRPr lang="en-US" sz="1193" dirty="0"/>
          </a:p>
        </p:txBody>
      </p:sp>
      <p:sp>
        <p:nvSpPr>
          <p:cNvPr id="43" name="Text 37"/>
          <p:cNvSpPr/>
          <p:nvPr/>
        </p:nvSpPr>
        <p:spPr>
          <a:xfrm>
            <a:off x="5693569" y="4487001"/>
            <a:ext cx="577221"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FFFFFF">
                    <a:alpha val="80000"/>
                  </a:srgbClr>
                </a:solidFill>
              </a:rPr>
              <a:t>Model Size</a:t>
            </a:r>
            <a:endParaRPr lang="en-US" sz="834" dirty="0"/>
          </a:p>
        </p:txBody>
      </p:sp>
      <p:sp>
        <p:nvSpPr>
          <p:cNvPr id="44" name="Text 38"/>
          <p:cNvSpPr/>
          <p:nvPr/>
        </p:nvSpPr>
        <p:spPr>
          <a:xfrm>
            <a:off x="7724710" y="4447710"/>
            <a:ext cx="669196"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~200MB</a:t>
            </a:r>
            <a:endParaRPr lang="en-US" sz="119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28625"/>
            <a:ext cx="8001000" cy="791170"/>
          </a:xfrm>
          <a:prstGeom prst="rect">
            <a:avLst/>
          </a:prstGeom>
          <a:solidFill>
            <a:srgbClr val="000000">
              <a:alpha val="0"/>
            </a:srgbClr>
          </a:solidFill>
          <a:ln/>
        </p:spPr>
      </p:sp>
      <p:sp>
        <p:nvSpPr>
          <p:cNvPr id="5" name="Shape 1"/>
          <p:cNvSpPr/>
          <p:nvPr/>
        </p:nvSpPr>
        <p:spPr>
          <a:xfrm>
            <a:off x="571500" y="1191220"/>
            <a:ext cx="8001000" cy="28575"/>
          </a:xfrm>
          <a:prstGeom prst="rect">
            <a:avLst/>
          </a:prstGeom>
          <a:solidFill>
            <a:srgbClr val="002B5C"/>
          </a:solidFill>
          <a:ln/>
        </p:spPr>
      </p:sp>
      <p:sp>
        <p:nvSpPr>
          <p:cNvPr id="6" name="Text 2"/>
          <p:cNvSpPr/>
          <p:nvPr/>
        </p:nvSpPr>
        <p:spPr>
          <a:xfrm>
            <a:off x="571500" y="428625"/>
            <a:ext cx="8001000" cy="40898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002B5C"/>
                </a:solidFill>
              </a:rPr>
              <a:t>GAN-Based Synthetic Data Generation</a:t>
            </a:r>
            <a:endParaRPr lang="en-US" sz="2121" dirty="0"/>
          </a:p>
        </p:txBody>
      </p:sp>
      <p:sp>
        <p:nvSpPr>
          <p:cNvPr id="7" name="Text 3"/>
          <p:cNvSpPr/>
          <p:nvPr/>
        </p:nvSpPr>
        <p:spPr>
          <a:xfrm>
            <a:off x="571500" y="873323"/>
            <a:ext cx="8001000" cy="175022"/>
          </a:xfrm>
          <a:prstGeom prst="rect">
            <a:avLst/>
          </a:prstGeom>
          <a:noFill/>
          <a:ln/>
        </p:spPr>
        <p:txBody>
          <a:bodyPr wrap="none" lIns="0" tIns="0" rIns="0" bIns="0" rtlCol="0" anchor="t">
            <a:spAutoFit/>
          </a:bodyPr>
          <a:lstStyle/>
          <a:p>
            <a:pPr algn="l" indent="0" marL="0">
              <a:lnSpc>
                <a:spcPts val="1200"/>
              </a:lnSpc>
              <a:buNone/>
            </a:pPr>
            <a:r>
              <a:rPr lang="en-US" sz="942" dirty="0">
                <a:solidFill>
                  <a:srgbClr val="666666"/>
                </a:solidFill>
              </a:rPr>
              <a:t>Solving Data Scarcity with Generative AI</a:t>
            </a:r>
            <a:endParaRPr lang="en-US" sz="942" dirty="0"/>
          </a:p>
        </p:txBody>
      </p:sp>
      <p:sp>
        <p:nvSpPr>
          <p:cNvPr id="8" name="Text 4"/>
          <p:cNvSpPr/>
          <p:nvPr/>
        </p:nvSpPr>
        <p:spPr>
          <a:xfrm>
            <a:off x="571500" y="1405533"/>
            <a:ext cx="4672013" cy="214313"/>
          </a:xfrm>
          <a:prstGeom prst="rect">
            <a:avLst/>
          </a:prstGeom>
          <a:noFill/>
          <a:ln/>
        </p:spPr>
        <p:txBody>
          <a:bodyPr wrap="none" lIns="102108" tIns="0" rIns="0" bIns="0" rtlCol="0" anchor="t">
            <a:spAutoFit/>
          </a:bodyPr>
          <a:lstStyle/>
          <a:p>
            <a:pPr algn="l" indent="0" marL="0">
              <a:lnSpc>
                <a:spcPts val="1500"/>
              </a:lnSpc>
              <a:buNone/>
            </a:pPr>
            <a:r>
              <a:rPr lang="en-US" sz="1090" b="1" dirty="0">
                <a:solidFill>
                  <a:srgbClr val="FF4F00"/>
                </a:solidFill>
              </a:rPr>
              <a:t>Generative Methods</a:t>
            </a:r>
            <a:endParaRPr lang="en-US" sz="1090" dirty="0"/>
          </a:p>
        </p:txBody>
      </p:sp>
      <p:sp>
        <p:nvSpPr>
          <p:cNvPr id="9" name="Shape 5"/>
          <p:cNvSpPr/>
          <p:nvPr/>
        </p:nvSpPr>
        <p:spPr>
          <a:xfrm>
            <a:off x="571500" y="1691283"/>
            <a:ext cx="4672013" cy="652202"/>
          </a:xfrm>
          <a:prstGeom prst="rect">
            <a:avLst/>
          </a:prstGeom>
          <a:solidFill>
            <a:srgbClr val="F8F9FA"/>
          </a:solidFill>
          <a:ln/>
        </p:spPr>
      </p:sp>
      <p:sp>
        <p:nvSpPr>
          <p:cNvPr id="10" name="Shape 6"/>
          <p:cNvSpPr/>
          <p:nvPr/>
        </p:nvSpPr>
        <p:spPr>
          <a:xfrm>
            <a:off x="571500" y="1691283"/>
            <a:ext cx="28575" cy="652202"/>
          </a:xfrm>
          <a:prstGeom prst="rect">
            <a:avLst/>
          </a:prstGeom>
          <a:solidFill>
            <a:srgbClr val="002B5C"/>
          </a:solidFill>
          <a:ln/>
        </p:spPr>
      </p:sp>
      <p:sp>
        <p:nvSpPr>
          <p:cNvPr id="11" name="Text 7"/>
          <p:cNvSpPr/>
          <p:nvPr/>
        </p:nvSpPr>
        <p:spPr>
          <a:xfrm>
            <a:off x="657225" y="1748433"/>
            <a:ext cx="4500563"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02B5C"/>
                </a:solidFill>
              </a:rPr>
              <a:t>StyleGAN2 Architecture</a:t>
            </a:r>
            <a:endParaRPr lang="en-US" sz="885" dirty="0"/>
          </a:p>
        </p:txBody>
      </p:sp>
      <p:sp>
        <p:nvSpPr>
          <p:cNvPr id="12" name="Text 8"/>
          <p:cNvSpPr/>
          <p:nvPr/>
        </p:nvSpPr>
        <p:spPr>
          <a:xfrm>
            <a:off x="657225" y="1966317"/>
            <a:ext cx="4500563"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555555"/>
                </a:solidFill>
              </a:rPr>
              <a:t>Generates high-fidelity, physically plausible synthetic defect images to expand the training dataset.</a:t>
            </a:r>
            <a:endParaRPr lang="en-US" sz="834" dirty="0"/>
          </a:p>
        </p:txBody>
      </p:sp>
      <p:sp>
        <p:nvSpPr>
          <p:cNvPr id="13" name="Shape 9"/>
          <p:cNvSpPr/>
          <p:nvPr/>
        </p:nvSpPr>
        <p:spPr>
          <a:xfrm>
            <a:off x="571500" y="2429210"/>
            <a:ext cx="4672013" cy="652202"/>
          </a:xfrm>
          <a:prstGeom prst="rect">
            <a:avLst/>
          </a:prstGeom>
          <a:solidFill>
            <a:srgbClr val="F8F9FA"/>
          </a:solidFill>
          <a:ln/>
        </p:spPr>
      </p:sp>
      <p:sp>
        <p:nvSpPr>
          <p:cNvPr id="14" name="Shape 10"/>
          <p:cNvSpPr/>
          <p:nvPr/>
        </p:nvSpPr>
        <p:spPr>
          <a:xfrm>
            <a:off x="571500" y="2429210"/>
            <a:ext cx="28575" cy="652202"/>
          </a:xfrm>
          <a:prstGeom prst="rect">
            <a:avLst/>
          </a:prstGeom>
          <a:solidFill>
            <a:srgbClr val="002B5C"/>
          </a:solidFill>
          <a:ln/>
        </p:spPr>
      </p:sp>
      <p:sp>
        <p:nvSpPr>
          <p:cNvPr id="15" name="Text 11"/>
          <p:cNvSpPr/>
          <p:nvPr/>
        </p:nvSpPr>
        <p:spPr>
          <a:xfrm>
            <a:off x="657225" y="2486360"/>
            <a:ext cx="4500563"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02B5C"/>
                </a:solidFill>
              </a:rPr>
              <a:t>Conditional GAN (cGAN)</a:t>
            </a:r>
            <a:endParaRPr lang="en-US" sz="885" dirty="0"/>
          </a:p>
        </p:txBody>
      </p:sp>
      <p:sp>
        <p:nvSpPr>
          <p:cNvPr id="16" name="Text 12"/>
          <p:cNvSpPr/>
          <p:nvPr/>
        </p:nvSpPr>
        <p:spPr>
          <a:xfrm>
            <a:off x="657225" y="2704244"/>
            <a:ext cx="4500563"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555555"/>
                </a:solidFill>
              </a:rPr>
              <a:t>Targeted generation of specific defect types to augment minority classes and balance the dataset.</a:t>
            </a:r>
            <a:endParaRPr lang="en-US" sz="834" dirty="0"/>
          </a:p>
        </p:txBody>
      </p:sp>
      <p:sp>
        <p:nvSpPr>
          <p:cNvPr id="17" name="Shape 13"/>
          <p:cNvSpPr/>
          <p:nvPr/>
        </p:nvSpPr>
        <p:spPr>
          <a:xfrm>
            <a:off x="571500" y="3167137"/>
            <a:ext cx="4672013" cy="652202"/>
          </a:xfrm>
          <a:prstGeom prst="rect">
            <a:avLst/>
          </a:prstGeom>
          <a:solidFill>
            <a:srgbClr val="F8F9FA"/>
          </a:solidFill>
          <a:ln/>
        </p:spPr>
      </p:sp>
      <p:sp>
        <p:nvSpPr>
          <p:cNvPr id="18" name="Shape 14"/>
          <p:cNvSpPr/>
          <p:nvPr/>
        </p:nvSpPr>
        <p:spPr>
          <a:xfrm>
            <a:off x="571500" y="3167137"/>
            <a:ext cx="28575" cy="652202"/>
          </a:xfrm>
          <a:prstGeom prst="rect">
            <a:avLst/>
          </a:prstGeom>
          <a:solidFill>
            <a:srgbClr val="002B5C"/>
          </a:solidFill>
          <a:ln/>
        </p:spPr>
      </p:sp>
      <p:sp>
        <p:nvSpPr>
          <p:cNvPr id="19" name="Text 15"/>
          <p:cNvSpPr/>
          <p:nvPr/>
        </p:nvSpPr>
        <p:spPr>
          <a:xfrm>
            <a:off x="657225" y="3224287"/>
            <a:ext cx="4500563"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02B5C"/>
                </a:solidFill>
              </a:rPr>
              <a:t>CycleGAN</a:t>
            </a:r>
            <a:endParaRPr lang="en-US" sz="885" dirty="0"/>
          </a:p>
        </p:txBody>
      </p:sp>
      <p:sp>
        <p:nvSpPr>
          <p:cNvPr id="20" name="Text 16"/>
          <p:cNvSpPr/>
          <p:nvPr/>
        </p:nvSpPr>
        <p:spPr>
          <a:xfrm>
            <a:off x="657225" y="3442171"/>
            <a:ext cx="4500563"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555555"/>
                </a:solidFill>
              </a:rPr>
              <a:t>Unpaired image-to-image translation enabling temporal data augmentation and domain adaptation.</a:t>
            </a:r>
            <a:endParaRPr lang="en-US" sz="834" dirty="0"/>
          </a:p>
        </p:txBody>
      </p:sp>
      <p:sp>
        <p:nvSpPr>
          <p:cNvPr id="21" name="Text 17"/>
          <p:cNvSpPr/>
          <p:nvPr/>
        </p:nvSpPr>
        <p:spPr>
          <a:xfrm>
            <a:off x="571500" y="3947926"/>
            <a:ext cx="4672013" cy="214313"/>
          </a:xfrm>
          <a:prstGeom prst="rect">
            <a:avLst/>
          </a:prstGeom>
          <a:noFill/>
          <a:ln/>
        </p:spPr>
        <p:txBody>
          <a:bodyPr wrap="none" lIns="102108" tIns="0" rIns="0" bIns="0" rtlCol="0" anchor="t">
            <a:spAutoFit/>
          </a:bodyPr>
          <a:lstStyle/>
          <a:p>
            <a:pPr algn="l" indent="0" marL="0">
              <a:lnSpc>
                <a:spcPts val="1500"/>
              </a:lnSpc>
              <a:buNone/>
            </a:pPr>
            <a:r>
              <a:rPr lang="en-US" sz="1090" b="1" dirty="0">
                <a:solidFill>
                  <a:srgbClr val="FF4F00"/>
                </a:solidFill>
              </a:rPr>
              <a:t>Augmentation Strategies</a:t>
            </a:r>
            <a:endParaRPr lang="en-US" sz="1090" dirty="0"/>
          </a:p>
        </p:txBody>
      </p:sp>
      <p:pic>
        <p:nvPicPr>
          <p:cNvPr id="22" name="Image 1" descr="preencoded.png">    </p:cNvPr>
          <p:cNvPicPr>
            <a:picLocks noChangeAspect="1"/>
          </p:cNvPicPr>
          <p:nvPr/>
        </p:nvPicPr>
        <p:blipFill>
          <a:blip r:embed="rId2"/>
          <a:stretch>
            <a:fillRect/>
          </a:stretch>
        </p:blipFill>
        <p:spPr>
          <a:xfrm>
            <a:off x="571500" y="4289933"/>
            <a:ext cx="100013" cy="100013"/>
          </a:xfrm>
          <a:prstGeom prst="rect">
            <a:avLst/>
          </a:prstGeom>
        </p:spPr>
      </p:pic>
      <p:sp>
        <p:nvSpPr>
          <p:cNvPr id="23" name="Text 18"/>
          <p:cNvSpPr/>
          <p:nvPr/>
        </p:nvSpPr>
        <p:spPr>
          <a:xfrm>
            <a:off x="728663" y="4262251"/>
            <a:ext cx="1474933"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333333"/>
                </a:solidFill>
              </a:rPr>
              <a:t>Geometric Transformations</a:t>
            </a:r>
            <a:endParaRPr lang="en-US" sz="834" dirty="0"/>
          </a:p>
        </p:txBody>
      </p:sp>
      <p:pic>
        <p:nvPicPr>
          <p:cNvPr id="24" name="Image 2" descr="preencoded.png">    </p:cNvPr>
          <p:cNvPicPr>
            <a:picLocks noChangeAspect="1"/>
          </p:cNvPicPr>
          <p:nvPr/>
        </p:nvPicPr>
        <p:blipFill>
          <a:blip r:embed="rId3"/>
          <a:stretch>
            <a:fillRect/>
          </a:stretch>
        </p:blipFill>
        <p:spPr>
          <a:xfrm>
            <a:off x="2936081" y="4289933"/>
            <a:ext cx="100013" cy="100013"/>
          </a:xfrm>
          <a:prstGeom prst="rect">
            <a:avLst/>
          </a:prstGeom>
        </p:spPr>
      </p:pic>
      <p:sp>
        <p:nvSpPr>
          <p:cNvPr id="25" name="Text 19"/>
          <p:cNvSpPr/>
          <p:nvPr/>
        </p:nvSpPr>
        <p:spPr>
          <a:xfrm>
            <a:off x="3093244" y="4262251"/>
            <a:ext cx="1522595"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333333"/>
                </a:solidFill>
              </a:rPr>
              <a:t>Defect-Aware Augmentation</a:t>
            </a:r>
            <a:endParaRPr lang="en-US" sz="834" dirty="0"/>
          </a:p>
        </p:txBody>
      </p:sp>
      <p:pic>
        <p:nvPicPr>
          <p:cNvPr id="26" name="Image 3" descr="preencoded.png">    </p:cNvPr>
          <p:cNvPicPr>
            <a:picLocks noChangeAspect="1"/>
          </p:cNvPicPr>
          <p:nvPr/>
        </p:nvPicPr>
        <p:blipFill>
          <a:blip r:embed="rId4"/>
          <a:stretch>
            <a:fillRect/>
          </a:stretch>
        </p:blipFill>
        <p:spPr>
          <a:xfrm>
            <a:off x="571500" y="4559610"/>
            <a:ext cx="100013" cy="100013"/>
          </a:xfrm>
          <a:prstGeom prst="rect">
            <a:avLst/>
          </a:prstGeom>
        </p:spPr>
      </p:pic>
      <p:sp>
        <p:nvSpPr>
          <p:cNvPr id="27" name="Text 20"/>
          <p:cNvSpPr/>
          <p:nvPr/>
        </p:nvSpPr>
        <p:spPr>
          <a:xfrm>
            <a:off x="728663" y="4531928"/>
            <a:ext cx="814276"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333333"/>
                </a:solidFill>
              </a:rPr>
              <a:t>Mixup / CutMix</a:t>
            </a:r>
            <a:endParaRPr lang="en-US" sz="834" dirty="0"/>
          </a:p>
        </p:txBody>
      </p:sp>
      <p:pic>
        <p:nvPicPr>
          <p:cNvPr id="28" name="Image 4" descr="preencoded.png">    </p:cNvPr>
          <p:cNvPicPr>
            <a:picLocks noChangeAspect="1"/>
          </p:cNvPicPr>
          <p:nvPr/>
        </p:nvPicPr>
        <p:blipFill>
          <a:blip r:embed="rId5"/>
          <a:stretch>
            <a:fillRect/>
          </a:stretch>
        </p:blipFill>
        <p:spPr>
          <a:xfrm>
            <a:off x="2936081" y="4559610"/>
            <a:ext cx="100013" cy="100013"/>
          </a:xfrm>
          <a:prstGeom prst="rect">
            <a:avLst/>
          </a:prstGeom>
        </p:spPr>
      </p:pic>
      <p:sp>
        <p:nvSpPr>
          <p:cNvPr id="29" name="Text 21"/>
          <p:cNvSpPr/>
          <p:nvPr/>
        </p:nvSpPr>
        <p:spPr>
          <a:xfrm>
            <a:off x="3093244" y="4531928"/>
            <a:ext cx="1238687"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333333"/>
                </a:solidFill>
              </a:rPr>
              <a:t>SMOTE for Spatial Data</a:t>
            </a:r>
            <a:endParaRPr lang="en-US" sz="834" dirty="0"/>
          </a:p>
        </p:txBody>
      </p:sp>
      <p:sp>
        <p:nvSpPr>
          <p:cNvPr id="30" name="Shape 22"/>
          <p:cNvSpPr/>
          <p:nvPr/>
        </p:nvSpPr>
        <p:spPr>
          <a:xfrm>
            <a:off x="5457825" y="1405533"/>
            <a:ext cx="3114675" cy="1285875"/>
          </a:xfrm>
          <a:prstGeom prst="rect">
            <a:avLst/>
          </a:prstGeom>
          <a:solidFill>
            <a:srgbClr val="F0F0F0"/>
          </a:solidFill>
          <a:ln w="9144">
            <a:solidFill>
              <a:srgbClr val="DDDDDD"/>
            </a:solidFill>
            <a:prstDash val="solid"/>
          </a:ln>
        </p:spPr>
      </p:sp>
      <p:pic>
        <p:nvPicPr>
          <p:cNvPr id="31" name="Image 5" descr="preencoded.png">    </p:cNvPr>
          <p:cNvPicPr>
            <a:picLocks noChangeAspect="1"/>
          </p:cNvPicPr>
          <p:nvPr/>
        </p:nvPicPr>
        <p:blipFill>
          <a:blip r:embed="rId6"/>
          <a:stretch>
            <a:fillRect/>
          </a:stretch>
        </p:blipFill>
        <p:spPr>
          <a:xfrm>
            <a:off x="5457825" y="1405533"/>
            <a:ext cx="3114675" cy="1285875"/>
          </a:xfrm>
          <a:prstGeom prst="rect">
            <a:avLst/>
          </a:prstGeom>
        </p:spPr>
      </p:pic>
      <p:sp>
        <p:nvSpPr>
          <p:cNvPr id="32" name="Shape 23"/>
          <p:cNvSpPr/>
          <p:nvPr/>
        </p:nvSpPr>
        <p:spPr>
          <a:xfrm>
            <a:off x="5457825" y="2777133"/>
            <a:ext cx="3114675" cy="2152055"/>
          </a:xfrm>
          <a:prstGeom prst="rect">
            <a:avLst/>
          </a:prstGeom>
          <a:solidFill>
            <a:srgbClr val="002B5C"/>
          </a:solidFill>
          <a:ln/>
        </p:spPr>
      </p:sp>
      <p:sp>
        <p:nvSpPr>
          <p:cNvPr id="33" name="Text 24"/>
          <p:cNvSpPr/>
          <p:nvPr/>
        </p:nvSpPr>
        <p:spPr>
          <a:xfrm>
            <a:off x="5572125" y="2969121"/>
            <a:ext cx="2886075" cy="175022"/>
          </a:xfrm>
          <a:prstGeom prst="rect">
            <a:avLst/>
          </a:prstGeom>
          <a:noFill/>
          <a:ln/>
        </p:spPr>
        <p:txBody>
          <a:bodyPr wrap="none" lIns="0" tIns="0" rIns="0" bIns="0" rtlCol="0" anchor="t">
            <a:spAutoFit/>
          </a:bodyPr>
          <a:lstStyle/>
          <a:p>
            <a:pPr algn="l" indent="0" marL="0">
              <a:lnSpc>
                <a:spcPts val="1200"/>
              </a:lnSpc>
              <a:buNone/>
            </a:pPr>
            <a:r>
              <a:rPr lang="en-US" sz="885" b="1" spc="1" kern="0" dirty="0">
                <a:solidFill>
                  <a:srgbClr val="FF4F00"/>
                </a:solidFill>
              </a:rPr>
              <a:t>Performance Impact</a:t>
            </a:r>
            <a:endParaRPr lang="en-US" sz="885" dirty="0"/>
          </a:p>
        </p:txBody>
      </p:sp>
      <p:sp>
        <p:nvSpPr>
          <p:cNvPr id="34" name="Text 25"/>
          <p:cNvSpPr/>
          <p:nvPr/>
        </p:nvSpPr>
        <p:spPr>
          <a:xfrm>
            <a:off x="5572125" y="3229868"/>
            <a:ext cx="344463" cy="27324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FFFFFF"/>
                </a:solidFill>
              </a:rPr>
              <a:t>10x</a:t>
            </a:r>
            <a:endParaRPr lang="en-US" sz="1397" dirty="0"/>
          </a:p>
        </p:txBody>
      </p:sp>
      <p:sp>
        <p:nvSpPr>
          <p:cNvPr id="35" name="Text 26"/>
          <p:cNvSpPr/>
          <p:nvPr/>
        </p:nvSpPr>
        <p:spPr>
          <a:xfrm>
            <a:off x="7828099" y="3230761"/>
            <a:ext cx="630101" cy="271463"/>
          </a:xfrm>
          <a:prstGeom prst="rect">
            <a:avLst/>
          </a:prstGeom>
          <a:noFill/>
          <a:ln/>
        </p:spPr>
        <p:txBody>
          <a:bodyPr wrap="square" lIns="0" tIns="0" rIns="0" bIns="0" rtlCol="0" anchor="t">
            <a:spAutoFit/>
          </a:bodyPr>
          <a:lstStyle/>
          <a:p>
            <a:pPr algn="r" indent="0" marL="0">
              <a:lnSpc>
                <a:spcPts val="900"/>
              </a:lnSpc>
              <a:buNone/>
            </a:pPr>
            <a:r>
              <a:rPr lang="en-US" sz="727" dirty="0">
                <a:solidFill>
                  <a:srgbClr val="FFFFFF">
                    <a:alpha val="80000"/>
                  </a:srgbClr>
                </a:solidFill>
              </a:rPr>
              <a:t>Training Data</a:t>
            </a:r>
            <a:pPr algn="r" indent="0" marL="0">
              <a:lnSpc>
                <a:spcPts val="900"/>
              </a:lnSpc>
              <a:buNone/>
            </a:pPr>
            <a:r>
              <a:rPr lang="en-US" sz="727" dirty="0">
                <a:solidFill>
                  <a:srgbClr val="FFFFFF">
                    <a:alpha val="80000"/>
                  </a:srgbClr>
                </a:solidFill>
              </a:rPr>
              <a:t>
</a:t>
            </a:r>
            <a:pPr algn="r" indent="0" marL="0">
              <a:lnSpc>
                <a:spcPts val="900"/>
              </a:lnSpc>
              <a:buNone/>
            </a:pPr>
            <a:r>
              <a:rPr lang="en-US" sz="727" dirty="0">
                <a:solidFill>
                  <a:srgbClr val="FFFFFF">
                    <a:alpha val="80000"/>
                  </a:srgbClr>
                </a:solidFill>
              </a:rPr>
              <a:t>Expansion</a:t>
            </a:r>
            <a:endParaRPr lang="en-US" sz="727" dirty="0"/>
          </a:p>
        </p:txBody>
      </p:sp>
      <p:sp>
        <p:nvSpPr>
          <p:cNvPr id="36" name="Text 27"/>
          <p:cNvSpPr/>
          <p:nvPr/>
        </p:nvSpPr>
        <p:spPr>
          <a:xfrm>
            <a:off x="5572125" y="3642420"/>
            <a:ext cx="409063" cy="27324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FFFFFF"/>
                </a:solidFill>
              </a:rPr>
              <a:t>+3%</a:t>
            </a:r>
            <a:endParaRPr lang="en-US" sz="1397" dirty="0"/>
          </a:p>
        </p:txBody>
      </p:sp>
      <p:sp>
        <p:nvSpPr>
          <p:cNvPr id="37" name="Text 28"/>
          <p:cNvSpPr/>
          <p:nvPr/>
        </p:nvSpPr>
        <p:spPr>
          <a:xfrm>
            <a:off x="7799496" y="3638848"/>
            <a:ext cx="658704" cy="280392"/>
          </a:xfrm>
          <a:prstGeom prst="rect">
            <a:avLst/>
          </a:prstGeom>
          <a:noFill/>
          <a:ln/>
        </p:spPr>
        <p:txBody>
          <a:bodyPr wrap="square" lIns="0" tIns="0" rIns="0" bIns="0" rtlCol="0" anchor="t">
            <a:spAutoFit/>
          </a:bodyPr>
          <a:lstStyle/>
          <a:p>
            <a:pPr algn="r" indent="0" marL="0">
              <a:lnSpc>
                <a:spcPts val="900"/>
              </a:lnSpc>
              <a:buNone/>
            </a:pPr>
            <a:r>
              <a:rPr lang="en-US" sz="727" dirty="0">
                <a:solidFill>
                  <a:srgbClr val="FFFFFF">
                    <a:alpha val="80000"/>
                  </a:srgbClr>
                </a:solidFill>
              </a:rPr>
              <a:t>Accuracy Gain</a:t>
            </a:r>
            <a:pPr algn="r" indent="0" marL="0">
              <a:lnSpc>
                <a:spcPts val="900"/>
              </a:lnSpc>
              <a:buNone/>
            </a:pPr>
            <a:r>
              <a:rPr lang="en-US" sz="727" dirty="0">
                <a:solidFill>
                  <a:srgbClr val="FFFFFF">
                    <a:alpha val="80000"/>
                  </a:srgbClr>
                </a:solidFill>
              </a:rPr>
              <a:t>
</a:t>
            </a:r>
            <a:pPr algn="r" indent="0" marL="0">
              <a:lnSpc>
                <a:spcPts val="900"/>
              </a:lnSpc>
              <a:buNone/>
            </a:pPr>
            <a:r>
              <a:rPr lang="en-US" sz="727" dirty="0">
                <a:solidFill>
                  <a:srgbClr val="FFFFFF">
                    <a:alpha val="80000"/>
                  </a:srgbClr>
                </a:solidFill>
              </a:rPr>
              <a:t>(96% → 99%)</a:t>
            </a:r>
            <a:endParaRPr lang="en-US" sz="727" dirty="0"/>
          </a:p>
        </p:txBody>
      </p:sp>
      <p:sp>
        <p:nvSpPr>
          <p:cNvPr id="38" name="Text 29"/>
          <p:cNvSpPr/>
          <p:nvPr/>
        </p:nvSpPr>
        <p:spPr>
          <a:xfrm>
            <a:off x="5572125" y="4054971"/>
            <a:ext cx="523475" cy="27324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FFFFFF"/>
                </a:solidFill>
              </a:rPr>
              <a:t>+25%</a:t>
            </a:r>
            <a:endParaRPr lang="en-US" sz="1397" dirty="0"/>
          </a:p>
        </p:txBody>
      </p:sp>
      <p:sp>
        <p:nvSpPr>
          <p:cNvPr id="39" name="Text 30"/>
          <p:cNvSpPr/>
          <p:nvPr/>
        </p:nvSpPr>
        <p:spPr>
          <a:xfrm>
            <a:off x="7798212" y="4055864"/>
            <a:ext cx="659988" cy="271463"/>
          </a:xfrm>
          <a:prstGeom prst="rect">
            <a:avLst/>
          </a:prstGeom>
          <a:noFill/>
          <a:ln/>
        </p:spPr>
        <p:txBody>
          <a:bodyPr wrap="square" lIns="0" tIns="0" rIns="0" bIns="0" rtlCol="0" anchor="t">
            <a:spAutoFit/>
          </a:bodyPr>
          <a:lstStyle/>
          <a:p>
            <a:pPr algn="r" indent="0" marL="0">
              <a:lnSpc>
                <a:spcPts val="900"/>
              </a:lnSpc>
              <a:buNone/>
            </a:pPr>
            <a:r>
              <a:rPr lang="en-US" sz="727" dirty="0">
                <a:solidFill>
                  <a:srgbClr val="FFFFFF">
                    <a:alpha val="80000"/>
                  </a:srgbClr>
                </a:solidFill>
              </a:rPr>
              <a:t>Minority Class</a:t>
            </a:r>
            <a:pPr algn="r" indent="0" marL="0">
              <a:lnSpc>
                <a:spcPts val="900"/>
              </a:lnSpc>
              <a:buNone/>
            </a:pPr>
            <a:r>
              <a:rPr lang="en-US" sz="727" dirty="0">
                <a:solidFill>
                  <a:srgbClr val="FFFFFF">
                    <a:alpha val="80000"/>
                  </a:srgbClr>
                </a:solidFill>
              </a:rPr>
              <a:t>
</a:t>
            </a:r>
            <a:pPr algn="r" indent="0" marL="0">
              <a:lnSpc>
                <a:spcPts val="900"/>
              </a:lnSpc>
              <a:buNone/>
            </a:pPr>
            <a:r>
              <a:rPr lang="en-US" sz="727" dirty="0">
                <a:solidFill>
                  <a:srgbClr val="FFFFFF">
                    <a:alpha val="80000"/>
                  </a:srgbClr>
                </a:solidFill>
              </a:rPr>
              <a:t>F1 Score</a:t>
            </a:r>
            <a:endParaRPr lang="en-US" sz="727" dirty="0"/>
          </a:p>
        </p:txBody>
      </p:sp>
      <p:sp>
        <p:nvSpPr>
          <p:cNvPr id="40" name="Text 31"/>
          <p:cNvSpPr/>
          <p:nvPr/>
        </p:nvSpPr>
        <p:spPr>
          <a:xfrm>
            <a:off x="5572125" y="4463951"/>
            <a:ext cx="280839" cy="27324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FFFFFF"/>
                </a:solidFill>
              </a:rPr>
              <a:t>&lt; 5</a:t>
            </a:r>
            <a:endParaRPr lang="en-US" sz="1397" dirty="0"/>
          </a:p>
        </p:txBody>
      </p:sp>
      <p:sp>
        <p:nvSpPr>
          <p:cNvPr id="41" name="Text 32"/>
          <p:cNvSpPr/>
          <p:nvPr/>
        </p:nvSpPr>
        <p:spPr>
          <a:xfrm>
            <a:off x="7814202" y="4464844"/>
            <a:ext cx="643998" cy="271463"/>
          </a:xfrm>
          <a:prstGeom prst="rect">
            <a:avLst/>
          </a:prstGeom>
          <a:noFill/>
          <a:ln/>
        </p:spPr>
        <p:txBody>
          <a:bodyPr wrap="square" lIns="0" tIns="0" rIns="0" bIns="0" rtlCol="0" anchor="t">
            <a:spAutoFit/>
          </a:bodyPr>
          <a:lstStyle/>
          <a:p>
            <a:pPr algn="r" indent="0" marL="0">
              <a:lnSpc>
                <a:spcPts val="900"/>
              </a:lnSpc>
              <a:buNone/>
            </a:pPr>
            <a:r>
              <a:rPr lang="en-US" sz="727" dirty="0">
                <a:solidFill>
                  <a:srgbClr val="FFFFFF">
                    <a:alpha val="80000"/>
                  </a:srgbClr>
                </a:solidFill>
              </a:rPr>
              <a:t>FID Score</a:t>
            </a:r>
            <a:pPr algn="r" indent="0" marL="0">
              <a:lnSpc>
                <a:spcPts val="900"/>
              </a:lnSpc>
              <a:buNone/>
            </a:pPr>
            <a:r>
              <a:rPr lang="en-US" sz="727" dirty="0">
                <a:solidFill>
                  <a:srgbClr val="FFFFFF">
                    <a:alpha val="80000"/>
                  </a:srgbClr>
                </a:solidFill>
              </a:rPr>
              <a:t>
</a:t>
            </a:r>
            <a:pPr algn="r" indent="0" marL="0">
              <a:lnSpc>
                <a:spcPts val="900"/>
              </a:lnSpc>
              <a:buNone/>
            </a:pPr>
            <a:r>
              <a:rPr lang="en-US" sz="727" dirty="0">
                <a:solidFill>
                  <a:srgbClr val="FFFFFF">
                    <a:alpha val="80000"/>
                  </a:srgbClr>
                </a:solidFill>
              </a:rPr>
              <a:t>(High Quality)</a:t>
            </a:r>
            <a:endParaRPr lang="en-US" sz="72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28625"/>
            <a:ext cx="8001000" cy="791170"/>
          </a:xfrm>
          <a:prstGeom prst="rect">
            <a:avLst/>
          </a:prstGeom>
          <a:solidFill>
            <a:srgbClr val="000000">
              <a:alpha val="0"/>
            </a:srgbClr>
          </a:solidFill>
          <a:ln/>
        </p:spPr>
      </p:sp>
      <p:sp>
        <p:nvSpPr>
          <p:cNvPr id="5" name="Shape 1"/>
          <p:cNvSpPr/>
          <p:nvPr/>
        </p:nvSpPr>
        <p:spPr>
          <a:xfrm>
            <a:off x="571500" y="1191220"/>
            <a:ext cx="8001000" cy="28575"/>
          </a:xfrm>
          <a:prstGeom prst="rect">
            <a:avLst/>
          </a:prstGeom>
          <a:solidFill>
            <a:srgbClr val="002B5C"/>
          </a:solidFill>
          <a:ln/>
        </p:spPr>
      </p:sp>
      <p:sp>
        <p:nvSpPr>
          <p:cNvPr id="6" name="Text 2"/>
          <p:cNvSpPr/>
          <p:nvPr/>
        </p:nvSpPr>
        <p:spPr>
          <a:xfrm>
            <a:off x="571500" y="428625"/>
            <a:ext cx="8001000" cy="40898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002B5C"/>
                </a:solidFill>
              </a:rPr>
              <a:t>Continuous Learning and Model Improvement</a:t>
            </a:r>
            <a:endParaRPr lang="en-US" sz="2121" dirty="0"/>
          </a:p>
        </p:txBody>
      </p:sp>
      <p:sp>
        <p:nvSpPr>
          <p:cNvPr id="7" name="Text 3"/>
          <p:cNvSpPr/>
          <p:nvPr/>
        </p:nvSpPr>
        <p:spPr>
          <a:xfrm>
            <a:off x="571500" y="873323"/>
            <a:ext cx="8001000" cy="175022"/>
          </a:xfrm>
          <a:prstGeom prst="rect">
            <a:avLst/>
          </a:prstGeom>
          <a:noFill/>
          <a:ln/>
        </p:spPr>
        <p:txBody>
          <a:bodyPr wrap="none" lIns="0" tIns="0" rIns="0" bIns="0" rtlCol="0" anchor="t">
            <a:spAutoFit/>
          </a:bodyPr>
          <a:lstStyle/>
          <a:p>
            <a:pPr algn="l" indent="0" marL="0">
              <a:lnSpc>
                <a:spcPts val="1200"/>
              </a:lnSpc>
              <a:buNone/>
            </a:pPr>
            <a:r>
              <a:rPr lang="en-US" sz="942" dirty="0">
                <a:solidFill>
                  <a:srgbClr val="666666"/>
                </a:solidFill>
              </a:rPr>
              <a:t>Automated MLOps Pipeline Enables Continuous Evolution</a:t>
            </a:r>
            <a:endParaRPr lang="en-US" sz="942" dirty="0"/>
          </a:p>
        </p:txBody>
      </p:sp>
      <p:sp>
        <p:nvSpPr>
          <p:cNvPr id="8" name="Text 4"/>
          <p:cNvSpPr/>
          <p:nvPr/>
        </p:nvSpPr>
        <p:spPr>
          <a:xfrm>
            <a:off x="571500" y="1405533"/>
            <a:ext cx="8001000"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4F00"/>
                </a:solidFill>
              </a:rPr>
              <a:t>Automated Learning Cycle</a:t>
            </a:r>
            <a:endParaRPr lang="en-US" sz="987" dirty="0"/>
          </a:p>
        </p:txBody>
      </p:sp>
      <p:sp>
        <p:nvSpPr>
          <p:cNvPr id="9" name="Shape 5"/>
          <p:cNvSpPr/>
          <p:nvPr/>
        </p:nvSpPr>
        <p:spPr>
          <a:xfrm>
            <a:off x="571500" y="1800225"/>
            <a:ext cx="8001000" cy="14288"/>
          </a:xfrm>
          <a:prstGeom prst="rect">
            <a:avLst/>
          </a:prstGeom>
          <a:solidFill>
            <a:srgbClr val="E0E0E0"/>
          </a:solidFill>
          <a:ln/>
        </p:spPr>
      </p:sp>
      <p:sp>
        <p:nvSpPr>
          <p:cNvPr id="10" name="Shape 6"/>
          <p:cNvSpPr/>
          <p:nvPr/>
        </p:nvSpPr>
        <p:spPr>
          <a:xfrm>
            <a:off x="571500" y="1657350"/>
            <a:ext cx="1440163" cy="985056"/>
          </a:xfrm>
          <a:prstGeom prst="rect">
            <a:avLst/>
          </a:prstGeom>
          <a:solidFill>
            <a:srgbClr val="FFFFFF"/>
          </a:solidFill>
          <a:ln/>
        </p:spPr>
      </p:sp>
      <p:sp>
        <p:nvSpPr>
          <p:cNvPr id="11" name="Shape 7"/>
          <p:cNvSpPr/>
          <p:nvPr/>
        </p:nvSpPr>
        <p:spPr>
          <a:xfrm>
            <a:off x="628650" y="1657350"/>
            <a:ext cx="357188" cy="357188"/>
          </a:xfrm>
          <a:prstGeom prst="ellipse">
            <a:avLst/>
          </a:prstGeom>
          <a:solidFill>
            <a:srgbClr val="002B5C"/>
          </a:solidFill>
          <a:ln w="27432">
            <a:solidFill>
              <a:srgbClr val="FFFFFF"/>
            </a:solidFill>
            <a:prstDash val="solid"/>
          </a:ln>
        </p:spPr>
      </p:sp>
      <p:sp>
        <p:nvSpPr>
          <p:cNvPr id="12" name="Text 8"/>
          <p:cNvSpPr/>
          <p:nvPr/>
        </p:nvSpPr>
        <p:spPr>
          <a:xfrm>
            <a:off x="628650" y="1657350"/>
            <a:ext cx="357188" cy="357188"/>
          </a:xfrm>
          <a:prstGeom prst="rect">
            <a:avLst/>
          </a:prstGeom>
          <a:noFill/>
          <a:ln/>
        </p:spPr>
        <p:txBody>
          <a:bodyPr wrap="square" lIns="0" tIns="0" rIns="0" bIns="0" rtlCol="0" anchor="ctr">
            <a:spAutoFit/>
          </a:bodyPr>
          <a:lstStyle/>
          <a:p>
            <a:pPr algn="ctr" indent="0" marL="0">
              <a:lnSpc>
                <a:spcPts val="1400"/>
              </a:lnSpc>
              <a:buNone/>
            </a:pPr>
            <a:r>
              <a:rPr lang="en-US" sz="987" b="1" dirty="0">
                <a:solidFill>
                  <a:srgbClr val="FFFFFF"/>
                </a:solidFill>
              </a:rPr>
              <a:t>1</a:t>
            </a:r>
            <a:endParaRPr lang="en-US" sz="987" dirty="0"/>
          </a:p>
        </p:txBody>
      </p:sp>
      <p:sp>
        <p:nvSpPr>
          <p:cNvPr id="13" name="Text 9"/>
          <p:cNvSpPr/>
          <p:nvPr/>
        </p:nvSpPr>
        <p:spPr>
          <a:xfrm>
            <a:off x="714375" y="2071688"/>
            <a:ext cx="1240138"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33333"/>
                </a:solidFill>
              </a:rPr>
              <a:t>Collect</a:t>
            </a:r>
            <a:endParaRPr lang="en-US" sz="885" dirty="0"/>
          </a:p>
        </p:txBody>
      </p:sp>
      <p:sp>
        <p:nvSpPr>
          <p:cNvPr id="14" name="Text 10"/>
          <p:cNvSpPr/>
          <p:nvPr/>
        </p:nvSpPr>
        <p:spPr>
          <a:xfrm>
            <a:off x="714375" y="2282428"/>
            <a:ext cx="1240138" cy="359978"/>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666666"/>
                </a:solidFill>
              </a:rPr>
              <a:t>Auto-collect expert feedback &amp; new labeled data.</a:t>
            </a:r>
            <a:endParaRPr lang="en-US" sz="727" dirty="0"/>
          </a:p>
        </p:txBody>
      </p:sp>
      <p:sp>
        <p:nvSpPr>
          <p:cNvPr id="15" name="Shape 11"/>
          <p:cNvSpPr/>
          <p:nvPr/>
        </p:nvSpPr>
        <p:spPr>
          <a:xfrm>
            <a:off x="2211688" y="1657350"/>
            <a:ext cx="1440163" cy="985056"/>
          </a:xfrm>
          <a:prstGeom prst="rect">
            <a:avLst/>
          </a:prstGeom>
          <a:solidFill>
            <a:srgbClr val="FFFFFF"/>
          </a:solidFill>
          <a:ln/>
        </p:spPr>
      </p:sp>
      <p:sp>
        <p:nvSpPr>
          <p:cNvPr id="16" name="Shape 12"/>
          <p:cNvSpPr/>
          <p:nvPr/>
        </p:nvSpPr>
        <p:spPr>
          <a:xfrm>
            <a:off x="2268838" y="1657350"/>
            <a:ext cx="357188" cy="357188"/>
          </a:xfrm>
          <a:prstGeom prst="ellipse">
            <a:avLst/>
          </a:prstGeom>
          <a:solidFill>
            <a:srgbClr val="002B5C"/>
          </a:solidFill>
          <a:ln w="27432">
            <a:solidFill>
              <a:srgbClr val="FFFFFF"/>
            </a:solidFill>
            <a:prstDash val="solid"/>
          </a:ln>
        </p:spPr>
      </p:sp>
      <p:sp>
        <p:nvSpPr>
          <p:cNvPr id="17" name="Text 13"/>
          <p:cNvSpPr/>
          <p:nvPr/>
        </p:nvSpPr>
        <p:spPr>
          <a:xfrm>
            <a:off x="2268838" y="1657350"/>
            <a:ext cx="357188" cy="357188"/>
          </a:xfrm>
          <a:prstGeom prst="rect">
            <a:avLst/>
          </a:prstGeom>
          <a:noFill/>
          <a:ln/>
        </p:spPr>
        <p:txBody>
          <a:bodyPr wrap="square" lIns="0" tIns="0" rIns="0" bIns="0" rtlCol="0" anchor="ctr">
            <a:spAutoFit/>
          </a:bodyPr>
          <a:lstStyle/>
          <a:p>
            <a:pPr algn="ctr" indent="0" marL="0">
              <a:lnSpc>
                <a:spcPts val="1400"/>
              </a:lnSpc>
              <a:buNone/>
            </a:pPr>
            <a:r>
              <a:rPr lang="en-US" sz="987" b="1" dirty="0">
                <a:solidFill>
                  <a:srgbClr val="FFFFFF"/>
                </a:solidFill>
              </a:rPr>
              <a:t>2</a:t>
            </a:r>
            <a:endParaRPr lang="en-US" sz="987" dirty="0"/>
          </a:p>
        </p:txBody>
      </p:sp>
      <p:sp>
        <p:nvSpPr>
          <p:cNvPr id="18" name="Text 14"/>
          <p:cNvSpPr/>
          <p:nvPr/>
        </p:nvSpPr>
        <p:spPr>
          <a:xfrm>
            <a:off x="2354563" y="2071688"/>
            <a:ext cx="1240138"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33333"/>
                </a:solidFill>
              </a:rPr>
              <a:t>Augment</a:t>
            </a:r>
            <a:endParaRPr lang="en-US" sz="885" dirty="0"/>
          </a:p>
        </p:txBody>
      </p:sp>
      <p:sp>
        <p:nvSpPr>
          <p:cNvPr id="19" name="Text 15"/>
          <p:cNvSpPr/>
          <p:nvPr/>
        </p:nvSpPr>
        <p:spPr>
          <a:xfrm>
            <a:off x="2354563" y="2282428"/>
            <a:ext cx="1240138" cy="239985"/>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666666"/>
                </a:solidFill>
              </a:rPr>
              <a:t>Generate synthetic data (GAN) for rare classes.</a:t>
            </a:r>
            <a:endParaRPr lang="en-US" sz="727" dirty="0"/>
          </a:p>
        </p:txBody>
      </p:sp>
      <p:sp>
        <p:nvSpPr>
          <p:cNvPr id="20" name="Shape 16"/>
          <p:cNvSpPr/>
          <p:nvPr/>
        </p:nvSpPr>
        <p:spPr>
          <a:xfrm>
            <a:off x="3851877" y="1657350"/>
            <a:ext cx="1440163" cy="985056"/>
          </a:xfrm>
          <a:prstGeom prst="rect">
            <a:avLst/>
          </a:prstGeom>
          <a:solidFill>
            <a:srgbClr val="FFFFFF"/>
          </a:solidFill>
          <a:ln/>
        </p:spPr>
      </p:sp>
      <p:sp>
        <p:nvSpPr>
          <p:cNvPr id="21" name="Shape 17"/>
          <p:cNvSpPr/>
          <p:nvPr/>
        </p:nvSpPr>
        <p:spPr>
          <a:xfrm>
            <a:off x="3909027" y="1657350"/>
            <a:ext cx="357188" cy="357188"/>
          </a:xfrm>
          <a:prstGeom prst="ellipse">
            <a:avLst/>
          </a:prstGeom>
          <a:solidFill>
            <a:srgbClr val="002B5C"/>
          </a:solidFill>
          <a:ln w="27432">
            <a:solidFill>
              <a:srgbClr val="FFFFFF"/>
            </a:solidFill>
            <a:prstDash val="solid"/>
          </a:ln>
        </p:spPr>
      </p:sp>
      <p:sp>
        <p:nvSpPr>
          <p:cNvPr id="22" name="Text 18"/>
          <p:cNvSpPr/>
          <p:nvPr/>
        </p:nvSpPr>
        <p:spPr>
          <a:xfrm>
            <a:off x="3909027" y="1657350"/>
            <a:ext cx="357188" cy="357188"/>
          </a:xfrm>
          <a:prstGeom prst="rect">
            <a:avLst/>
          </a:prstGeom>
          <a:noFill/>
          <a:ln/>
        </p:spPr>
        <p:txBody>
          <a:bodyPr wrap="square" lIns="0" tIns="0" rIns="0" bIns="0" rtlCol="0" anchor="ctr">
            <a:spAutoFit/>
          </a:bodyPr>
          <a:lstStyle/>
          <a:p>
            <a:pPr algn="ctr" indent="0" marL="0">
              <a:lnSpc>
                <a:spcPts val="1400"/>
              </a:lnSpc>
              <a:buNone/>
            </a:pPr>
            <a:r>
              <a:rPr lang="en-US" sz="987" b="1" dirty="0">
                <a:solidFill>
                  <a:srgbClr val="FFFFFF"/>
                </a:solidFill>
              </a:rPr>
              <a:t>3</a:t>
            </a:r>
            <a:endParaRPr lang="en-US" sz="987" dirty="0"/>
          </a:p>
        </p:txBody>
      </p:sp>
      <p:sp>
        <p:nvSpPr>
          <p:cNvPr id="23" name="Text 19"/>
          <p:cNvSpPr/>
          <p:nvPr/>
        </p:nvSpPr>
        <p:spPr>
          <a:xfrm>
            <a:off x="3994752" y="2071688"/>
            <a:ext cx="1240138"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33333"/>
                </a:solidFill>
              </a:rPr>
              <a:t>Retrain</a:t>
            </a:r>
            <a:endParaRPr lang="en-US" sz="885" dirty="0"/>
          </a:p>
        </p:txBody>
      </p:sp>
      <p:sp>
        <p:nvSpPr>
          <p:cNvPr id="24" name="Text 20"/>
          <p:cNvSpPr/>
          <p:nvPr/>
        </p:nvSpPr>
        <p:spPr>
          <a:xfrm>
            <a:off x="3994752" y="2282428"/>
            <a:ext cx="1240138" cy="239985"/>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666666"/>
                </a:solidFill>
              </a:rPr>
              <a:t>Triggered by drift or data accumulation.</a:t>
            </a:r>
            <a:endParaRPr lang="en-US" sz="727" dirty="0"/>
          </a:p>
        </p:txBody>
      </p:sp>
      <p:sp>
        <p:nvSpPr>
          <p:cNvPr id="25" name="Shape 21"/>
          <p:cNvSpPr/>
          <p:nvPr/>
        </p:nvSpPr>
        <p:spPr>
          <a:xfrm>
            <a:off x="5492065" y="1657350"/>
            <a:ext cx="1440163" cy="985056"/>
          </a:xfrm>
          <a:prstGeom prst="rect">
            <a:avLst/>
          </a:prstGeom>
          <a:solidFill>
            <a:srgbClr val="FFFFFF"/>
          </a:solidFill>
          <a:ln/>
        </p:spPr>
      </p:sp>
      <p:sp>
        <p:nvSpPr>
          <p:cNvPr id="26" name="Shape 22"/>
          <p:cNvSpPr/>
          <p:nvPr/>
        </p:nvSpPr>
        <p:spPr>
          <a:xfrm>
            <a:off x="5549215" y="1657350"/>
            <a:ext cx="357188" cy="357188"/>
          </a:xfrm>
          <a:prstGeom prst="ellipse">
            <a:avLst/>
          </a:prstGeom>
          <a:solidFill>
            <a:srgbClr val="002B5C"/>
          </a:solidFill>
          <a:ln w="27432">
            <a:solidFill>
              <a:srgbClr val="FFFFFF"/>
            </a:solidFill>
            <a:prstDash val="solid"/>
          </a:ln>
        </p:spPr>
      </p:sp>
      <p:sp>
        <p:nvSpPr>
          <p:cNvPr id="27" name="Text 23"/>
          <p:cNvSpPr/>
          <p:nvPr/>
        </p:nvSpPr>
        <p:spPr>
          <a:xfrm>
            <a:off x="5549215" y="1657350"/>
            <a:ext cx="357188" cy="357188"/>
          </a:xfrm>
          <a:prstGeom prst="rect">
            <a:avLst/>
          </a:prstGeom>
          <a:noFill/>
          <a:ln/>
        </p:spPr>
        <p:txBody>
          <a:bodyPr wrap="square" lIns="0" tIns="0" rIns="0" bIns="0" rtlCol="0" anchor="ctr">
            <a:spAutoFit/>
          </a:bodyPr>
          <a:lstStyle/>
          <a:p>
            <a:pPr algn="ctr" indent="0" marL="0">
              <a:lnSpc>
                <a:spcPts val="1400"/>
              </a:lnSpc>
              <a:buNone/>
            </a:pPr>
            <a:r>
              <a:rPr lang="en-US" sz="987" b="1" dirty="0">
                <a:solidFill>
                  <a:srgbClr val="FFFFFF"/>
                </a:solidFill>
              </a:rPr>
              <a:t>4</a:t>
            </a:r>
            <a:endParaRPr lang="en-US" sz="987" dirty="0"/>
          </a:p>
        </p:txBody>
      </p:sp>
      <p:sp>
        <p:nvSpPr>
          <p:cNvPr id="28" name="Text 24"/>
          <p:cNvSpPr/>
          <p:nvPr/>
        </p:nvSpPr>
        <p:spPr>
          <a:xfrm>
            <a:off x="5634940" y="2071688"/>
            <a:ext cx="1240138"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33333"/>
                </a:solidFill>
              </a:rPr>
              <a:t>Validate</a:t>
            </a:r>
            <a:endParaRPr lang="en-US" sz="885" dirty="0"/>
          </a:p>
        </p:txBody>
      </p:sp>
      <p:sp>
        <p:nvSpPr>
          <p:cNvPr id="29" name="Text 25"/>
          <p:cNvSpPr/>
          <p:nvPr/>
        </p:nvSpPr>
        <p:spPr>
          <a:xfrm>
            <a:off x="5634940" y="2282428"/>
            <a:ext cx="1240138" cy="239985"/>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666666"/>
                </a:solidFill>
              </a:rPr>
              <a:t>A/B testing in shadow environment.</a:t>
            </a:r>
            <a:endParaRPr lang="en-US" sz="727" dirty="0"/>
          </a:p>
        </p:txBody>
      </p:sp>
      <p:sp>
        <p:nvSpPr>
          <p:cNvPr id="30" name="Shape 26"/>
          <p:cNvSpPr/>
          <p:nvPr/>
        </p:nvSpPr>
        <p:spPr>
          <a:xfrm>
            <a:off x="7132253" y="1657350"/>
            <a:ext cx="1440163" cy="985056"/>
          </a:xfrm>
          <a:prstGeom prst="rect">
            <a:avLst/>
          </a:prstGeom>
          <a:solidFill>
            <a:srgbClr val="FFFFFF"/>
          </a:solidFill>
          <a:ln/>
        </p:spPr>
      </p:sp>
      <p:sp>
        <p:nvSpPr>
          <p:cNvPr id="31" name="Shape 27"/>
          <p:cNvSpPr/>
          <p:nvPr/>
        </p:nvSpPr>
        <p:spPr>
          <a:xfrm>
            <a:off x="7189403" y="1657350"/>
            <a:ext cx="357188" cy="357188"/>
          </a:xfrm>
          <a:prstGeom prst="ellipse">
            <a:avLst/>
          </a:prstGeom>
          <a:solidFill>
            <a:srgbClr val="002B5C"/>
          </a:solidFill>
          <a:ln w="27432">
            <a:solidFill>
              <a:srgbClr val="FFFFFF"/>
            </a:solidFill>
            <a:prstDash val="solid"/>
          </a:ln>
        </p:spPr>
      </p:sp>
      <p:sp>
        <p:nvSpPr>
          <p:cNvPr id="32" name="Text 28"/>
          <p:cNvSpPr/>
          <p:nvPr/>
        </p:nvSpPr>
        <p:spPr>
          <a:xfrm>
            <a:off x="7189403" y="1657350"/>
            <a:ext cx="357188" cy="357188"/>
          </a:xfrm>
          <a:prstGeom prst="rect">
            <a:avLst/>
          </a:prstGeom>
          <a:noFill/>
          <a:ln/>
        </p:spPr>
        <p:txBody>
          <a:bodyPr wrap="square" lIns="0" tIns="0" rIns="0" bIns="0" rtlCol="0" anchor="ctr">
            <a:spAutoFit/>
          </a:bodyPr>
          <a:lstStyle/>
          <a:p>
            <a:pPr algn="ctr" indent="0" marL="0">
              <a:lnSpc>
                <a:spcPts val="1400"/>
              </a:lnSpc>
              <a:buNone/>
            </a:pPr>
            <a:r>
              <a:rPr lang="en-US" sz="987" b="1" dirty="0">
                <a:solidFill>
                  <a:srgbClr val="FFFFFF"/>
                </a:solidFill>
              </a:rPr>
              <a:t>5</a:t>
            </a:r>
            <a:endParaRPr lang="en-US" sz="987" dirty="0"/>
          </a:p>
        </p:txBody>
      </p:sp>
      <p:sp>
        <p:nvSpPr>
          <p:cNvPr id="33" name="Text 29"/>
          <p:cNvSpPr/>
          <p:nvPr/>
        </p:nvSpPr>
        <p:spPr>
          <a:xfrm>
            <a:off x="7275128" y="2071688"/>
            <a:ext cx="1240138"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33333"/>
                </a:solidFill>
              </a:rPr>
              <a:t>Deploy</a:t>
            </a:r>
            <a:endParaRPr lang="en-US" sz="885" dirty="0"/>
          </a:p>
        </p:txBody>
      </p:sp>
      <p:sp>
        <p:nvSpPr>
          <p:cNvPr id="34" name="Text 30"/>
          <p:cNvSpPr/>
          <p:nvPr/>
        </p:nvSpPr>
        <p:spPr>
          <a:xfrm>
            <a:off x="7275128" y="2282428"/>
            <a:ext cx="1240138" cy="359978"/>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666666"/>
                </a:solidFill>
              </a:rPr>
              <a:t>Auto-promote if performance improves &gt;1%.</a:t>
            </a:r>
            <a:endParaRPr lang="en-US" sz="727" dirty="0"/>
          </a:p>
        </p:txBody>
      </p:sp>
      <p:sp>
        <p:nvSpPr>
          <p:cNvPr id="35" name="Shape 31"/>
          <p:cNvSpPr/>
          <p:nvPr/>
        </p:nvSpPr>
        <p:spPr>
          <a:xfrm>
            <a:off x="571500" y="2856719"/>
            <a:ext cx="3893344" cy="2143906"/>
          </a:xfrm>
          <a:prstGeom prst="rect">
            <a:avLst/>
          </a:prstGeom>
          <a:solidFill>
            <a:srgbClr val="F8F9FA"/>
          </a:solidFill>
          <a:ln/>
        </p:spPr>
      </p:sp>
      <p:sp>
        <p:nvSpPr>
          <p:cNvPr id="36" name="Shape 32"/>
          <p:cNvSpPr/>
          <p:nvPr/>
        </p:nvSpPr>
        <p:spPr>
          <a:xfrm>
            <a:off x="571500" y="2856719"/>
            <a:ext cx="3893344" cy="28575"/>
          </a:xfrm>
          <a:prstGeom prst="rect">
            <a:avLst/>
          </a:prstGeom>
          <a:solidFill>
            <a:srgbClr val="002B5C"/>
          </a:solidFill>
          <a:ln/>
        </p:spPr>
      </p:sp>
      <p:pic>
        <p:nvPicPr>
          <p:cNvPr id="37" name="Image 1" descr="preencoded.png">    </p:cNvPr>
          <p:cNvPicPr>
            <a:picLocks noChangeAspect="1"/>
          </p:cNvPicPr>
          <p:nvPr/>
        </p:nvPicPr>
        <p:blipFill>
          <a:blip r:embed="rId2"/>
          <a:stretch>
            <a:fillRect/>
          </a:stretch>
        </p:blipFill>
        <p:spPr>
          <a:xfrm>
            <a:off x="685800" y="2999594"/>
            <a:ext cx="157163" cy="157163"/>
          </a:xfrm>
          <a:prstGeom prst="rect">
            <a:avLst/>
          </a:prstGeom>
        </p:spPr>
      </p:pic>
      <p:sp>
        <p:nvSpPr>
          <p:cNvPr id="38" name="Text 33"/>
          <p:cNvSpPr/>
          <p:nvPr/>
        </p:nvSpPr>
        <p:spPr>
          <a:xfrm>
            <a:off x="914400" y="2971019"/>
            <a:ext cx="1943630"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02B5C"/>
                </a:solidFill>
              </a:rPr>
              <a:t>Performance Monitoring</a:t>
            </a:r>
            <a:endParaRPr lang="en-US" sz="1090" dirty="0"/>
          </a:p>
        </p:txBody>
      </p:sp>
      <p:sp>
        <p:nvSpPr>
          <p:cNvPr id="39" name="Text 34"/>
          <p:cNvSpPr/>
          <p:nvPr/>
        </p:nvSpPr>
        <p:spPr>
          <a:xfrm>
            <a:off x="685800" y="3271056"/>
            <a:ext cx="1414602" cy="164306"/>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555555"/>
                </a:solidFill>
              </a:rPr>
              <a:t>Real-time Accuracy Target</a:t>
            </a:r>
            <a:endParaRPr lang="en-US" sz="784" dirty="0"/>
          </a:p>
        </p:txBody>
      </p:sp>
      <p:sp>
        <p:nvSpPr>
          <p:cNvPr id="40" name="Text 35"/>
          <p:cNvSpPr/>
          <p:nvPr/>
        </p:nvSpPr>
        <p:spPr>
          <a:xfrm>
            <a:off x="3972762" y="3271056"/>
            <a:ext cx="377782" cy="164306"/>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02B5C"/>
                </a:solidFill>
              </a:rPr>
              <a:t>≥ 98%</a:t>
            </a:r>
            <a:endParaRPr lang="en-US" sz="784" dirty="0"/>
          </a:p>
        </p:txBody>
      </p:sp>
      <p:sp>
        <p:nvSpPr>
          <p:cNvPr id="41" name="Text 36"/>
          <p:cNvSpPr/>
          <p:nvPr/>
        </p:nvSpPr>
        <p:spPr>
          <a:xfrm>
            <a:off x="685800" y="3535375"/>
            <a:ext cx="912809"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555555"/>
                </a:solidFill>
              </a:rPr>
              <a:t>False Alarm Rate</a:t>
            </a:r>
            <a:endParaRPr lang="en-US" sz="784" dirty="0"/>
          </a:p>
        </p:txBody>
      </p:sp>
      <p:sp>
        <p:nvSpPr>
          <p:cNvPr id="42" name="Text 37"/>
          <p:cNvSpPr/>
          <p:nvPr/>
        </p:nvSpPr>
        <p:spPr>
          <a:xfrm>
            <a:off x="4087062" y="3535375"/>
            <a:ext cx="263482"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02B5C"/>
                </a:solidFill>
              </a:rPr>
              <a:t>&lt; 5%</a:t>
            </a:r>
            <a:endParaRPr lang="en-US" sz="784" dirty="0"/>
          </a:p>
        </p:txBody>
      </p:sp>
      <p:sp>
        <p:nvSpPr>
          <p:cNvPr id="43" name="Text 38"/>
          <p:cNvSpPr/>
          <p:nvPr/>
        </p:nvSpPr>
        <p:spPr>
          <a:xfrm>
            <a:off x="685800" y="3790764"/>
            <a:ext cx="1279485"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555555"/>
                </a:solidFill>
              </a:rPr>
              <a:t>Inference Latency (P99)</a:t>
            </a:r>
            <a:endParaRPr lang="en-US" sz="784" dirty="0"/>
          </a:p>
        </p:txBody>
      </p:sp>
      <p:sp>
        <p:nvSpPr>
          <p:cNvPr id="44" name="Text 39"/>
          <p:cNvSpPr/>
          <p:nvPr/>
        </p:nvSpPr>
        <p:spPr>
          <a:xfrm>
            <a:off x="3955628" y="3790764"/>
            <a:ext cx="394915"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02B5C"/>
                </a:solidFill>
              </a:rPr>
              <a:t>&lt; 50ms</a:t>
            </a:r>
            <a:endParaRPr lang="en-US" sz="784" dirty="0"/>
          </a:p>
        </p:txBody>
      </p:sp>
      <p:sp>
        <p:nvSpPr>
          <p:cNvPr id="45" name="Text 40"/>
          <p:cNvSpPr/>
          <p:nvPr/>
        </p:nvSpPr>
        <p:spPr>
          <a:xfrm>
            <a:off x="685800" y="4046153"/>
            <a:ext cx="1180170"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555555"/>
                </a:solidFill>
              </a:rPr>
              <a:t>Model Drift Detection</a:t>
            </a:r>
            <a:endParaRPr lang="en-US" sz="784" dirty="0"/>
          </a:p>
        </p:txBody>
      </p:sp>
      <p:sp>
        <p:nvSpPr>
          <p:cNvPr id="46" name="Text 41"/>
          <p:cNvSpPr/>
          <p:nvPr/>
        </p:nvSpPr>
        <p:spPr>
          <a:xfrm>
            <a:off x="3705430" y="4046153"/>
            <a:ext cx="645114"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02B5C"/>
                </a:solidFill>
              </a:rPr>
              <a:t>Automated</a:t>
            </a:r>
            <a:endParaRPr lang="en-US" sz="784" dirty="0"/>
          </a:p>
        </p:txBody>
      </p:sp>
      <p:sp>
        <p:nvSpPr>
          <p:cNvPr id="47" name="Shape 42"/>
          <p:cNvSpPr/>
          <p:nvPr/>
        </p:nvSpPr>
        <p:spPr>
          <a:xfrm>
            <a:off x="4679156" y="2856719"/>
            <a:ext cx="3893344" cy="2143906"/>
          </a:xfrm>
          <a:prstGeom prst="rect">
            <a:avLst/>
          </a:prstGeom>
          <a:solidFill>
            <a:srgbClr val="F8F9FA"/>
          </a:solidFill>
          <a:ln/>
        </p:spPr>
      </p:sp>
      <p:sp>
        <p:nvSpPr>
          <p:cNvPr id="48" name="Shape 43"/>
          <p:cNvSpPr/>
          <p:nvPr/>
        </p:nvSpPr>
        <p:spPr>
          <a:xfrm>
            <a:off x="4679156" y="2856719"/>
            <a:ext cx="3893344" cy="28575"/>
          </a:xfrm>
          <a:prstGeom prst="rect">
            <a:avLst/>
          </a:prstGeom>
          <a:solidFill>
            <a:srgbClr val="002B5C"/>
          </a:solidFill>
          <a:ln/>
        </p:spPr>
      </p:sp>
      <p:pic>
        <p:nvPicPr>
          <p:cNvPr id="49" name="Image 2" descr="preencoded.png">    </p:cNvPr>
          <p:cNvPicPr>
            <a:picLocks noChangeAspect="1"/>
          </p:cNvPicPr>
          <p:nvPr/>
        </p:nvPicPr>
        <p:blipFill>
          <a:blip r:embed="rId3"/>
          <a:stretch>
            <a:fillRect/>
          </a:stretch>
        </p:blipFill>
        <p:spPr>
          <a:xfrm>
            <a:off x="4793456" y="2999594"/>
            <a:ext cx="176808" cy="157163"/>
          </a:xfrm>
          <a:prstGeom prst="rect">
            <a:avLst/>
          </a:prstGeom>
        </p:spPr>
      </p:pic>
      <p:sp>
        <p:nvSpPr>
          <p:cNvPr id="50" name="Text 44"/>
          <p:cNvSpPr/>
          <p:nvPr/>
        </p:nvSpPr>
        <p:spPr>
          <a:xfrm>
            <a:off x="5041702" y="2971019"/>
            <a:ext cx="1403161"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02B5C"/>
                </a:solidFill>
              </a:rPr>
              <a:t>Expected Benefits</a:t>
            </a:r>
            <a:endParaRPr lang="en-US" sz="1090" dirty="0"/>
          </a:p>
        </p:txBody>
      </p:sp>
      <p:pic>
        <p:nvPicPr>
          <p:cNvPr id="51" name="Image 3" descr="preencoded.png">    </p:cNvPr>
          <p:cNvPicPr>
            <a:picLocks noChangeAspect="1"/>
          </p:cNvPicPr>
          <p:nvPr/>
        </p:nvPicPr>
        <p:blipFill>
          <a:blip r:embed="rId4"/>
          <a:stretch>
            <a:fillRect/>
          </a:stretch>
        </p:blipFill>
        <p:spPr>
          <a:xfrm>
            <a:off x="4793456" y="3299631"/>
            <a:ext cx="85725" cy="114300"/>
          </a:xfrm>
          <a:prstGeom prst="rect">
            <a:avLst/>
          </a:prstGeom>
        </p:spPr>
      </p:pic>
      <p:sp>
        <p:nvSpPr>
          <p:cNvPr id="52" name="Text 45"/>
          <p:cNvSpPr/>
          <p:nvPr/>
        </p:nvSpPr>
        <p:spPr>
          <a:xfrm>
            <a:off x="4964906" y="3271056"/>
            <a:ext cx="2736363" cy="320018"/>
          </a:xfrm>
          <a:prstGeom prst="rect">
            <a:avLst/>
          </a:prstGeom>
          <a:noFill/>
          <a:ln/>
        </p:spPr>
        <p:txBody>
          <a:bodyPr wrap="square" lIns="0" tIns="0" rIns="0" bIns="0" rtlCol="0" anchor="t">
            <a:spAutoFit/>
          </a:bodyPr>
          <a:lstStyle/>
          <a:p>
            <a:pPr algn="l" indent="0" marL="0">
              <a:lnSpc>
                <a:spcPts val="1300"/>
              </a:lnSpc>
              <a:buNone/>
            </a:pPr>
            <a:r>
              <a:rPr lang="en-US" sz="784" b="1" dirty="0">
                <a:solidFill>
                  <a:srgbClr val="002B5C"/>
                </a:solidFill>
              </a:rPr>
              <a:t>Continuous Improvement:</a:t>
            </a:r>
            <a:pPr algn="l" indent="0" marL="0">
              <a:lnSpc>
                <a:spcPts val="1300"/>
              </a:lnSpc>
              <a:buNone/>
            </a:pPr>
            <a:r>
              <a:rPr lang="en-US" sz="834" dirty="0">
                <a:solidFill>
                  <a:srgbClr val="333333"/>
                </a:solidFill>
              </a:rPr>
              <a:t>
</a:t>
            </a:r>
            <a:pPr algn="l" indent="0" marL="0">
              <a:lnSpc>
                <a:spcPts val="1300"/>
              </a:lnSpc>
              <a:buNone/>
            </a:pPr>
            <a:r>
              <a:rPr lang="en-US" sz="834" dirty="0">
                <a:solidFill>
                  <a:srgbClr val="333333"/>
                </a:solidFill>
              </a:rPr>
              <a:t> Expect 0.5-1% model performance gain per month.</a:t>
            </a:r>
            <a:endParaRPr lang="en-US" sz="784" dirty="0"/>
          </a:p>
        </p:txBody>
      </p:sp>
      <p:pic>
        <p:nvPicPr>
          <p:cNvPr id="53" name="Image 4" descr="preencoded.png">    </p:cNvPr>
          <p:cNvPicPr>
            <a:picLocks noChangeAspect="1"/>
          </p:cNvPicPr>
          <p:nvPr/>
        </p:nvPicPr>
        <p:blipFill>
          <a:blip r:embed="rId5"/>
          <a:stretch>
            <a:fillRect/>
          </a:stretch>
        </p:blipFill>
        <p:spPr>
          <a:xfrm>
            <a:off x="4793456" y="3691086"/>
            <a:ext cx="85725" cy="114300"/>
          </a:xfrm>
          <a:prstGeom prst="rect">
            <a:avLst/>
          </a:prstGeom>
        </p:spPr>
      </p:pic>
      <p:sp>
        <p:nvSpPr>
          <p:cNvPr id="54" name="Text 46"/>
          <p:cNvSpPr/>
          <p:nvPr/>
        </p:nvSpPr>
        <p:spPr>
          <a:xfrm>
            <a:off x="4964906" y="3662511"/>
            <a:ext cx="3463630" cy="320018"/>
          </a:xfrm>
          <a:prstGeom prst="rect">
            <a:avLst/>
          </a:prstGeom>
          <a:noFill/>
          <a:ln/>
        </p:spPr>
        <p:txBody>
          <a:bodyPr wrap="square" lIns="0" tIns="0" rIns="0" bIns="0" rtlCol="0" anchor="t">
            <a:spAutoFit/>
          </a:bodyPr>
          <a:lstStyle/>
          <a:p>
            <a:pPr algn="l" indent="0" marL="0">
              <a:lnSpc>
                <a:spcPts val="1300"/>
              </a:lnSpc>
              <a:buNone/>
            </a:pPr>
            <a:r>
              <a:rPr lang="en-US" sz="784" b="1" dirty="0">
                <a:solidFill>
                  <a:srgbClr val="002B5C"/>
                </a:solidFill>
              </a:rPr>
              <a:t>Rapid Adaptation:</a:t>
            </a:r>
            <a:pPr algn="l" indent="0" marL="0">
              <a:lnSpc>
                <a:spcPts val="1300"/>
              </a:lnSpc>
              <a:buNone/>
            </a:pPr>
            <a:r>
              <a:rPr lang="en-US" sz="834" dirty="0">
                <a:solidFill>
                  <a:srgbClr val="333333"/>
                </a:solidFill>
              </a:rPr>
              <a:t>
</a:t>
            </a:r>
            <a:pPr algn="l" indent="0" marL="0">
              <a:lnSpc>
                <a:spcPts val="1300"/>
              </a:lnSpc>
              <a:buNone/>
            </a:pPr>
            <a:r>
              <a:rPr lang="en-US" sz="834" dirty="0">
                <a:solidFill>
                  <a:srgbClr val="333333"/>
                </a:solidFill>
              </a:rPr>
              <a:t> Time to recognize new defect types reduced from weeks to days.</a:t>
            </a:r>
            <a:endParaRPr lang="en-US" sz="784" dirty="0"/>
          </a:p>
        </p:txBody>
      </p:sp>
      <p:pic>
        <p:nvPicPr>
          <p:cNvPr id="55" name="Image 5" descr="preencoded.png">    </p:cNvPr>
          <p:cNvPicPr>
            <a:picLocks noChangeAspect="1"/>
          </p:cNvPicPr>
          <p:nvPr/>
        </p:nvPicPr>
        <p:blipFill>
          <a:blip r:embed="rId6"/>
          <a:stretch>
            <a:fillRect/>
          </a:stretch>
        </p:blipFill>
        <p:spPr>
          <a:xfrm>
            <a:off x="4793456" y="4082542"/>
            <a:ext cx="114300" cy="114300"/>
          </a:xfrm>
          <a:prstGeom prst="rect">
            <a:avLst/>
          </a:prstGeom>
        </p:spPr>
      </p:pic>
      <p:sp>
        <p:nvSpPr>
          <p:cNvPr id="56" name="Text 47"/>
          <p:cNvSpPr/>
          <p:nvPr/>
        </p:nvSpPr>
        <p:spPr>
          <a:xfrm>
            <a:off x="4993481" y="4053967"/>
            <a:ext cx="3342019" cy="320018"/>
          </a:xfrm>
          <a:prstGeom prst="rect">
            <a:avLst/>
          </a:prstGeom>
          <a:noFill/>
          <a:ln/>
        </p:spPr>
        <p:txBody>
          <a:bodyPr wrap="square" lIns="0" tIns="0" rIns="0" bIns="0" rtlCol="0" anchor="t">
            <a:spAutoFit/>
          </a:bodyPr>
          <a:lstStyle/>
          <a:p>
            <a:pPr algn="l" indent="0" marL="0">
              <a:lnSpc>
                <a:spcPts val="1300"/>
              </a:lnSpc>
              <a:buNone/>
            </a:pPr>
            <a:r>
              <a:rPr lang="en-US" sz="784" b="1" dirty="0">
                <a:solidFill>
                  <a:srgbClr val="002B5C"/>
                </a:solidFill>
              </a:rPr>
              <a:t>High ROI on Feedback:</a:t>
            </a:r>
            <a:pPr algn="l" indent="0" marL="0">
              <a:lnSpc>
                <a:spcPts val="1300"/>
              </a:lnSpc>
              <a:buNone/>
            </a:pPr>
            <a:r>
              <a:rPr lang="en-US" sz="834" dirty="0">
                <a:solidFill>
                  <a:srgbClr val="333333"/>
                </a:solidFill>
              </a:rPr>
              <a:t>
</a:t>
            </a:r>
            <a:pPr algn="l" indent="0" marL="0">
              <a:lnSpc>
                <a:spcPts val="1300"/>
              </a:lnSpc>
              <a:buNone/>
            </a:pPr>
            <a:r>
              <a:rPr lang="en-US" sz="834" dirty="0">
                <a:solidFill>
                  <a:srgbClr val="333333"/>
                </a:solidFill>
              </a:rPr>
              <a:t> Every expert correction directly contributes to model accuracy.</a:t>
            </a:r>
            <a:endParaRPr lang="en-US" sz="78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28625"/>
            <a:ext cx="8001000" cy="551855"/>
          </a:xfrm>
          <a:prstGeom prst="rect">
            <a:avLst/>
          </a:prstGeom>
          <a:solidFill>
            <a:srgbClr val="000000">
              <a:alpha val="0"/>
            </a:srgbClr>
          </a:solidFill>
          <a:ln/>
        </p:spPr>
      </p:sp>
      <p:sp>
        <p:nvSpPr>
          <p:cNvPr id="5" name="Shape 1"/>
          <p:cNvSpPr/>
          <p:nvPr/>
        </p:nvSpPr>
        <p:spPr>
          <a:xfrm>
            <a:off x="571500" y="951905"/>
            <a:ext cx="8001000" cy="28575"/>
          </a:xfrm>
          <a:prstGeom prst="rect">
            <a:avLst/>
          </a:prstGeom>
          <a:solidFill>
            <a:srgbClr val="002B5C"/>
          </a:solidFill>
          <a:ln/>
        </p:spPr>
      </p:sp>
      <p:sp>
        <p:nvSpPr>
          <p:cNvPr id="6" name="Text 2"/>
          <p:cNvSpPr/>
          <p:nvPr/>
        </p:nvSpPr>
        <p:spPr>
          <a:xfrm>
            <a:off x="571500" y="428625"/>
            <a:ext cx="8001000" cy="40898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002B5C"/>
                </a:solidFill>
              </a:rPr>
              <a:t>Real-Time Inference and MES Integration</a:t>
            </a:r>
            <a:endParaRPr lang="en-US" sz="2121" dirty="0"/>
          </a:p>
        </p:txBody>
      </p:sp>
      <p:sp>
        <p:nvSpPr>
          <p:cNvPr id="7" name="Shape 3"/>
          <p:cNvSpPr/>
          <p:nvPr/>
        </p:nvSpPr>
        <p:spPr>
          <a:xfrm>
            <a:off x="571500" y="1166217"/>
            <a:ext cx="8001000" cy="1131168"/>
          </a:xfrm>
          <a:prstGeom prst="rect">
            <a:avLst/>
          </a:prstGeom>
          <a:solidFill>
            <a:srgbClr val="F8F9FA"/>
          </a:solidFill>
          <a:ln/>
        </p:spPr>
      </p:sp>
      <p:sp>
        <p:nvSpPr>
          <p:cNvPr id="8" name="Shape 4"/>
          <p:cNvSpPr/>
          <p:nvPr/>
        </p:nvSpPr>
        <p:spPr>
          <a:xfrm>
            <a:off x="571500" y="1166217"/>
            <a:ext cx="28575" cy="1131168"/>
          </a:xfrm>
          <a:prstGeom prst="rect">
            <a:avLst/>
          </a:prstGeom>
          <a:solidFill>
            <a:srgbClr val="FF4F00"/>
          </a:solidFill>
          <a:ln/>
        </p:spPr>
      </p:sp>
      <p:sp>
        <p:nvSpPr>
          <p:cNvPr id="9" name="Shape 5"/>
          <p:cNvSpPr/>
          <p:nvPr/>
        </p:nvSpPr>
        <p:spPr>
          <a:xfrm>
            <a:off x="1057275" y="1345871"/>
            <a:ext cx="428625" cy="428625"/>
          </a:xfrm>
          <a:prstGeom prst="rect">
            <a:avLst/>
          </a:prstGeom>
          <a:solidFill>
            <a:srgbClr val="002B5C"/>
          </a:solidFill>
          <a:ln/>
        </p:spPr>
      </p:sp>
      <p:pic>
        <p:nvPicPr>
          <p:cNvPr id="10" name="Image 1" descr="preencoded.png">    </p:cNvPr>
          <p:cNvPicPr>
            <a:picLocks noChangeAspect="1"/>
          </p:cNvPicPr>
          <p:nvPr/>
        </p:nvPicPr>
        <p:blipFill>
          <a:blip r:embed="rId2"/>
          <a:stretch>
            <a:fillRect/>
          </a:stretch>
        </p:blipFill>
        <p:spPr>
          <a:xfrm>
            <a:off x="1185863" y="1474459"/>
            <a:ext cx="171450" cy="171450"/>
          </a:xfrm>
          <a:prstGeom prst="rect">
            <a:avLst/>
          </a:prstGeom>
        </p:spPr>
      </p:pic>
      <p:sp>
        <p:nvSpPr>
          <p:cNvPr id="11" name="Text 6"/>
          <p:cNvSpPr/>
          <p:nvPr/>
        </p:nvSpPr>
        <p:spPr>
          <a:xfrm>
            <a:off x="962285" y="1831646"/>
            <a:ext cx="618604" cy="155377"/>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333333"/>
                </a:solidFill>
              </a:rPr>
              <a:t>Data Input</a:t>
            </a:r>
            <a:endParaRPr lang="en-US" sz="784" dirty="0"/>
          </a:p>
        </p:txBody>
      </p:sp>
      <p:sp>
        <p:nvSpPr>
          <p:cNvPr id="12" name="Text 7"/>
          <p:cNvSpPr/>
          <p:nvPr/>
        </p:nvSpPr>
        <p:spPr>
          <a:xfrm>
            <a:off x="795077" y="2015598"/>
            <a:ext cx="953021" cy="102133"/>
          </a:xfrm>
          <a:prstGeom prst="rect">
            <a:avLst/>
          </a:prstGeom>
          <a:noFill/>
          <a:ln/>
        </p:spPr>
        <p:txBody>
          <a:bodyPr wrap="none" lIns="0" tIns="0" rIns="0" bIns="0" rtlCol="0" anchor="t">
            <a:spAutoFit/>
          </a:bodyPr>
          <a:lstStyle/>
          <a:p>
            <a:pPr algn="ctr" indent="0" marL="0">
              <a:lnSpc>
                <a:spcPts val="800"/>
              </a:lnSpc>
              <a:buNone/>
            </a:pPr>
            <a:r>
              <a:rPr lang="en-US" sz="674" dirty="0">
                <a:solidFill>
                  <a:srgbClr val="666666"/>
                </a:solidFill>
              </a:rPr>
              <a:t>REST API / File Upload</a:t>
            </a:r>
            <a:endParaRPr lang="en-US" sz="674" dirty="0"/>
          </a:p>
        </p:txBody>
      </p:sp>
      <p:pic>
        <p:nvPicPr>
          <p:cNvPr id="13" name="Image 2" descr="preencoded.png">    </p:cNvPr>
          <p:cNvPicPr>
            <a:picLocks noChangeAspect="1"/>
          </p:cNvPicPr>
          <p:nvPr/>
        </p:nvPicPr>
        <p:blipFill>
          <a:blip r:embed="rId3"/>
          <a:stretch>
            <a:fillRect/>
          </a:stretch>
        </p:blipFill>
        <p:spPr>
          <a:xfrm>
            <a:off x="2052042" y="1554100"/>
            <a:ext cx="89297" cy="142875"/>
          </a:xfrm>
          <a:prstGeom prst="rect">
            <a:avLst/>
          </a:prstGeom>
        </p:spPr>
      </p:pic>
      <p:sp>
        <p:nvSpPr>
          <p:cNvPr id="14" name="Shape 8"/>
          <p:cNvSpPr/>
          <p:nvPr/>
        </p:nvSpPr>
        <p:spPr>
          <a:xfrm>
            <a:off x="2707481" y="1345871"/>
            <a:ext cx="428625" cy="428625"/>
          </a:xfrm>
          <a:prstGeom prst="rect">
            <a:avLst/>
          </a:prstGeom>
          <a:solidFill>
            <a:srgbClr val="002B5C"/>
          </a:solidFill>
          <a:ln/>
        </p:spPr>
      </p:sp>
      <p:pic>
        <p:nvPicPr>
          <p:cNvPr id="15" name="Image 3" descr="preencoded.png">    </p:cNvPr>
          <p:cNvPicPr>
            <a:picLocks noChangeAspect="1"/>
          </p:cNvPicPr>
          <p:nvPr/>
        </p:nvPicPr>
        <p:blipFill>
          <a:blip r:embed="rId4"/>
          <a:stretch>
            <a:fillRect/>
          </a:stretch>
        </p:blipFill>
        <p:spPr>
          <a:xfrm>
            <a:off x="2836069" y="1474459"/>
            <a:ext cx="171450" cy="171450"/>
          </a:xfrm>
          <a:prstGeom prst="rect">
            <a:avLst/>
          </a:prstGeom>
        </p:spPr>
      </p:pic>
      <p:sp>
        <p:nvSpPr>
          <p:cNvPr id="16" name="Text 9"/>
          <p:cNvSpPr/>
          <p:nvPr/>
        </p:nvSpPr>
        <p:spPr>
          <a:xfrm>
            <a:off x="2686106" y="1831646"/>
            <a:ext cx="471376" cy="155377"/>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333333"/>
                </a:solidFill>
              </a:rPr>
              <a:t>Analysis</a:t>
            </a:r>
            <a:endParaRPr lang="en-US" sz="784" dirty="0"/>
          </a:p>
        </p:txBody>
      </p:sp>
      <p:sp>
        <p:nvSpPr>
          <p:cNvPr id="17" name="Text 10"/>
          <p:cNvSpPr/>
          <p:nvPr/>
        </p:nvSpPr>
        <p:spPr>
          <a:xfrm>
            <a:off x="2372032" y="2015598"/>
            <a:ext cx="1099496" cy="102133"/>
          </a:xfrm>
          <a:prstGeom prst="rect">
            <a:avLst/>
          </a:prstGeom>
          <a:noFill/>
          <a:ln/>
        </p:spPr>
        <p:txBody>
          <a:bodyPr wrap="none" lIns="0" tIns="0" rIns="0" bIns="0" rtlCol="0" anchor="t">
            <a:spAutoFit/>
          </a:bodyPr>
          <a:lstStyle/>
          <a:p>
            <a:pPr algn="ctr" indent="0" marL="0">
              <a:lnSpc>
                <a:spcPts val="800"/>
              </a:lnSpc>
              <a:buNone/>
            </a:pPr>
            <a:r>
              <a:rPr lang="en-US" sz="674" dirty="0">
                <a:solidFill>
                  <a:srgbClr val="666666"/>
                </a:solidFill>
              </a:rPr>
              <a:t>&lt;5s Real-Time Processing</a:t>
            </a:r>
            <a:endParaRPr lang="en-US" sz="674" dirty="0"/>
          </a:p>
        </p:txBody>
      </p:sp>
      <p:pic>
        <p:nvPicPr>
          <p:cNvPr id="18" name="Image 4" descr="preencoded.png">    </p:cNvPr>
          <p:cNvPicPr>
            <a:picLocks noChangeAspect="1"/>
          </p:cNvPicPr>
          <p:nvPr/>
        </p:nvPicPr>
        <p:blipFill>
          <a:blip r:embed="rId5"/>
          <a:stretch>
            <a:fillRect/>
          </a:stretch>
        </p:blipFill>
        <p:spPr>
          <a:xfrm>
            <a:off x="3702248" y="1554100"/>
            <a:ext cx="89297" cy="142875"/>
          </a:xfrm>
          <a:prstGeom prst="rect">
            <a:avLst/>
          </a:prstGeom>
        </p:spPr>
      </p:pic>
      <p:sp>
        <p:nvSpPr>
          <p:cNvPr id="19" name="Shape 11"/>
          <p:cNvSpPr/>
          <p:nvPr/>
        </p:nvSpPr>
        <p:spPr>
          <a:xfrm>
            <a:off x="4357688" y="1294805"/>
            <a:ext cx="428625" cy="428625"/>
          </a:xfrm>
          <a:prstGeom prst="rect">
            <a:avLst/>
          </a:prstGeom>
          <a:solidFill>
            <a:srgbClr val="002B5C"/>
          </a:solidFill>
          <a:ln/>
        </p:spPr>
      </p:sp>
      <p:pic>
        <p:nvPicPr>
          <p:cNvPr id="20" name="Image 5" descr="preencoded.png">    </p:cNvPr>
          <p:cNvPicPr>
            <a:picLocks noChangeAspect="1"/>
          </p:cNvPicPr>
          <p:nvPr/>
        </p:nvPicPr>
        <p:blipFill>
          <a:blip r:embed="rId6"/>
          <a:stretch>
            <a:fillRect/>
          </a:stretch>
        </p:blipFill>
        <p:spPr>
          <a:xfrm>
            <a:off x="4486275" y="1423392"/>
            <a:ext cx="171450" cy="171450"/>
          </a:xfrm>
          <a:prstGeom prst="rect">
            <a:avLst/>
          </a:prstGeom>
        </p:spPr>
      </p:pic>
      <p:sp>
        <p:nvSpPr>
          <p:cNvPr id="21" name="Text 12"/>
          <p:cNvSpPr/>
          <p:nvPr/>
        </p:nvSpPr>
        <p:spPr>
          <a:xfrm>
            <a:off x="4180098" y="1780580"/>
            <a:ext cx="783775" cy="155377"/>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333333"/>
                </a:solidFill>
              </a:rPr>
              <a:t>Result Return</a:t>
            </a:r>
            <a:endParaRPr lang="en-US" sz="784" dirty="0"/>
          </a:p>
        </p:txBody>
      </p:sp>
      <p:sp>
        <p:nvSpPr>
          <p:cNvPr id="22" name="Text 13"/>
          <p:cNvSpPr/>
          <p:nvPr/>
        </p:nvSpPr>
        <p:spPr>
          <a:xfrm>
            <a:off x="4000500" y="1964531"/>
            <a:ext cx="1143000" cy="204267"/>
          </a:xfrm>
          <a:prstGeom prst="rect">
            <a:avLst/>
          </a:prstGeom>
          <a:noFill/>
          <a:ln/>
        </p:spPr>
        <p:txBody>
          <a:bodyPr wrap="square" lIns="0" tIns="0" rIns="0" bIns="0" rtlCol="0" anchor="t">
            <a:spAutoFit/>
          </a:bodyPr>
          <a:lstStyle/>
          <a:p>
            <a:pPr algn="ctr" indent="0" marL="0">
              <a:lnSpc>
                <a:spcPts val="800"/>
              </a:lnSpc>
              <a:buNone/>
            </a:pPr>
            <a:r>
              <a:rPr lang="en-US" sz="674" dirty="0">
                <a:solidFill>
                  <a:srgbClr val="666666"/>
                </a:solidFill>
              </a:rPr>
              <a:t>JSON / Webhook Response</a:t>
            </a:r>
            <a:endParaRPr lang="en-US" sz="674" dirty="0"/>
          </a:p>
        </p:txBody>
      </p:sp>
      <p:pic>
        <p:nvPicPr>
          <p:cNvPr id="23" name="Image 6" descr="preencoded.png">    </p:cNvPr>
          <p:cNvPicPr>
            <a:picLocks noChangeAspect="1"/>
          </p:cNvPicPr>
          <p:nvPr/>
        </p:nvPicPr>
        <p:blipFill>
          <a:blip r:embed="rId7"/>
          <a:stretch>
            <a:fillRect/>
          </a:stretch>
        </p:blipFill>
        <p:spPr>
          <a:xfrm>
            <a:off x="5352455" y="1554100"/>
            <a:ext cx="89297" cy="142875"/>
          </a:xfrm>
          <a:prstGeom prst="rect">
            <a:avLst/>
          </a:prstGeom>
        </p:spPr>
      </p:pic>
      <p:sp>
        <p:nvSpPr>
          <p:cNvPr id="24" name="Shape 14"/>
          <p:cNvSpPr/>
          <p:nvPr/>
        </p:nvSpPr>
        <p:spPr>
          <a:xfrm>
            <a:off x="6007894" y="1345871"/>
            <a:ext cx="428625" cy="428625"/>
          </a:xfrm>
          <a:prstGeom prst="rect">
            <a:avLst/>
          </a:prstGeom>
          <a:solidFill>
            <a:srgbClr val="002B5C"/>
          </a:solidFill>
          <a:ln/>
        </p:spPr>
      </p:sp>
      <p:pic>
        <p:nvPicPr>
          <p:cNvPr id="25" name="Image 7" descr="preencoded.png">    </p:cNvPr>
          <p:cNvPicPr>
            <a:picLocks noChangeAspect="1"/>
          </p:cNvPicPr>
          <p:nvPr/>
        </p:nvPicPr>
        <p:blipFill>
          <a:blip r:embed="rId8"/>
          <a:stretch>
            <a:fillRect/>
          </a:stretch>
        </p:blipFill>
        <p:spPr>
          <a:xfrm>
            <a:off x="6147197" y="1474459"/>
            <a:ext cx="150019" cy="171450"/>
          </a:xfrm>
          <a:prstGeom prst="rect">
            <a:avLst/>
          </a:prstGeom>
        </p:spPr>
      </p:pic>
      <p:sp>
        <p:nvSpPr>
          <p:cNvPr id="26" name="Text 15"/>
          <p:cNvSpPr/>
          <p:nvPr/>
        </p:nvSpPr>
        <p:spPr>
          <a:xfrm>
            <a:off x="6052403" y="1831646"/>
            <a:ext cx="339607" cy="155377"/>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333333"/>
                </a:solidFill>
              </a:rPr>
              <a:t>Alerts</a:t>
            </a:r>
            <a:endParaRPr lang="en-US" sz="784" dirty="0"/>
          </a:p>
        </p:txBody>
      </p:sp>
      <p:sp>
        <p:nvSpPr>
          <p:cNvPr id="27" name="Text 16"/>
          <p:cNvSpPr/>
          <p:nvPr/>
        </p:nvSpPr>
        <p:spPr>
          <a:xfrm>
            <a:off x="5726050" y="2015598"/>
            <a:ext cx="992312" cy="102133"/>
          </a:xfrm>
          <a:prstGeom prst="rect">
            <a:avLst/>
          </a:prstGeom>
          <a:noFill/>
          <a:ln/>
        </p:spPr>
        <p:txBody>
          <a:bodyPr wrap="none" lIns="0" tIns="0" rIns="0" bIns="0" rtlCol="0" anchor="t">
            <a:spAutoFit/>
          </a:bodyPr>
          <a:lstStyle/>
          <a:p>
            <a:pPr algn="ctr" indent="0" marL="0">
              <a:lnSpc>
                <a:spcPts val="800"/>
              </a:lnSpc>
              <a:buNone/>
            </a:pPr>
            <a:r>
              <a:rPr lang="en-US" sz="674" dirty="0">
                <a:solidFill>
                  <a:srgbClr val="666666"/>
                </a:solidFill>
              </a:rPr>
              <a:t>Anomaly &amp; Root Cause</a:t>
            </a:r>
            <a:endParaRPr lang="en-US" sz="674" dirty="0"/>
          </a:p>
        </p:txBody>
      </p:sp>
      <p:pic>
        <p:nvPicPr>
          <p:cNvPr id="28" name="Image 8" descr="preencoded.png">    </p:cNvPr>
          <p:cNvPicPr>
            <a:picLocks noChangeAspect="1"/>
          </p:cNvPicPr>
          <p:nvPr/>
        </p:nvPicPr>
        <p:blipFill>
          <a:blip r:embed="rId9"/>
          <a:stretch>
            <a:fillRect/>
          </a:stretch>
        </p:blipFill>
        <p:spPr>
          <a:xfrm>
            <a:off x="7002661" y="1554100"/>
            <a:ext cx="89297" cy="142875"/>
          </a:xfrm>
          <a:prstGeom prst="rect">
            <a:avLst/>
          </a:prstGeom>
        </p:spPr>
      </p:pic>
      <p:sp>
        <p:nvSpPr>
          <p:cNvPr id="29" name="Shape 17"/>
          <p:cNvSpPr/>
          <p:nvPr/>
        </p:nvSpPr>
        <p:spPr>
          <a:xfrm>
            <a:off x="7658100" y="1345871"/>
            <a:ext cx="428625" cy="428625"/>
          </a:xfrm>
          <a:prstGeom prst="rect">
            <a:avLst/>
          </a:prstGeom>
          <a:solidFill>
            <a:srgbClr val="002B5C"/>
          </a:solidFill>
          <a:ln/>
        </p:spPr>
      </p:sp>
      <p:pic>
        <p:nvPicPr>
          <p:cNvPr id="30" name="Image 9" descr="preencoded.png">    </p:cNvPr>
          <p:cNvPicPr>
            <a:picLocks noChangeAspect="1"/>
          </p:cNvPicPr>
          <p:nvPr/>
        </p:nvPicPr>
        <p:blipFill>
          <a:blip r:embed="rId10"/>
          <a:stretch>
            <a:fillRect/>
          </a:stretch>
        </p:blipFill>
        <p:spPr>
          <a:xfrm>
            <a:off x="7786688" y="1474459"/>
            <a:ext cx="171450" cy="171450"/>
          </a:xfrm>
          <a:prstGeom prst="rect">
            <a:avLst/>
          </a:prstGeom>
        </p:spPr>
      </p:pic>
      <p:sp>
        <p:nvSpPr>
          <p:cNvPr id="31" name="Text 18"/>
          <p:cNvSpPr/>
          <p:nvPr/>
        </p:nvSpPr>
        <p:spPr>
          <a:xfrm>
            <a:off x="7601787" y="1831646"/>
            <a:ext cx="541223" cy="155377"/>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333333"/>
                </a:solidFill>
              </a:rPr>
              <a:t>Feedback</a:t>
            </a:r>
            <a:endParaRPr lang="en-US" sz="784" dirty="0"/>
          </a:p>
        </p:txBody>
      </p:sp>
      <p:sp>
        <p:nvSpPr>
          <p:cNvPr id="32" name="Text 19"/>
          <p:cNvSpPr/>
          <p:nvPr/>
        </p:nvSpPr>
        <p:spPr>
          <a:xfrm>
            <a:off x="7442420" y="2015598"/>
            <a:ext cx="859985" cy="102133"/>
          </a:xfrm>
          <a:prstGeom prst="rect">
            <a:avLst/>
          </a:prstGeom>
          <a:noFill/>
          <a:ln/>
        </p:spPr>
        <p:txBody>
          <a:bodyPr wrap="none" lIns="0" tIns="0" rIns="0" bIns="0" rtlCol="0" anchor="t">
            <a:spAutoFit/>
          </a:bodyPr>
          <a:lstStyle/>
          <a:p>
            <a:pPr algn="ctr" indent="0" marL="0">
              <a:lnSpc>
                <a:spcPts val="800"/>
              </a:lnSpc>
              <a:buNone/>
            </a:pPr>
            <a:r>
              <a:rPr lang="en-US" sz="674" dirty="0">
                <a:solidFill>
                  <a:srgbClr val="666666"/>
                </a:solidFill>
              </a:rPr>
              <a:t>Closed Loop to MES</a:t>
            </a:r>
            <a:endParaRPr lang="en-US" sz="674" dirty="0"/>
          </a:p>
        </p:txBody>
      </p:sp>
      <p:sp>
        <p:nvSpPr>
          <p:cNvPr id="33" name="Text 20"/>
          <p:cNvSpPr/>
          <p:nvPr/>
        </p:nvSpPr>
        <p:spPr>
          <a:xfrm>
            <a:off x="571500" y="2511698"/>
            <a:ext cx="1198169" cy="230386"/>
          </a:xfrm>
          <a:prstGeom prst="rect">
            <a:avLst/>
          </a:prstGeom>
          <a:noFill/>
          <a:ln/>
        </p:spPr>
        <p:txBody>
          <a:bodyPr wrap="none" lIns="0" tIns="0" rIns="0" bIns="34036" rtlCol="0" anchor="t">
            <a:spAutoFit/>
          </a:bodyPr>
          <a:lstStyle/>
          <a:p>
            <a:pPr algn="l" indent="0" marL="0">
              <a:lnSpc>
                <a:spcPts val="1400"/>
              </a:lnSpc>
              <a:buNone/>
            </a:pPr>
            <a:r>
              <a:rPr lang="en-US" sz="987" b="1" dirty="0">
                <a:solidFill>
                  <a:srgbClr val="002B5C"/>
                </a:solidFill>
              </a:rPr>
              <a:t>API Specification</a:t>
            </a:r>
            <a:endParaRPr lang="en-US" sz="987" dirty="0"/>
          </a:p>
        </p:txBody>
      </p:sp>
      <p:pic>
        <p:nvPicPr>
          <p:cNvPr id="34" name="Image 10" descr="preencoded.png">    </p:cNvPr>
          <p:cNvPicPr>
            <a:picLocks noChangeAspect="1"/>
          </p:cNvPicPr>
          <p:nvPr/>
        </p:nvPicPr>
        <p:blipFill>
          <a:blip r:embed="rId11"/>
          <a:stretch>
            <a:fillRect/>
          </a:stretch>
        </p:blipFill>
        <p:spPr>
          <a:xfrm>
            <a:off x="571500" y="2841203"/>
            <a:ext cx="87511" cy="100013"/>
          </a:xfrm>
          <a:prstGeom prst="rect">
            <a:avLst/>
          </a:prstGeom>
        </p:spPr>
      </p:pic>
      <p:sp>
        <p:nvSpPr>
          <p:cNvPr id="35" name="Text 21"/>
          <p:cNvSpPr/>
          <p:nvPr/>
        </p:nvSpPr>
        <p:spPr>
          <a:xfrm>
            <a:off x="744736" y="2813521"/>
            <a:ext cx="1922422"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444444"/>
                </a:solidFill>
              </a:rPr>
              <a:t>RESTful Design, OpenAPI Compliant</a:t>
            </a:r>
            <a:endParaRPr lang="en-US" sz="834" dirty="0"/>
          </a:p>
        </p:txBody>
      </p:sp>
      <p:pic>
        <p:nvPicPr>
          <p:cNvPr id="36" name="Image 11" descr="preencoded.png">    </p:cNvPr>
          <p:cNvPicPr>
            <a:picLocks noChangeAspect="1"/>
          </p:cNvPicPr>
          <p:nvPr/>
        </p:nvPicPr>
        <p:blipFill>
          <a:blip r:embed="rId12"/>
          <a:stretch>
            <a:fillRect/>
          </a:stretch>
        </p:blipFill>
        <p:spPr>
          <a:xfrm>
            <a:off x="571500" y="3039442"/>
            <a:ext cx="87511" cy="100013"/>
          </a:xfrm>
          <a:prstGeom prst="rect">
            <a:avLst/>
          </a:prstGeom>
        </p:spPr>
      </p:pic>
      <p:sp>
        <p:nvSpPr>
          <p:cNvPr id="37" name="Text 22"/>
          <p:cNvSpPr/>
          <p:nvPr/>
        </p:nvSpPr>
        <p:spPr>
          <a:xfrm>
            <a:off x="744736" y="3011760"/>
            <a:ext cx="1372298"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444444"/>
                </a:solidFill>
              </a:rPr>
              <a:t>JWT Token Authentication</a:t>
            </a:r>
            <a:endParaRPr lang="en-US" sz="834" dirty="0"/>
          </a:p>
        </p:txBody>
      </p:sp>
      <p:pic>
        <p:nvPicPr>
          <p:cNvPr id="38" name="Image 12" descr="preencoded.png">    </p:cNvPr>
          <p:cNvPicPr>
            <a:picLocks noChangeAspect="1"/>
          </p:cNvPicPr>
          <p:nvPr/>
        </p:nvPicPr>
        <p:blipFill>
          <a:blip r:embed="rId13"/>
          <a:stretch>
            <a:fillRect/>
          </a:stretch>
        </p:blipFill>
        <p:spPr>
          <a:xfrm>
            <a:off x="571500" y="3237681"/>
            <a:ext cx="87511" cy="100013"/>
          </a:xfrm>
          <a:prstGeom prst="rect">
            <a:avLst/>
          </a:prstGeom>
        </p:spPr>
      </p:pic>
      <p:sp>
        <p:nvSpPr>
          <p:cNvPr id="39" name="Text 23"/>
          <p:cNvSpPr/>
          <p:nvPr/>
        </p:nvSpPr>
        <p:spPr>
          <a:xfrm>
            <a:off x="744736" y="3209999"/>
            <a:ext cx="2081873"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444444"/>
                </a:solidFill>
              </a:rPr>
              <a:t>High Throughput: 1000+ Requests/Min</a:t>
            </a:r>
            <a:endParaRPr lang="en-US" sz="834" dirty="0"/>
          </a:p>
        </p:txBody>
      </p:sp>
      <p:sp>
        <p:nvSpPr>
          <p:cNvPr id="40" name="Text 24"/>
          <p:cNvSpPr/>
          <p:nvPr/>
        </p:nvSpPr>
        <p:spPr>
          <a:xfrm>
            <a:off x="571500" y="3522538"/>
            <a:ext cx="1212177" cy="230386"/>
          </a:xfrm>
          <a:prstGeom prst="rect">
            <a:avLst/>
          </a:prstGeom>
          <a:noFill/>
          <a:ln/>
        </p:spPr>
        <p:txBody>
          <a:bodyPr wrap="none" lIns="0" tIns="0" rIns="0" bIns="34036" rtlCol="0" anchor="t">
            <a:spAutoFit/>
          </a:bodyPr>
          <a:lstStyle/>
          <a:p>
            <a:pPr algn="l" indent="0" marL="0">
              <a:lnSpc>
                <a:spcPts val="1400"/>
              </a:lnSpc>
              <a:buNone/>
            </a:pPr>
            <a:r>
              <a:rPr lang="en-US" sz="987" b="1" dirty="0">
                <a:solidFill>
                  <a:srgbClr val="002B5C"/>
                </a:solidFill>
              </a:rPr>
              <a:t>Alert Mechanism</a:t>
            </a:r>
            <a:endParaRPr lang="en-US" sz="987" dirty="0"/>
          </a:p>
        </p:txBody>
      </p:sp>
      <p:pic>
        <p:nvPicPr>
          <p:cNvPr id="41" name="Image 13" descr="preencoded.png">    </p:cNvPr>
          <p:cNvPicPr>
            <a:picLocks noChangeAspect="1"/>
          </p:cNvPicPr>
          <p:nvPr/>
        </p:nvPicPr>
        <p:blipFill>
          <a:blip r:embed="rId14"/>
          <a:stretch>
            <a:fillRect/>
          </a:stretch>
        </p:blipFill>
        <p:spPr>
          <a:xfrm>
            <a:off x="571500" y="3852044"/>
            <a:ext cx="87511" cy="100013"/>
          </a:xfrm>
          <a:prstGeom prst="rect">
            <a:avLst/>
          </a:prstGeom>
        </p:spPr>
      </p:pic>
      <p:sp>
        <p:nvSpPr>
          <p:cNvPr id="42" name="Text 25"/>
          <p:cNvSpPr/>
          <p:nvPr/>
        </p:nvSpPr>
        <p:spPr>
          <a:xfrm>
            <a:off x="744736" y="3824362"/>
            <a:ext cx="1575867"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444444"/>
                </a:solidFill>
              </a:rPr>
              <a:t>Real-Time Anomaly Detection</a:t>
            </a:r>
            <a:endParaRPr lang="en-US" sz="834" dirty="0"/>
          </a:p>
        </p:txBody>
      </p:sp>
      <p:pic>
        <p:nvPicPr>
          <p:cNvPr id="43" name="Image 14" descr="preencoded.png">    </p:cNvPr>
          <p:cNvPicPr>
            <a:picLocks noChangeAspect="1"/>
          </p:cNvPicPr>
          <p:nvPr/>
        </p:nvPicPr>
        <p:blipFill>
          <a:blip r:embed="rId15"/>
          <a:stretch>
            <a:fillRect/>
          </a:stretch>
        </p:blipFill>
        <p:spPr>
          <a:xfrm>
            <a:off x="571500" y="4050283"/>
            <a:ext cx="87511" cy="100013"/>
          </a:xfrm>
          <a:prstGeom prst="rect">
            <a:avLst/>
          </a:prstGeom>
        </p:spPr>
      </p:pic>
      <p:sp>
        <p:nvSpPr>
          <p:cNvPr id="44" name="Text 26"/>
          <p:cNvSpPr/>
          <p:nvPr/>
        </p:nvSpPr>
        <p:spPr>
          <a:xfrm>
            <a:off x="744736" y="4022601"/>
            <a:ext cx="1929957"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444444"/>
                </a:solidFill>
              </a:rPr>
              <a:t>Automatic Root Cause Identification</a:t>
            </a:r>
            <a:endParaRPr lang="en-US" sz="834" dirty="0"/>
          </a:p>
        </p:txBody>
      </p:sp>
      <p:pic>
        <p:nvPicPr>
          <p:cNvPr id="45" name="Image 15" descr="preencoded.png">    </p:cNvPr>
          <p:cNvPicPr>
            <a:picLocks noChangeAspect="1"/>
          </p:cNvPicPr>
          <p:nvPr/>
        </p:nvPicPr>
        <p:blipFill>
          <a:blip r:embed="rId16"/>
          <a:stretch>
            <a:fillRect/>
          </a:stretch>
        </p:blipFill>
        <p:spPr>
          <a:xfrm>
            <a:off x="571500" y="4248522"/>
            <a:ext cx="87511" cy="100013"/>
          </a:xfrm>
          <a:prstGeom prst="rect">
            <a:avLst/>
          </a:prstGeom>
        </p:spPr>
      </p:pic>
      <p:sp>
        <p:nvSpPr>
          <p:cNvPr id="46" name="Text 27"/>
          <p:cNvSpPr/>
          <p:nvPr/>
        </p:nvSpPr>
        <p:spPr>
          <a:xfrm>
            <a:off x="744736" y="4220840"/>
            <a:ext cx="2001980"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444444"/>
                </a:solidFill>
              </a:rPr>
              <a:t>Configurable Thresholds &amp; Escalation</a:t>
            </a:r>
            <a:endParaRPr lang="en-US" sz="834" dirty="0"/>
          </a:p>
        </p:txBody>
      </p:sp>
      <p:sp>
        <p:nvSpPr>
          <p:cNvPr id="47" name="Shape 28"/>
          <p:cNvSpPr/>
          <p:nvPr/>
        </p:nvSpPr>
        <p:spPr>
          <a:xfrm>
            <a:off x="4679156" y="2511698"/>
            <a:ext cx="3893344" cy="1571625"/>
          </a:xfrm>
          <a:prstGeom prst="rect">
            <a:avLst/>
          </a:prstGeom>
          <a:solidFill>
            <a:srgbClr val="EEEEEE"/>
          </a:solidFill>
          <a:ln/>
        </p:spPr>
      </p:sp>
      <p:pic>
        <p:nvPicPr>
          <p:cNvPr id="48" name="Image 16" descr="preencoded.png">    </p:cNvPr>
          <p:cNvPicPr>
            <a:picLocks noChangeAspect="1"/>
          </p:cNvPicPr>
          <p:nvPr/>
        </p:nvPicPr>
        <p:blipFill>
          <a:blip r:embed="rId17"/>
          <a:stretch>
            <a:fillRect/>
          </a:stretch>
        </p:blipFill>
        <p:spPr>
          <a:xfrm>
            <a:off x="4679156" y="2511698"/>
            <a:ext cx="3893344" cy="1571625"/>
          </a:xfrm>
          <a:prstGeom prst="rect">
            <a:avLst/>
          </a:prstGeom>
        </p:spPr>
      </p:pic>
      <p:sp>
        <p:nvSpPr>
          <p:cNvPr id="49" name="Shape 29"/>
          <p:cNvSpPr/>
          <p:nvPr/>
        </p:nvSpPr>
        <p:spPr>
          <a:xfrm>
            <a:off x="4679156" y="3852937"/>
            <a:ext cx="1766627" cy="230386"/>
          </a:xfrm>
          <a:prstGeom prst="rect">
            <a:avLst/>
          </a:prstGeom>
          <a:solidFill>
            <a:srgbClr val="002B5C">
              <a:alpha val="90000"/>
            </a:srgbClr>
          </a:solidFill>
          <a:ln/>
        </p:spPr>
      </p:sp>
      <p:sp>
        <p:nvSpPr>
          <p:cNvPr id="50" name="Text 30"/>
          <p:cNvSpPr/>
          <p:nvPr/>
        </p:nvSpPr>
        <p:spPr>
          <a:xfrm>
            <a:off x="4679156" y="3852937"/>
            <a:ext cx="1766627" cy="230386"/>
          </a:xfrm>
          <a:prstGeom prst="rect">
            <a:avLst/>
          </a:prstGeom>
          <a:noFill/>
          <a:ln/>
        </p:spPr>
        <p:txBody>
          <a:bodyPr wrap="square" lIns="127508" tIns="68072" rIns="127508" bIns="68072" rtlCol="0" anchor="t">
            <a:spAutoFit/>
          </a:bodyPr>
          <a:lstStyle/>
          <a:p>
            <a:pPr algn="l" indent="0" marL="0">
              <a:lnSpc>
                <a:spcPts val="800"/>
              </a:lnSpc>
              <a:buNone/>
            </a:pPr>
            <a:r>
              <a:rPr lang="en-US" sz="584" b="1" dirty="0">
                <a:solidFill>
                  <a:srgbClr val="FFFFFF"/>
                </a:solidFill>
              </a:rPr>
              <a:t>Physical Inspection Integration</a:t>
            </a:r>
            <a:endParaRPr lang="en-US" sz="58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388173"/>
          </a:xfrm>
          <a:prstGeom prst="rect">
            <a:avLst/>
          </a:prstGeom>
        </p:spPr>
      </p:pic>
      <p:sp>
        <p:nvSpPr>
          <p:cNvPr id="4" name="Shape 0"/>
          <p:cNvSpPr/>
          <p:nvPr/>
        </p:nvSpPr>
        <p:spPr>
          <a:xfrm>
            <a:off x="571500" y="428625"/>
            <a:ext cx="8001000" cy="791170"/>
          </a:xfrm>
          <a:prstGeom prst="rect">
            <a:avLst/>
          </a:prstGeom>
          <a:solidFill>
            <a:srgbClr val="000000">
              <a:alpha val="0"/>
            </a:srgbClr>
          </a:solidFill>
          <a:ln/>
        </p:spPr>
      </p:sp>
      <p:sp>
        <p:nvSpPr>
          <p:cNvPr id="5" name="Shape 1"/>
          <p:cNvSpPr/>
          <p:nvPr/>
        </p:nvSpPr>
        <p:spPr>
          <a:xfrm>
            <a:off x="571500" y="1191220"/>
            <a:ext cx="8001000" cy="28575"/>
          </a:xfrm>
          <a:prstGeom prst="rect">
            <a:avLst/>
          </a:prstGeom>
          <a:solidFill>
            <a:srgbClr val="002B5C"/>
          </a:solidFill>
          <a:ln/>
        </p:spPr>
      </p:sp>
      <p:sp>
        <p:nvSpPr>
          <p:cNvPr id="6" name="Text 2"/>
          <p:cNvSpPr/>
          <p:nvPr/>
        </p:nvSpPr>
        <p:spPr>
          <a:xfrm>
            <a:off x="571500" y="428625"/>
            <a:ext cx="8001000" cy="40898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002B5C"/>
                </a:solidFill>
              </a:rPr>
              <a:t>Kubernetes-Native Architecture</a:t>
            </a:r>
            <a:endParaRPr lang="en-US" sz="2121" dirty="0"/>
          </a:p>
        </p:txBody>
      </p:sp>
      <p:sp>
        <p:nvSpPr>
          <p:cNvPr id="7" name="Text 3"/>
          <p:cNvSpPr/>
          <p:nvPr/>
        </p:nvSpPr>
        <p:spPr>
          <a:xfrm>
            <a:off x="571500" y="873323"/>
            <a:ext cx="8001000" cy="175022"/>
          </a:xfrm>
          <a:prstGeom prst="rect">
            <a:avLst/>
          </a:prstGeom>
          <a:noFill/>
          <a:ln/>
        </p:spPr>
        <p:txBody>
          <a:bodyPr wrap="none" lIns="0" tIns="0" rIns="0" bIns="0" rtlCol="0" anchor="t">
            <a:spAutoFit/>
          </a:bodyPr>
          <a:lstStyle/>
          <a:p>
            <a:pPr algn="l" indent="0" marL="0">
              <a:lnSpc>
                <a:spcPts val="1200"/>
              </a:lnSpc>
              <a:buNone/>
            </a:pPr>
            <a:r>
              <a:rPr lang="en-US" sz="942" dirty="0">
                <a:solidFill>
                  <a:srgbClr val="666666"/>
                </a:solidFill>
              </a:rPr>
              <a:t>Cloud-Native Deployment for Unlimited Scalability</a:t>
            </a:r>
            <a:endParaRPr lang="en-US" sz="942" dirty="0"/>
          </a:p>
        </p:txBody>
      </p:sp>
      <p:sp>
        <p:nvSpPr>
          <p:cNvPr id="8" name="Shape 4"/>
          <p:cNvSpPr/>
          <p:nvPr/>
        </p:nvSpPr>
        <p:spPr>
          <a:xfrm>
            <a:off x="571500" y="1476970"/>
            <a:ext cx="4130399" cy="3782616"/>
          </a:xfrm>
          <a:prstGeom prst="rect">
            <a:avLst/>
          </a:prstGeom>
          <a:solidFill>
            <a:srgbClr val="F8F9FA"/>
          </a:solidFill>
          <a:ln w="18288">
            <a:solidFill>
              <a:srgbClr val="002B5C"/>
            </a:solidFill>
            <a:prstDash val="dash"/>
          </a:ln>
        </p:spPr>
      </p:sp>
      <p:sp>
        <p:nvSpPr>
          <p:cNvPr id="9" name="Shape 5"/>
          <p:cNvSpPr/>
          <p:nvPr/>
        </p:nvSpPr>
        <p:spPr>
          <a:xfrm>
            <a:off x="714375" y="1391245"/>
            <a:ext cx="1550752" cy="164306"/>
          </a:xfrm>
          <a:prstGeom prst="rect">
            <a:avLst/>
          </a:prstGeom>
          <a:solidFill>
            <a:srgbClr val="002B5C"/>
          </a:solidFill>
          <a:ln/>
        </p:spPr>
      </p:sp>
      <p:sp>
        <p:nvSpPr>
          <p:cNvPr id="10" name="Text 6"/>
          <p:cNvSpPr/>
          <p:nvPr/>
        </p:nvSpPr>
        <p:spPr>
          <a:xfrm>
            <a:off x="714375" y="1391245"/>
            <a:ext cx="1550752" cy="164306"/>
          </a:xfrm>
          <a:prstGeom prst="rect">
            <a:avLst/>
          </a:prstGeom>
          <a:noFill/>
          <a:ln/>
        </p:spPr>
        <p:txBody>
          <a:bodyPr wrap="none" lIns="85090" tIns="17018" rIns="85090" bIns="17018" rtlCol="0" anchor="t">
            <a:spAutoFit/>
          </a:bodyPr>
          <a:lstStyle/>
          <a:p>
            <a:pPr algn="l" indent="0" marL="0">
              <a:lnSpc>
                <a:spcPts val="900"/>
              </a:lnSpc>
              <a:buNone/>
            </a:pPr>
            <a:r>
              <a:rPr lang="en-US" sz="683" b="1" dirty="0">
                <a:solidFill>
                  <a:srgbClr val="FFFFFF"/>
                </a:solidFill>
              </a:rPr>
              <a:t>Production Cluster (K8s)</a:t>
            </a:r>
            <a:endParaRPr lang="en-US" sz="683" dirty="0"/>
          </a:p>
        </p:txBody>
      </p:sp>
      <p:sp>
        <p:nvSpPr>
          <p:cNvPr id="11" name="Shape 7"/>
          <p:cNvSpPr/>
          <p:nvPr/>
        </p:nvSpPr>
        <p:spPr>
          <a:xfrm>
            <a:off x="714375" y="1619845"/>
            <a:ext cx="3844649" cy="1010841"/>
          </a:xfrm>
          <a:prstGeom prst="rect">
            <a:avLst/>
          </a:prstGeom>
          <a:solidFill>
            <a:srgbClr val="FFFFFF"/>
          </a:solidFill>
          <a:ln w="9144">
            <a:solidFill>
              <a:srgbClr val="CCCCCC"/>
            </a:solidFill>
            <a:prstDash val="solid"/>
          </a:ln>
        </p:spPr>
      </p:sp>
      <p:sp>
        <p:nvSpPr>
          <p:cNvPr id="12" name="Text 8"/>
          <p:cNvSpPr/>
          <p:nvPr/>
        </p:nvSpPr>
        <p:spPr>
          <a:xfrm>
            <a:off x="821531" y="1727002"/>
            <a:ext cx="1655313"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33333"/>
                </a:solidFill>
              </a:rPr>
              <a:t>CPU Node Pool (General Purpose)</a:t>
            </a:r>
            <a:endParaRPr lang="en-US" sz="683" dirty="0"/>
          </a:p>
        </p:txBody>
      </p:sp>
      <p:pic>
        <p:nvPicPr>
          <p:cNvPr id="13" name="Image 1" descr="preencoded.png">    </p:cNvPr>
          <p:cNvPicPr>
            <a:picLocks noChangeAspect="1"/>
          </p:cNvPicPr>
          <p:nvPr/>
        </p:nvPicPr>
        <p:blipFill>
          <a:blip r:embed="rId2"/>
          <a:stretch>
            <a:fillRect/>
          </a:stretch>
        </p:blipFill>
        <p:spPr>
          <a:xfrm>
            <a:off x="4351855" y="1727002"/>
            <a:ext cx="100013" cy="135731"/>
          </a:xfrm>
          <a:prstGeom prst="rect">
            <a:avLst/>
          </a:prstGeom>
        </p:spPr>
      </p:pic>
      <p:sp>
        <p:nvSpPr>
          <p:cNvPr id="14" name="Shape 9"/>
          <p:cNvSpPr/>
          <p:nvPr/>
        </p:nvSpPr>
        <p:spPr>
          <a:xfrm>
            <a:off x="821531" y="1977033"/>
            <a:ext cx="1779436" cy="230386"/>
          </a:xfrm>
          <a:prstGeom prst="rect">
            <a:avLst/>
          </a:prstGeom>
          <a:solidFill>
            <a:srgbClr val="EEF2F5"/>
          </a:solidFill>
          <a:ln/>
        </p:spPr>
      </p:sp>
      <p:sp>
        <p:nvSpPr>
          <p:cNvPr id="15" name="Shape 10"/>
          <p:cNvSpPr/>
          <p:nvPr/>
        </p:nvSpPr>
        <p:spPr>
          <a:xfrm>
            <a:off x="821531" y="1977033"/>
            <a:ext cx="21431" cy="230386"/>
          </a:xfrm>
          <a:prstGeom prst="rect">
            <a:avLst/>
          </a:prstGeom>
          <a:solidFill>
            <a:srgbClr val="002B5C"/>
          </a:solidFill>
          <a:ln/>
        </p:spPr>
      </p:sp>
      <p:sp>
        <p:nvSpPr>
          <p:cNvPr id="16" name="Text 11"/>
          <p:cNvSpPr/>
          <p:nvPr/>
        </p:nvSpPr>
        <p:spPr>
          <a:xfrm>
            <a:off x="821531" y="1977033"/>
            <a:ext cx="1779436" cy="230386"/>
          </a:xfrm>
          <a:prstGeom prst="rect">
            <a:avLst/>
          </a:prstGeom>
          <a:noFill/>
          <a:ln/>
        </p:spPr>
        <p:txBody>
          <a:bodyPr wrap="square" lIns="68072" tIns="68072" rIns="68072" bIns="68072" rtlCol="0" anchor="t">
            <a:spAutoFit/>
          </a:bodyPr>
          <a:lstStyle/>
          <a:p>
            <a:pPr algn="l" indent="0" marL="0">
              <a:lnSpc>
                <a:spcPts val="800"/>
              </a:lnSpc>
              <a:buNone/>
            </a:pPr>
            <a:r>
              <a:rPr lang="en-US" sz="621" dirty="0">
                <a:solidFill>
                  <a:srgbClr val="002B5C"/>
                </a:solidFill>
              </a:rPr>
              <a:t>API Gateway</a:t>
            </a:r>
            <a:endParaRPr lang="en-US" sz="621" dirty="0"/>
          </a:p>
        </p:txBody>
      </p:sp>
      <p:sp>
        <p:nvSpPr>
          <p:cNvPr id="17" name="Shape 12"/>
          <p:cNvSpPr/>
          <p:nvPr/>
        </p:nvSpPr>
        <p:spPr>
          <a:xfrm>
            <a:off x="2672404" y="1977033"/>
            <a:ext cx="1779463" cy="230386"/>
          </a:xfrm>
          <a:prstGeom prst="rect">
            <a:avLst/>
          </a:prstGeom>
          <a:solidFill>
            <a:srgbClr val="EEF2F5"/>
          </a:solidFill>
          <a:ln/>
        </p:spPr>
      </p:sp>
      <p:sp>
        <p:nvSpPr>
          <p:cNvPr id="18" name="Shape 13"/>
          <p:cNvSpPr/>
          <p:nvPr/>
        </p:nvSpPr>
        <p:spPr>
          <a:xfrm>
            <a:off x="2672404" y="1977033"/>
            <a:ext cx="21431" cy="230386"/>
          </a:xfrm>
          <a:prstGeom prst="rect">
            <a:avLst/>
          </a:prstGeom>
          <a:solidFill>
            <a:srgbClr val="002B5C"/>
          </a:solidFill>
          <a:ln/>
        </p:spPr>
      </p:sp>
      <p:sp>
        <p:nvSpPr>
          <p:cNvPr id="19" name="Text 14"/>
          <p:cNvSpPr/>
          <p:nvPr/>
        </p:nvSpPr>
        <p:spPr>
          <a:xfrm>
            <a:off x="2672404" y="1977033"/>
            <a:ext cx="1779463" cy="230386"/>
          </a:xfrm>
          <a:prstGeom prst="rect">
            <a:avLst/>
          </a:prstGeom>
          <a:noFill/>
          <a:ln/>
        </p:spPr>
        <p:txBody>
          <a:bodyPr wrap="square" lIns="68072" tIns="68072" rIns="68072" bIns="68072" rtlCol="0" anchor="t">
            <a:spAutoFit/>
          </a:bodyPr>
          <a:lstStyle/>
          <a:p>
            <a:pPr algn="l" indent="0" marL="0">
              <a:lnSpc>
                <a:spcPts val="800"/>
              </a:lnSpc>
              <a:buNone/>
            </a:pPr>
            <a:r>
              <a:rPr lang="en-US" sz="621" dirty="0">
                <a:solidFill>
                  <a:srgbClr val="002B5C"/>
                </a:solidFill>
              </a:rPr>
              <a:t>Data Ingestion</a:t>
            </a:r>
            <a:endParaRPr lang="en-US" sz="621" dirty="0"/>
          </a:p>
        </p:txBody>
      </p:sp>
      <p:sp>
        <p:nvSpPr>
          <p:cNvPr id="20" name="Shape 15"/>
          <p:cNvSpPr/>
          <p:nvPr/>
        </p:nvSpPr>
        <p:spPr>
          <a:xfrm>
            <a:off x="821531" y="2278856"/>
            <a:ext cx="1779436" cy="230386"/>
          </a:xfrm>
          <a:prstGeom prst="rect">
            <a:avLst/>
          </a:prstGeom>
          <a:solidFill>
            <a:srgbClr val="EEF2F5"/>
          </a:solidFill>
          <a:ln/>
        </p:spPr>
      </p:sp>
      <p:sp>
        <p:nvSpPr>
          <p:cNvPr id="21" name="Shape 16"/>
          <p:cNvSpPr/>
          <p:nvPr/>
        </p:nvSpPr>
        <p:spPr>
          <a:xfrm>
            <a:off x="821531" y="2278856"/>
            <a:ext cx="21431" cy="230386"/>
          </a:xfrm>
          <a:prstGeom prst="rect">
            <a:avLst/>
          </a:prstGeom>
          <a:solidFill>
            <a:srgbClr val="002B5C"/>
          </a:solidFill>
          <a:ln/>
        </p:spPr>
      </p:sp>
      <p:sp>
        <p:nvSpPr>
          <p:cNvPr id="22" name="Text 17"/>
          <p:cNvSpPr/>
          <p:nvPr/>
        </p:nvSpPr>
        <p:spPr>
          <a:xfrm>
            <a:off x="821531" y="2278856"/>
            <a:ext cx="1779436" cy="230386"/>
          </a:xfrm>
          <a:prstGeom prst="rect">
            <a:avLst/>
          </a:prstGeom>
          <a:noFill/>
          <a:ln/>
        </p:spPr>
        <p:txBody>
          <a:bodyPr wrap="square" lIns="68072" tIns="68072" rIns="68072" bIns="68072" rtlCol="0" anchor="t">
            <a:spAutoFit/>
          </a:bodyPr>
          <a:lstStyle/>
          <a:p>
            <a:pPr algn="l" indent="0" marL="0">
              <a:lnSpc>
                <a:spcPts val="800"/>
              </a:lnSpc>
              <a:buNone/>
            </a:pPr>
            <a:r>
              <a:rPr lang="en-US" sz="621" dirty="0">
                <a:solidFill>
                  <a:srgbClr val="002B5C"/>
                </a:solidFill>
              </a:rPr>
              <a:t>Retraining Job</a:t>
            </a:r>
            <a:endParaRPr lang="en-US" sz="621" dirty="0"/>
          </a:p>
        </p:txBody>
      </p:sp>
      <p:sp>
        <p:nvSpPr>
          <p:cNvPr id="23" name="Shape 18"/>
          <p:cNvSpPr/>
          <p:nvPr/>
        </p:nvSpPr>
        <p:spPr>
          <a:xfrm>
            <a:off x="2672404" y="2278856"/>
            <a:ext cx="1779463" cy="230386"/>
          </a:xfrm>
          <a:prstGeom prst="rect">
            <a:avLst/>
          </a:prstGeom>
          <a:solidFill>
            <a:srgbClr val="EEF2F5"/>
          </a:solidFill>
          <a:ln/>
        </p:spPr>
      </p:sp>
      <p:sp>
        <p:nvSpPr>
          <p:cNvPr id="24" name="Shape 19"/>
          <p:cNvSpPr/>
          <p:nvPr/>
        </p:nvSpPr>
        <p:spPr>
          <a:xfrm>
            <a:off x="2672404" y="2278856"/>
            <a:ext cx="21431" cy="230386"/>
          </a:xfrm>
          <a:prstGeom prst="rect">
            <a:avLst/>
          </a:prstGeom>
          <a:solidFill>
            <a:srgbClr val="002B5C"/>
          </a:solidFill>
          <a:ln/>
        </p:spPr>
      </p:sp>
      <p:sp>
        <p:nvSpPr>
          <p:cNvPr id="25" name="Text 20"/>
          <p:cNvSpPr/>
          <p:nvPr/>
        </p:nvSpPr>
        <p:spPr>
          <a:xfrm>
            <a:off x="2672404" y="2278856"/>
            <a:ext cx="1779463" cy="230386"/>
          </a:xfrm>
          <a:prstGeom prst="rect">
            <a:avLst/>
          </a:prstGeom>
          <a:noFill/>
          <a:ln/>
        </p:spPr>
        <p:txBody>
          <a:bodyPr wrap="square" lIns="68072" tIns="68072" rIns="68072" bIns="68072" rtlCol="0" anchor="t">
            <a:spAutoFit/>
          </a:bodyPr>
          <a:lstStyle/>
          <a:p>
            <a:pPr algn="l" indent="0" marL="0">
              <a:lnSpc>
                <a:spcPts val="800"/>
              </a:lnSpc>
              <a:buNone/>
            </a:pPr>
            <a:r>
              <a:rPr lang="en-US" sz="621" dirty="0">
                <a:solidFill>
                  <a:srgbClr val="002B5C"/>
                </a:solidFill>
              </a:rPr>
              <a:t>Dashboard UI</a:t>
            </a:r>
            <a:endParaRPr lang="en-US" sz="621" dirty="0"/>
          </a:p>
        </p:txBody>
      </p:sp>
      <p:sp>
        <p:nvSpPr>
          <p:cNvPr id="26" name="Shape 21"/>
          <p:cNvSpPr/>
          <p:nvPr/>
        </p:nvSpPr>
        <p:spPr>
          <a:xfrm>
            <a:off x="714375" y="2759273"/>
            <a:ext cx="3844649" cy="1025128"/>
          </a:xfrm>
          <a:prstGeom prst="rect">
            <a:avLst/>
          </a:prstGeom>
          <a:solidFill>
            <a:srgbClr val="FFFFFF"/>
          </a:solidFill>
          <a:ln w="18288">
            <a:solidFill>
              <a:srgbClr val="FF4F00"/>
            </a:solidFill>
            <a:prstDash val="solid"/>
          </a:ln>
        </p:spPr>
      </p:sp>
      <p:sp>
        <p:nvSpPr>
          <p:cNvPr id="27" name="Text 22"/>
          <p:cNvSpPr/>
          <p:nvPr/>
        </p:nvSpPr>
        <p:spPr>
          <a:xfrm>
            <a:off x="821531" y="2866430"/>
            <a:ext cx="1621715"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33333"/>
                </a:solidFill>
              </a:rPr>
              <a:t>GPU Node Pool (2x NVIDIA H100)</a:t>
            </a:r>
            <a:endParaRPr lang="en-US" sz="683" dirty="0"/>
          </a:p>
        </p:txBody>
      </p:sp>
      <p:pic>
        <p:nvPicPr>
          <p:cNvPr id="28" name="Image 2" descr="preencoded.png">    </p:cNvPr>
          <p:cNvPicPr>
            <a:picLocks noChangeAspect="1"/>
          </p:cNvPicPr>
          <p:nvPr/>
        </p:nvPicPr>
        <p:blipFill>
          <a:blip r:embed="rId3"/>
          <a:stretch>
            <a:fillRect/>
          </a:stretch>
        </p:blipFill>
        <p:spPr>
          <a:xfrm>
            <a:off x="4351855" y="2866430"/>
            <a:ext cx="100013" cy="135731"/>
          </a:xfrm>
          <a:prstGeom prst="rect">
            <a:avLst/>
          </a:prstGeom>
        </p:spPr>
      </p:pic>
      <p:sp>
        <p:nvSpPr>
          <p:cNvPr id="29" name="Shape 23"/>
          <p:cNvSpPr/>
          <p:nvPr/>
        </p:nvSpPr>
        <p:spPr>
          <a:xfrm>
            <a:off x="821531" y="3116461"/>
            <a:ext cx="1779436" cy="230386"/>
          </a:xfrm>
          <a:prstGeom prst="rect">
            <a:avLst/>
          </a:prstGeom>
          <a:solidFill>
            <a:srgbClr val="FFF5F0"/>
          </a:solidFill>
          <a:ln/>
        </p:spPr>
      </p:sp>
      <p:sp>
        <p:nvSpPr>
          <p:cNvPr id="30" name="Shape 24"/>
          <p:cNvSpPr/>
          <p:nvPr/>
        </p:nvSpPr>
        <p:spPr>
          <a:xfrm>
            <a:off x="821531" y="3116461"/>
            <a:ext cx="21431" cy="230386"/>
          </a:xfrm>
          <a:prstGeom prst="rect">
            <a:avLst/>
          </a:prstGeom>
          <a:solidFill>
            <a:srgbClr val="FF4F00"/>
          </a:solidFill>
          <a:ln/>
        </p:spPr>
      </p:sp>
      <p:sp>
        <p:nvSpPr>
          <p:cNvPr id="31" name="Text 25"/>
          <p:cNvSpPr/>
          <p:nvPr/>
        </p:nvSpPr>
        <p:spPr>
          <a:xfrm>
            <a:off x="821531" y="3116461"/>
            <a:ext cx="1779436" cy="230386"/>
          </a:xfrm>
          <a:prstGeom prst="rect">
            <a:avLst/>
          </a:prstGeom>
          <a:noFill/>
          <a:ln/>
        </p:spPr>
        <p:txBody>
          <a:bodyPr wrap="square" lIns="68072" tIns="68072" rIns="68072" bIns="68072" rtlCol="0" anchor="t">
            <a:spAutoFit/>
          </a:bodyPr>
          <a:lstStyle/>
          <a:p>
            <a:pPr algn="l" indent="0" marL="0">
              <a:lnSpc>
                <a:spcPts val="800"/>
              </a:lnSpc>
              <a:buNone/>
            </a:pPr>
            <a:r>
              <a:rPr lang="en-US" sz="621" dirty="0">
                <a:solidFill>
                  <a:srgbClr val="D32F2F"/>
                </a:solidFill>
              </a:rPr>
              <a:t>Preprocessing</a:t>
            </a:r>
            <a:endParaRPr lang="en-US" sz="621" dirty="0"/>
          </a:p>
        </p:txBody>
      </p:sp>
      <p:sp>
        <p:nvSpPr>
          <p:cNvPr id="32" name="Shape 26"/>
          <p:cNvSpPr/>
          <p:nvPr/>
        </p:nvSpPr>
        <p:spPr>
          <a:xfrm>
            <a:off x="2672404" y="3116461"/>
            <a:ext cx="1779463" cy="230386"/>
          </a:xfrm>
          <a:prstGeom prst="rect">
            <a:avLst/>
          </a:prstGeom>
          <a:solidFill>
            <a:srgbClr val="FFF5F0"/>
          </a:solidFill>
          <a:ln/>
        </p:spPr>
      </p:sp>
      <p:sp>
        <p:nvSpPr>
          <p:cNvPr id="33" name="Shape 27"/>
          <p:cNvSpPr/>
          <p:nvPr/>
        </p:nvSpPr>
        <p:spPr>
          <a:xfrm>
            <a:off x="2672404" y="3116461"/>
            <a:ext cx="21431" cy="230386"/>
          </a:xfrm>
          <a:prstGeom prst="rect">
            <a:avLst/>
          </a:prstGeom>
          <a:solidFill>
            <a:srgbClr val="FF4F00"/>
          </a:solidFill>
          <a:ln/>
        </p:spPr>
      </p:sp>
      <p:sp>
        <p:nvSpPr>
          <p:cNvPr id="34" name="Text 28"/>
          <p:cNvSpPr/>
          <p:nvPr/>
        </p:nvSpPr>
        <p:spPr>
          <a:xfrm>
            <a:off x="2672404" y="3116461"/>
            <a:ext cx="1779463" cy="230386"/>
          </a:xfrm>
          <a:prstGeom prst="rect">
            <a:avLst/>
          </a:prstGeom>
          <a:noFill/>
          <a:ln/>
        </p:spPr>
        <p:txBody>
          <a:bodyPr wrap="square" lIns="68072" tIns="68072" rIns="68072" bIns="68072" rtlCol="0" anchor="t">
            <a:spAutoFit/>
          </a:bodyPr>
          <a:lstStyle/>
          <a:p>
            <a:pPr algn="l" indent="0" marL="0">
              <a:lnSpc>
                <a:spcPts val="800"/>
              </a:lnSpc>
              <a:buNone/>
            </a:pPr>
            <a:r>
              <a:rPr lang="en-US" sz="621" dirty="0">
                <a:solidFill>
                  <a:srgbClr val="D32F2F"/>
                </a:solidFill>
              </a:rPr>
              <a:t>Inference (Triton)</a:t>
            </a:r>
            <a:endParaRPr lang="en-US" sz="621" dirty="0"/>
          </a:p>
        </p:txBody>
      </p:sp>
      <p:sp>
        <p:nvSpPr>
          <p:cNvPr id="35" name="Shape 29"/>
          <p:cNvSpPr/>
          <p:nvPr/>
        </p:nvSpPr>
        <p:spPr>
          <a:xfrm>
            <a:off x="821531" y="3418284"/>
            <a:ext cx="1779436" cy="230386"/>
          </a:xfrm>
          <a:prstGeom prst="rect">
            <a:avLst/>
          </a:prstGeom>
          <a:solidFill>
            <a:srgbClr val="FFF5F0"/>
          </a:solidFill>
          <a:ln/>
        </p:spPr>
      </p:sp>
      <p:sp>
        <p:nvSpPr>
          <p:cNvPr id="36" name="Shape 30"/>
          <p:cNvSpPr/>
          <p:nvPr/>
        </p:nvSpPr>
        <p:spPr>
          <a:xfrm>
            <a:off x="821531" y="3418284"/>
            <a:ext cx="21431" cy="230386"/>
          </a:xfrm>
          <a:prstGeom prst="rect">
            <a:avLst/>
          </a:prstGeom>
          <a:solidFill>
            <a:srgbClr val="FF4F00"/>
          </a:solidFill>
          <a:ln/>
        </p:spPr>
      </p:sp>
      <p:sp>
        <p:nvSpPr>
          <p:cNvPr id="37" name="Text 31"/>
          <p:cNvSpPr/>
          <p:nvPr/>
        </p:nvSpPr>
        <p:spPr>
          <a:xfrm>
            <a:off x="821531" y="3418284"/>
            <a:ext cx="1779436" cy="230386"/>
          </a:xfrm>
          <a:prstGeom prst="rect">
            <a:avLst/>
          </a:prstGeom>
          <a:noFill/>
          <a:ln/>
        </p:spPr>
        <p:txBody>
          <a:bodyPr wrap="square" lIns="68072" tIns="68072" rIns="68072" bIns="68072" rtlCol="0" anchor="t">
            <a:spAutoFit/>
          </a:bodyPr>
          <a:lstStyle/>
          <a:p>
            <a:pPr algn="l" indent="0" marL="0">
              <a:lnSpc>
                <a:spcPts val="800"/>
              </a:lnSpc>
              <a:buNone/>
            </a:pPr>
            <a:r>
              <a:rPr lang="en-US" sz="621" dirty="0">
                <a:solidFill>
                  <a:srgbClr val="D32F2F"/>
                </a:solidFill>
              </a:rPr>
              <a:t>GAN Generation</a:t>
            </a:r>
            <a:endParaRPr lang="en-US" sz="621" dirty="0"/>
          </a:p>
        </p:txBody>
      </p:sp>
      <p:sp>
        <p:nvSpPr>
          <p:cNvPr id="38" name="Shape 32"/>
          <p:cNvSpPr/>
          <p:nvPr/>
        </p:nvSpPr>
        <p:spPr>
          <a:xfrm>
            <a:off x="2672404" y="3418284"/>
            <a:ext cx="1779463" cy="230386"/>
          </a:xfrm>
          <a:prstGeom prst="rect">
            <a:avLst/>
          </a:prstGeom>
          <a:solidFill>
            <a:srgbClr val="FFF5F0"/>
          </a:solidFill>
          <a:ln/>
        </p:spPr>
      </p:sp>
      <p:sp>
        <p:nvSpPr>
          <p:cNvPr id="39" name="Shape 33"/>
          <p:cNvSpPr/>
          <p:nvPr/>
        </p:nvSpPr>
        <p:spPr>
          <a:xfrm>
            <a:off x="2672404" y="3418284"/>
            <a:ext cx="21431" cy="230386"/>
          </a:xfrm>
          <a:prstGeom prst="rect">
            <a:avLst/>
          </a:prstGeom>
          <a:solidFill>
            <a:srgbClr val="FF4F00"/>
          </a:solidFill>
          <a:ln/>
        </p:spPr>
      </p:sp>
      <p:sp>
        <p:nvSpPr>
          <p:cNvPr id="40" name="Text 34"/>
          <p:cNvSpPr/>
          <p:nvPr/>
        </p:nvSpPr>
        <p:spPr>
          <a:xfrm>
            <a:off x="2672404" y="3418284"/>
            <a:ext cx="1779463" cy="230386"/>
          </a:xfrm>
          <a:prstGeom prst="rect">
            <a:avLst/>
          </a:prstGeom>
          <a:noFill/>
          <a:ln/>
        </p:spPr>
        <p:txBody>
          <a:bodyPr wrap="square" lIns="68072" tIns="68072" rIns="68072" bIns="68072" rtlCol="0" anchor="t">
            <a:spAutoFit/>
          </a:bodyPr>
          <a:lstStyle/>
          <a:p>
            <a:pPr algn="l" indent="0" marL="0">
              <a:lnSpc>
                <a:spcPts val="800"/>
              </a:lnSpc>
              <a:buNone/>
            </a:pPr>
            <a:r>
              <a:rPr lang="en-US" sz="621" dirty="0">
                <a:solidFill>
                  <a:srgbClr val="D32F2F"/>
                </a:solidFill>
              </a:rPr>
              <a:t>Auto-Scaling HPA</a:t>
            </a:r>
            <a:endParaRPr lang="en-US" sz="621" dirty="0"/>
          </a:p>
        </p:txBody>
      </p:sp>
      <p:sp>
        <p:nvSpPr>
          <p:cNvPr id="41" name="Shape 35"/>
          <p:cNvSpPr/>
          <p:nvPr/>
        </p:nvSpPr>
        <p:spPr>
          <a:xfrm>
            <a:off x="714375" y="3898702"/>
            <a:ext cx="3844649" cy="269677"/>
          </a:xfrm>
          <a:prstGeom prst="rect">
            <a:avLst/>
          </a:prstGeom>
          <a:solidFill>
            <a:srgbClr val="E0E0E0"/>
          </a:solidFill>
          <a:ln/>
        </p:spPr>
      </p:sp>
      <p:pic>
        <p:nvPicPr>
          <p:cNvPr id="42" name="Image 3" descr="preencoded.png">    </p:cNvPr>
          <p:cNvPicPr>
            <a:picLocks noChangeAspect="1"/>
          </p:cNvPicPr>
          <p:nvPr/>
        </p:nvPicPr>
        <p:blipFill>
          <a:blip r:embed="rId4"/>
          <a:stretch>
            <a:fillRect/>
          </a:stretch>
        </p:blipFill>
        <p:spPr>
          <a:xfrm>
            <a:off x="1020133" y="3987998"/>
            <a:ext cx="82153" cy="92869"/>
          </a:xfrm>
          <a:prstGeom prst="rect">
            <a:avLst/>
          </a:prstGeom>
        </p:spPr>
      </p:pic>
      <p:sp>
        <p:nvSpPr>
          <p:cNvPr id="43" name="Text 36"/>
          <p:cNvSpPr/>
          <p:nvPr/>
        </p:nvSpPr>
        <p:spPr>
          <a:xfrm>
            <a:off x="1102286" y="3970139"/>
            <a:ext cx="548394"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555555"/>
                </a:solidFill>
              </a:rPr>
              <a:t>PostgreSQL</a:t>
            </a:r>
            <a:endParaRPr lang="en-US" sz="634" dirty="0"/>
          </a:p>
        </p:txBody>
      </p:sp>
      <p:pic>
        <p:nvPicPr>
          <p:cNvPr id="44" name="Image 4" descr="preencoded.png">    </p:cNvPr>
          <p:cNvPicPr>
            <a:picLocks noChangeAspect="1"/>
          </p:cNvPicPr>
          <p:nvPr/>
        </p:nvPicPr>
        <p:blipFill>
          <a:blip r:embed="rId5"/>
          <a:stretch>
            <a:fillRect/>
          </a:stretch>
        </p:blipFill>
        <p:spPr>
          <a:xfrm>
            <a:off x="2119322" y="3987998"/>
            <a:ext cx="92869" cy="92869"/>
          </a:xfrm>
          <a:prstGeom prst="rect">
            <a:avLst/>
          </a:prstGeom>
        </p:spPr>
      </p:pic>
      <p:sp>
        <p:nvSpPr>
          <p:cNvPr id="45" name="Text 37"/>
          <p:cNvSpPr/>
          <p:nvPr/>
        </p:nvSpPr>
        <p:spPr>
          <a:xfrm>
            <a:off x="2212191" y="3970139"/>
            <a:ext cx="1000488"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555555"/>
                </a:solidFill>
              </a:rPr>
              <a:t>MinIO Object Storage</a:t>
            </a:r>
            <a:endParaRPr lang="en-US" sz="634" dirty="0"/>
          </a:p>
        </p:txBody>
      </p:sp>
      <p:pic>
        <p:nvPicPr>
          <p:cNvPr id="46" name="Image 5" descr="preencoded.png">    </p:cNvPr>
          <p:cNvPicPr>
            <a:picLocks noChangeAspect="1"/>
          </p:cNvPicPr>
          <p:nvPr/>
        </p:nvPicPr>
        <p:blipFill>
          <a:blip r:embed="rId6"/>
          <a:stretch>
            <a:fillRect/>
          </a:stretch>
        </p:blipFill>
        <p:spPr>
          <a:xfrm>
            <a:off x="3681319" y="3987998"/>
            <a:ext cx="92869" cy="92869"/>
          </a:xfrm>
          <a:prstGeom prst="rect">
            <a:avLst/>
          </a:prstGeom>
        </p:spPr>
      </p:pic>
      <p:sp>
        <p:nvSpPr>
          <p:cNvPr id="47" name="Text 38"/>
          <p:cNvSpPr/>
          <p:nvPr/>
        </p:nvSpPr>
        <p:spPr>
          <a:xfrm>
            <a:off x="3774188" y="3970139"/>
            <a:ext cx="479022"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555555"/>
                </a:solidFill>
              </a:rPr>
              <a:t>RabbitMQ</a:t>
            </a:r>
            <a:endParaRPr lang="en-US" sz="634" dirty="0"/>
          </a:p>
        </p:txBody>
      </p:sp>
      <p:sp>
        <p:nvSpPr>
          <p:cNvPr id="48" name="Text 39"/>
          <p:cNvSpPr/>
          <p:nvPr/>
        </p:nvSpPr>
        <p:spPr>
          <a:xfrm>
            <a:off x="5130524" y="1476970"/>
            <a:ext cx="3441976" cy="194667"/>
          </a:xfrm>
          <a:prstGeom prst="rect">
            <a:avLst/>
          </a:prstGeom>
          <a:noFill/>
          <a:ln/>
        </p:spPr>
        <p:txBody>
          <a:bodyPr wrap="none" lIns="127508" tIns="0" rIns="0" bIns="0" rtlCol="0" anchor="t">
            <a:spAutoFit/>
          </a:bodyPr>
          <a:lstStyle/>
          <a:p>
            <a:pPr algn="l" indent="0" marL="0">
              <a:lnSpc>
                <a:spcPts val="1400"/>
              </a:lnSpc>
              <a:buNone/>
            </a:pPr>
            <a:r>
              <a:rPr lang="en-US" sz="987" b="1" dirty="0">
                <a:solidFill>
                  <a:srgbClr val="002B5C"/>
                </a:solidFill>
              </a:rPr>
              <a:t>Auto-Scaling Strategy</a:t>
            </a:r>
            <a:endParaRPr lang="en-US" sz="987" dirty="0"/>
          </a:p>
        </p:txBody>
      </p:sp>
      <p:pic>
        <p:nvPicPr>
          <p:cNvPr id="49" name="Image 6" descr="preencoded.png">    </p:cNvPr>
          <p:cNvPicPr>
            <a:picLocks noChangeAspect="1"/>
          </p:cNvPicPr>
          <p:nvPr/>
        </p:nvPicPr>
        <p:blipFill>
          <a:blip r:embed="rId7"/>
          <a:stretch>
            <a:fillRect/>
          </a:stretch>
        </p:blipFill>
        <p:spPr>
          <a:xfrm>
            <a:off x="5130524" y="1807369"/>
            <a:ext cx="100013" cy="100013"/>
          </a:xfrm>
          <a:prstGeom prst="rect">
            <a:avLst/>
          </a:prstGeom>
        </p:spPr>
      </p:pic>
      <p:sp>
        <p:nvSpPr>
          <p:cNvPr id="50" name="Text 40"/>
          <p:cNvSpPr/>
          <p:nvPr/>
        </p:nvSpPr>
        <p:spPr>
          <a:xfrm>
            <a:off x="5316262" y="1778794"/>
            <a:ext cx="2969400" cy="310753"/>
          </a:xfrm>
          <a:prstGeom prst="rect">
            <a:avLst/>
          </a:prstGeom>
          <a:noFill/>
          <a:ln/>
        </p:spPr>
        <p:txBody>
          <a:bodyPr wrap="square" lIns="0" tIns="0" rIns="0" bIns="0" rtlCol="0" anchor="t">
            <a:spAutoFit/>
          </a:bodyPr>
          <a:lstStyle/>
          <a:p>
            <a:pPr algn="l" indent="0" marL="0">
              <a:lnSpc>
                <a:spcPts val="1100"/>
              </a:lnSpc>
              <a:buNone/>
            </a:pPr>
            <a:r>
              <a:rPr lang="en-US" sz="784" b="1" dirty="0">
                <a:solidFill>
                  <a:srgbClr val="444444"/>
                </a:solidFill>
              </a:rPr>
              <a:t>Horizontal Scaling</a:t>
            </a:r>
            <a:pPr algn="l" indent="0" marL="0">
              <a:lnSpc>
                <a:spcPts val="1100"/>
              </a:lnSpc>
              <a:buNone/>
            </a:pPr>
            <a:r>
              <a:rPr lang="en-US" sz="834" dirty="0">
                <a:solidFill>
                  <a:srgbClr val="444444"/>
                </a:solidFill>
              </a:rPr>
              <a:t>
</a:t>
            </a:r>
            <a:pPr algn="l" indent="0" marL="0">
              <a:lnSpc>
                <a:spcPts val="1100"/>
              </a:lnSpc>
              <a:buNone/>
            </a:pPr>
            <a:r>
              <a:rPr lang="en-US" sz="834" dirty="0">
                <a:solidFill>
                  <a:srgbClr val="444444"/>
                </a:solidFill>
              </a:rPr>
              <a:t> Auto-scale Pods based on CPU/GPU util &amp; queue depth.</a:t>
            </a:r>
            <a:endParaRPr lang="en-US" sz="784" dirty="0"/>
          </a:p>
        </p:txBody>
      </p:sp>
      <p:pic>
        <p:nvPicPr>
          <p:cNvPr id="51" name="Image 7" descr="preencoded.png">    </p:cNvPr>
          <p:cNvPicPr>
            <a:picLocks noChangeAspect="1"/>
          </p:cNvPicPr>
          <p:nvPr/>
        </p:nvPicPr>
        <p:blipFill>
          <a:blip r:embed="rId8"/>
          <a:stretch>
            <a:fillRect/>
          </a:stretch>
        </p:blipFill>
        <p:spPr>
          <a:xfrm>
            <a:off x="5130524" y="2203847"/>
            <a:ext cx="50006" cy="100013"/>
          </a:xfrm>
          <a:prstGeom prst="rect">
            <a:avLst/>
          </a:prstGeom>
        </p:spPr>
      </p:pic>
      <p:sp>
        <p:nvSpPr>
          <p:cNvPr id="52" name="Text 41"/>
          <p:cNvSpPr/>
          <p:nvPr/>
        </p:nvSpPr>
        <p:spPr>
          <a:xfrm>
            <a:off x="5266255" y="2175272"/>
            <a:ext cx="2747553" cy="310753"/>
          </a:xfrm>
          <a:prstGeom prst="rect">
            <a:avLst/>
          </a:prstGeom>
          <a:noFill/>
          <a:ln/>
        </p:spPr>
        <p:txBody>
          <a:bodyPr wrap="square" lIns="0" tIns="0" rIns="0" bIns="0" rtlCol="0" anchor="t">
            <a:spAutoFit/>
          </a:bodyPr>
          <a:lstStyle/>
          <a:p>
            <a:pPr algn="l" indent="0" marL="0">
              <a:lnSpc>
                <a:spcPts val="1100"/>
              </a:lnSpc>
              <a:buNone/>
            </a:pPr>
            <a:r>
              <a:rPr lang="en-US" sz="784" b="1" dirty="0">
                <a:solidFill>
                  <a:srgbClr val="444444"/>
                </a:solidFill>
              </a:rPr>
              <a:t>Vertical Scaling</a:t>
            </a:r>
            <a:pPr algn="l" indent="0" marL="0">
              <a:lnSpc>
                <a:spcPts val="1100"/>
              </a:lnSpc>
              <a:buNone/>
            </a:pPr>
            <a:r>
              <a:rPr lang="en-US" sz="834" dirty="0">
                <a:solidFill>
                  <a:srgbClr val="444444"/>
                </a:solidFill>
              </a:rPr>
              <a:t>
</a:t>
            </a:r>
            <a:pPr algn="l" indent="0" marL="0">
              <a:lnSpc>
                <a:spcPts val="1100"/>
              </a:lnSpc>
              <a:buNone/>
            </a:pPr>
            <a:r>
              <a:rPr lang="en-US" sz="834" dirty="0">
                <a:solidFill>
                  <a:srgbClr val="444444"/>
                </a:solidFill>
              </a:rPr>
              <a:t> Dynamic provisioning of GPU nodes for peak loads.</a:t>
            </a:r>
            <a:endParaRPr lang="en-US" sz="784" dirty="0"/>
          </a:p>
        </p:txBody>
      </p:sp>
      <p:pic>
        <p:nvPicPr>
          <p:cNvPr id="53" name="Image 8" descr="preencoded.png">    </p:cNvPr>
          <p:cNvPicPr>
            <a:picLocks noChangeAspect="1"/>
          </p:cNvPicPr>
          <p:nvPr/>
        </p:nvPicPr>
        <p:blipFill>
          <a:blip r:embed="rId9"/>
          <a:stretch>
            <a:fillRect/>
          </a:stretch>
        </p:blipFill>
        <p:spPr>
          <a:xfrm>
            <a:off x="5130524" y="2600325"/>
            <a:ext cx="112514" cy="100013"/>
          </a:xfrm>
          <a:prstGeom prst="rect">
            <a:avLst/>
          </a:prstGeom>
        </p:spPr>
      </p:pic>
      <p:sp>
        <p:nvSpPr>
          <p:cNvPr id="54" name="Text 42"/>
          <p:cNvSpPr/>
          <p:nvPr/>
        </p:nvSpPr>
        <p:spPr>
          <a:xfrm>
            <a:off x="5328763" y="2571750"/>
            <a:ext cx="2739768" cy="310753"/>
          </a:xfrm>
          <a:prstGeom prst="rect">
            <a:avLst/>
          </a:prstGeom>
          <a:noFill/>
          <a:ln/>
        </p:spPr>
        <p:txBody>
          <a:bodyPr wrap="square" lIns="0" tIns="0" rIns="0" bIns="0" rtlCol="0" anchor="t">
            <a:spAutoFit/>
          </a:bodyPr>
          <a:lstStyle/>
          <a:p>
            <a:pPr algn="l" indent="0" marL="0">
              <a:lnSpc>
                <a:spcPts val="1100"/>
              </a:lnSpc>
              <a:buNone/>
            </a:pPr>
            <a:r>
              <a:rPr lang="en-US" sz="784" b="1" dirty="0">
                <a:solidFill>
                  <a:srgbClr val="444444"/>
                </a:solidFill>
              </a:rPr>
              <a:t>Self-Healing</a:t>
            </a:r>
            <a:pPr algn="l" indent="0" marL="0">
              <a:lnSpc>
                <a:spcPts val="1100"/>
              </a:lnSpc>
              <a:buNone/>
            </a:pPr>
            <a:r>
              <a:rPr lang="en-US" sz="834" dirty="0">
                <a:solidFill>
                  <a:srgbClr val="444444"/>
                </a:solidFill>
              </a:rPr>
              <a:t>
</a:t>
            </a:r>
            <a:pPr algn="l" indent="0" marL="0">
              <a:lnSpc>
                <a:spcPts val="1100"/>
              </a:lnSpc>
              <a:buNone/>
            </a:pPr>
            <a:r>
              <a:rPr lang="en-US" sz="834" dirty="0">
                <a:solidFill>
                  <a:srgbClr val="444444"/>
                </a:solidFill>
              </a:rPr>
              <a:t> Auto-restart failed Pods; &lt;30s Recovery Time (RTO).</a:t>
            </a:r>
            <a:endParaRPr lang="en-US" sz="784" dirty="0"/>
          </a:p>
        </p:txBody>
      </p:sp>
      <p:sp>
        <p:nvSpPr>
          <p:cNvPr id="55" name="Shape 43"/>
          <p:cNvSpPr/>
          <p:nvPr/>
        </p:nvSpPr>
        <p:spPr>
          <a:xfrm>
            <a:off x="5130524" y="3182541"/>
            <a:ext cx="3441976" cy="1150144"/>
          </a:xfrm>
          <a:prstGeom prst="rect">
            <a:avLst/>
          </a:prstGeom>
          <a:solidFill>
            <a:srgbClr val="002B5C"/>
          </a:solidFill>
          <a:ln/>
        </p:spPr>
      </p:sp>
      <p:sp>
        <p:nvSpPr>
          <p:cNvPr id="56" name="Text 44"/>
          <p:cNvSpPr/>
          <p:nvPr/>
        </p:nvSpPr>
        <p:spPr>
          <a:xfrm>
            <a:off x="5273399" y="3325416"/>
            <a:ext cx="1524521"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4F00"/>
                </a:solidFill>
              </a:rPr>
              <a:t>1000+</a:t>
            </a:r>
            <a:endParaRPr lang="en-US" sz="1193" dirty="0"/>
          </a:p>
        </p:txBody>
      </p:sp>
      <p:sp>
        <p:nvSpPr>
          <p:cNvPr id="57" name="Text 45"/>
          <p:cNvSpPr/>
          <p:nvPr/>
        </p:nvSpPr>
        <p:spPr>
          <a:xfrm>
            <a:off x="5273399" y="3587948"/>
            <a:ext cx="152452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FFFFFF">
                    <a:alpha val="80000"/>
                  </a:srgbClr>
                </a:solidFill>
              </a:rPr>
              <a:t>Wafers / Hour</a:t>
            </a:r>
            <a:endParaRPr lang="en-US" sz="621" dirty="0"/>
          </a:p>
        </p:txBody>
      </p:sp>
      <p:sp>
        <p:nvSpPr>
          <p:cNvPr id="58" name="Text 46"/>
          <p:cNvSpPr/>
          <p:nvPr/>
        </p:nvSpPr>
        <p:spPr>
          <a:xfrm>
            <a:off x="6905076" y="3325416"/>
            <a:ext cx="1524549"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4F00"/>
                </a:solidFill>
              </a:rPr>
              <a:t>99.5%</a:t>
            </a:r>
            <a:endParaRPr lang="en-US" sz="1193" dirty="0"/>
          </a:p>
        </p:txBody>
      </p:sp>
      <p:sp>
        <p:nvSpPr>
          <p:cNvPr id="59" name="Text 47"/>
          <p:cNvSpPr/>
          <p:nvPr/>
        </p:nvSpPr>
        <p:spPr>
          <a:xfrm>
            <a:off x="6905076" y="3587948"/>
            <a:ext cx="1524549"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FFFFFF">
                    <a:alpha val="80000"/>
                  </a:srgbClr>
                </a:solidFill>
              </a:rPr>
              <a:t>Availability</a:t>
            </a:r>
            <a:endParaRPr lang="en-US" sz="621" dirty="0"/>
          </a:p>
        </p:txBody>
      </p:sp>
      <p:sp>
        <p:nvSpPr>
          <p:cNvPr id="60" name="Text 48"/>
          <p:cNvSpPr/>
          <p:nvPr/>
        </p:nvSpPr>
        <p:spPr>
          <a:xfrm>
            <a:off x="5273399" y="3811191"/>
            <a:ext cx="1524521"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4F00"/>
                </a:solidFill>
              </a:rPr>
              <a:t>+500</a:t>
            </a:r>
            <a:endParaRPr lang="en-US" sz="1193" dirty="0"/>
          </a:p>
        </p:txBody>
      </p:sp>
      <p:sp>
        <p:nvSpPr>
          <p:cNvPr id="61" name="Text 49"/>
          <p:cNvSpPr/>
          <p:nvPr/>
        </p:nvSpPr>
        <p:spPr>
          <a:xfrm>
            <a:off x="5273399" y="4073723"/>
            <a:ext cx="152452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FFFFFF">
                    <a:alpha val="80000"/>
                  </a:srgbClr>
                </a:solidFill>
              </a:rPr>
              <a:t>WPH per H100</a:t>
            </a:r>
            <a:endParaRPr lang="en-US" sz="621" dirty="0"/>
          </a:p>
        </p:txBody>
      </p:sp>
      <p:sp>
        <p:nvSpPr>
          <p:cNvPr id="62" name="Text 50"/>
          <p:cNvSpPr/>
          <p:nvPr/>
        </p:nvSpPr>
        <p:spPr>
          <a:xfrm>
            <a:off x="6905076" y="3811191"/>
            <a:ext cx="1524549"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4F00"/>
                </a:solidFill>
              </a:rPr>
              <a:t>95%</a:t>
            </a:r>
            <a:endParaRPr lang="en-US" sz="1193" dirty="0"/>
          </a:p>
        </p:txBody>
      </p:sp>
      <p:sp>
        <p:nvSpPr>
          <p:cNvPr id="63" name="Text 51"/>
          <p:cNvSpPr/>
          <p:nvPr/>
        </p:nvSpPr>
        <p:spPr>
          <a:xfrm>
            <a:off x="6905076" y="4073723"/>
            <a:ext cx="1524549"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FFFFFF">
                    <a:alpha val="80000"/>
                  </a:srgbClr>
                </a:solidFill>
              </a:rPr>
              <a:t>GPU Utilization</a:t>
            </a:r>
            <a:endParaRPr lang="en-US" sz="621" dirty="0"/>
          </a:p>
        </p:txBody>
      </p:sp>
      <p:sp>
        <p:nvSpPr>
          <p:cNvPr id="64" name="Shape 52"/>
          <p:cNvSpPr/>
          <p:nvPr/>
        </p:nvSpPr>
        <p:spPr>
          <a:xfrm>
            <a:off x="5130524" y="4546997"/>
            <a:ext cx="3441976" cy="712589"/>
          </a:xfrm>
          <a:prstGeom prst="rect">
            <a:avLst/>
          </a:prstGeom>
          <a:solidFill>
            <a:srgbClr val="F8F9FA"/>
          </a:solidFill>
          <a:ln/>
        </p:spPr>
      </p:sp>
      <p:sp>
        <p:nvSpPr>
          <p:cNvPr id="65" name="Shape 53"/>
          <p:cNvSpPr/>
          <p:nvPr/>
        </p:nvSpPr>
        <p:spPr>
          <a:xfrm>
            <a:off x="5130524" y="4546997"/>
            <a:ext cx="3441976" cy="14288"/>
          </a:xfrm>
          <a:prstGeom prst="rect">
            <a:avLst/>
          </a:prstGeom>
          <a:solidFill>
            <a:srgbClr val="CCCCCC"/>
          </a:solidFill>
          <a:ln/>
        </p:spPr>
      </p:sp>
      <p:sp>
        <p:nvSpPr>
          <p:cNvPr id="66" name="Text 54"/>
          <p:cNvSpPr/>
          <p:nvPr/>
        </p:nvSpPr>
        <p:spPr>
          <a:xfrm>
            <a:off x="5237680" y="4654153"/>
            <a:ext cx="3227663"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rPr>
              <a:t>Cost Optimization</a:t>
            </a:r>
            <a:endParaRPr lang="en-US" sz="784" dirty="0"/>
          </a:p>
        </p:txBody>
      </p:sp>
      <p:sp>
        <p:nvSpPr>
          <p:cNvPr id="67" name="Text 55"/>
          <p:cNvSpPr/>
          <p:nvPr/>
        </p:nvSpPr>
        <p:spPr>
          <a:xfrm>
            <a:off x="5237680" y="4866680"/>
            <a:ext cx="3227663" cy="271463"/>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666666"/>
                </a:solidFill>
              </a:rPr>
              <a:t>Tiered storage lifecycle management and on-demand node scaling prevent over-provisioning.</a:t>
            </a:r>
            <a:endParaRPr lang="en-US" sz="72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53741"/>
          </a:xfrm>
          <a:prstGeom prst="rect">
            <a:avLst/>
          </a:prstGeom>
        </p:spPr>
      </p:pic>
      <p:sp>
        <p:nvSpPr>
          <p:cNvPr id="4" name="Shape 0"/>
          <p:cNvSpPr/>
          <p:nvPr/>
        </p:nvSpPr>
        <p:spPr>
          <a:xfrm>
            <a:off x="571500" y="428625"/>
            <a:ext cx="8001000" cy="791170"/>
          </a:xfrm>
          <a:prstGeom prst="rect">
            <a:avLst/>
          </a:prstGeom>
          <a:solidFill>
            <a:srgbClr val="000000">
              <a:alpha val="0"/>
            </a:srgbClr>
          </a:solidFill>
          <a:ln/>
        </p:spPr>
      </p:sp>
      <p:sp>
        <p:nvSpPr>
          <p:cNvPr id="5" name="Shape 1"/>
          <p:cNvSpPr/>
          <p:nvPr/>
        </p:nvSpPr>
        <p:spPr>
          <a:xfrm>
            <a:off x="571500" y="1191220"/>
            <a:ext cx="8001000" cy="28575"/>
          </a:xfrm>
          <a:prstGeom prst="rect">
            <a:avLst/>
          </a:prstGeom>
          <a:solidFill>
            <a:srgbClr val="002B5C"/>
          </a:solidFill>
          <a:ln/>
        </p:spPr>
      </p:sp>
      <p:sp>
        <p:nvSpPr>
          <p:cNvPr id="6" name="Text 2"/>
          <p:cNvSpPr/>
          <p:nvPr/>
        </p:nvSpPr>
        <p:spPr>
          <a:xfrm>
            <a:off x="571500" y="428625"/>
            <a:ext cx="8001000" cy="40898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002B5C"/>
                </a:solidFill>
              </a:rPr>
              <a:t>8-Month Phased Delivery Roadmap</a:t>
            </a:r>
            <a:endParaRPr lang="en-US" sz="2121" dirty="0"/>
          </a:p>
        </p:txBody>
      </p:sp>
      <p:sp>
        <p:nvSpPr>
          <p:cNvPr id="7" name="Text 3"/>
          <p:cNvSpPr/>
          <p:nvPr/>
        </p:nvSpPr>
        <p:spPr>
          <a:xfrm>
            <a:off x="571500" y="873323"/>
            <a:ext cx="8001000" cy="175022"/>
          </a:xfrm>
          <a:prstGeom prst="rect">
            <a:avLst/>
          </a:prstGeom>
          <a:noFill/>
          <a:ln/>
        </p:spPr>
        <p:txBody>
          <a:bodyPr wrap="none" lIns="0" tIns="0" rIns="0" bIns="0" rtlCol="0" anchor="t">
            <a:spAutoFit/>
          </a:bodyPr>
          <a:lstStyle/>
          <a:p>
            <a:pPr algn="l" indent="0" marL="0">
              <a:lnSpc>
                <a:spcPts val="1200"/>
              </a:lnSpc>
              <a:buNone/>
            </a:pPr>
            <a:r>
              <a:rPr lang="en-US" sz="942" dirty="0">
                <a:solidFill>
                  <a:srgbClr val="666666"/>
                </a:solidFill>
              </a:rPr>
              <a:t>Structured Implementation Plan with Clear Milestones</a:t>
            </a:r>
            <a:endParaRPr lang="en-US" sz="942" dirty="0"/>
          </a:p>
        </p:txBody>
      </p:sp>
      <p:sp>
        <p:nvSpPr>
          <p:cNvPr id="8" name="Shape 4"/>
          <p:cNvSpPr/>
          <p:nvPr/>
        </p:nvSpPr>
        <p:spPr>
          <a:xfrm>
            <a:off x="571500" y="1655564"/>
            <a:ext cx="8001000" cy="28575"/>
          </a:xfrm>
          <a:prstGeom prst="rect">
            <a:avLst/>
          </a:prstGeom>
          <a:solidFill>
            <a:srgbClr val="002B5C"/>
          </a:solidFill>
          <a:ln/>
        </p:spPr>
      </p:sp>
      <p:sp>
        <p:nvSpPr>
          <p:cNvPr id="9" name="Shape 5"/>
          <p:cNvSpPr/>
          <p:nvPr/>
        </p:nvSpPr>
        <p:spPr>
          <a:xfrm>
            <a:off x="571500" y="1476970"/>
            <a:ext cx="1893094" cy="3380780"/>
          </a:xfrm>
          <a:prstGeom prst="rect">
            <a:avLst/>
          </a:prstGeom>
          <a:solidFill>
            <a:srgbClr val="FFFFFF"/>
          </a:solidFill>
          <a:ln w="9144">
            <a:solidFill>
              <a:srgbClr val="EEEEEE"/>
            </a:solidFill>
            <a:prstDash val="solid"/>
          </a:ln>
        </p:spPr>
      </p:sp>
      <p:sp>
        <p:nvSpPr>
          <p:cNvPr id="10" name="Shape 6"/>
          <p:cNvSpPr/>
          <p:nvPr/>
        </p:nvSpPr>
        <p:spPr>
          <a:xfrm>
            <a:off x="571500" y="1476970"/>
            <a:ext cx="1893094" cy="580430"/>
          </a:xfrm>
          <a:prstGeom prst="rect">
            <a:avLst/>
          </a:prstGeom>
          <a:solidFill>
            <a:srgbClr val="002B5C"/>
          </a:solidFill>
          <a:ln/>
        </p:spPr>
      </p:sp>
      <p:sp>
        <p:nvSpPr>
          <p:cNvPr id="11" name="Text 7"/>
          <p:cNvSpPr/>
          <p:nvPr/>
        </p:nvSpPr>
        <p:spPr>
          <a:xfrm>
            <a:off x="678656" y="1584127"/>
            <a:ext cx="1678781" cy="135731"/>
          </a:xfrm>
          <a:prstGeom prst="rect">
            <a:avLst/>
          </a:prstGeom>
          <a:noFill/>
          <a:ln/>
        </p:spPr>
        <p:txBody>
          <a:bodyPr wrap="none" lIns="0" tIns="0" rIns="0" bIns="0" rtlCol="0" anchor="t">
            <a:spAutoFit/>
          </a:bodyPr>
          <a:lstStyle/>
          <a:p>
            <a:pPr algn="ctr" indent="0" marL="0">
              <a:lnSpc>
                <a:spcPts val="900"/>
              </a:lnSpc>
              <a:buNone/>
            </a:pPr>
            <a:r>
              <a:rPr lang="en-US" sz="683" b="1" spc="1" kern="0" dirty="0">
                <a:solidFill>
                  <a:srgbClr val="FF4F00"/>
                </a:solidFill>
              </a:rPr>
              <a:t>Phase 1</a:t>
            </a:r>
            <a:endParaRPr lang="en-US" sz="683" dirty="0"/>
          </a:p>
        </p:txBody>
      </p:sp>
      <p:sp>
        <p:nvSpPr>
          <p:cNvPr id="12" name="Text 8"/>
          <p:cNvSpPr/>
          <p:nvPr/>
        </p:nvSpPr>
        <p:spPr>
          <a:xfrm>
            <a:off x="678656" y="1755577"/>
            <a:ext cx="1678781" cy="194667"/>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FFFFF"/>
                </a:solidFill>
              </a:rPr>
              <a:t>Months 1-2</a:t>
            </a:r>
            <a:endParaRPr lang="en-US" sz="987" dirty="0"/>
          </a:p>
        </p:txBody>
      </p:sp>
      <p:sp>
        <p:nvSpPr>
          <p:cNvPr id="13" name="Text 9"/>
          <p:cNvSpPr/>
          <p:nvPr/>
        </p:nvSpPr>
        <p:spPr>
          <a:xfrm>
            <a:off x="714375" y="2200275"/>
            <a:ext cx="1607344" cy="314325"/>
          </a:xfrm>
          <a:prstGeom prst="rect">
            <a:avLst/>
          </a:prstGeom>
          <a:noFill/>
          <a:ln/>
        </p:spPr>
        <p:txBody>
          <a:bodyPr wrap="square" lIns="0" tIns="0" rIns="0" bIns="0" rtlCol="0" anchor="t">
            <a:spAutoFit/>
          </a:bodyPr>
          <a:lstStyle/>
          <a:p>
            <a:pPr algn="l" indent="0" marL="0">
              <a:lnSpc>
                <a:spcPts val="1200"/>
              </a:lnSpc>
              <a:buNone/>
            </a:pPr>
            <a:r>
              <a:rPr lang="en-US" sz="885" b="1" dirty="0">
                <a:solidFill>
                  <a:srgbClr val="002B5C"/>
                </a:solidFill>
              </a:rPr>
              <a:t>Foundation &amp; Data Pipeline</a:t>
            </a:r>
            <a:endParaRPr lang="en-US" sz="885" dirty="0"/>
          </a:p>
        </p:txBody>
      </p:sp>
      <p:sp>
        <p:nvSpPr>
          <p:cNvPr id="14" name="Text 10"/>
          <p:cNvSpPr/>
          <p:nvPr/>
        </p:nvSpPr>
        <p:spPr>
          <a:xfrm>
            <a:off x="714375" y="2621756"/>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F4F00"/>
                </a:solidFill>
              </a:rPr>
              <a:t>•</a:t>
            </a:r>
            <a:endParaRPr lang="en-US" sz="683" dirty="0"/>
          </a:p>
        </p:txBody>
      </p:sp>
      <p:sp>
        <p:nvSpPr>
          <p:cNvPr id="15" name="Text 11"/>
          <p:cNvSpPr/>
          <p:nvPr/>
        </p:nvSpPr>
        <p:spPr>
          <a:xfrm>
            <a:off x="821531" y="2623542"/>
            <a:ext cx="1398975" cy="27573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555555"/>
                </a:solidFill>
              </a:rPr>
              <a:t>Data ingestion module (Multi-format support)</a:t>
            </a:r>
            <a:endParaRPr lang="en-US" sz="727" dirty="0"/>
          </a:p>
        </p:txBody>
      </p:sp>
      <p:sp>
        <p:nvSpPr>
          <p:cNvPr id="16" name="Text 12"/>
          <p:cNvSpPr/>
          <p:nvPr/>
        </p:nvSpPr>
        <p:spPr>
          <a:xfrm>
            <a:off x="714375" y="2973195"/>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F4F00"/>
                </a:solidFill>
              </a:rPr>
              <a:t>•</a:t>
            </a:r>
            <a:endParaRPr lang="en-US" sz="683" dirty="0"/>
          </a:p>
        </p:txBody>
      </p:sp>
      <p:sp>
        <p:nvSpPr>
          <p:cNvPr id="17" name="Text 13"/>
          <p:cNvSpPr/>
          <p:nvPr/>
        </p:nvSpPr>
        <p:spPr>
          <a:xfrm>
            <a:off x="821531" y="2974981"/>
            <a:ext cx="1380279" cy="27573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555555"/>
                </a:solidFill>
              </a:rPr>
              <a:t>YOLOv10 training &amp; TensorRT optimization</a:t>
            </a:r>
            <a:endParaRPr lang="en-US" sz="727" dirty="0"/>
          </a:p>
        </p:txBody>
      </p:sp>
      <p:sp>
        <p:nvSpPr>
          <p:cNvPr id="18" name="Text 14"/>
          <p:cNvSpPr/>
          <p:nvPr/>
        </p:nvSpPr>
        <p:spPr>
          <a:xfrm>
            <a:off x="714375" y="3324634"/>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F4F00"/>
                </a:solidFill>
              </a:rPr>
              <a:t>•</a:t>
            </a:r>
            <a:endParaRPr lang="en-US" sz="683" dirty="0"/>
          </a:p>
        </p:txBody>
      </p:sp>
      <p:sp>
        <p:nvSpPr>
          <p:cNvPr id="19" name="Text 15"/>
          <p:cNvSpPr/>
          <p:nvPr/>
        </p:nvSpPr>
        <p:spPr>
          <a:xfrm>
            <a:off x="821531" y="3326420"/>
            <a:ext cx="1299074" cy="27573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555555"/>
                </a:solidFill>
              </a:rPr>
              <a:t>REST API framework &amp; Auth system</a:t>
            </a:r>
            <a:endParaRPr lang="en-US" sz="727" dirty="0"/>
          </a:p>
        </p:txBody>
      </p:sp>
      <p:sp>
        <p:nvSpPr>
          <p:cNvPr id="20" name="Text 16"/>
          <p:cNvSpPr/>
          <p:nvPr/>
        </p:nvSpPr>
        <p:spPr>
          <a:xfrm>
            <a:off x="714375" y="3676073"/>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F4F00"/>
                </a:solidFill>
              </a:rPr>
              <a:t>•</a:t>
            </a:r>
            <a:endParaRPr lang="en-US" sz="683" dirty="0"/>
          </a:p>
        </p:txBody>
      </p:sp>
      <p:sp>
        <p:nvSpPr>
          <p:cNvPr id="21" name="Text 17"/>
          <p:cNvSpPr/>
          <p:nvPr/>
        </p:nvSpPr>
        <p:spPr>
          <a:xfrm>
            <a:off x="821531" y="3677859"/>
            <a:ext cx="719091"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Initial DB setup</a:t>
            </a:r>
            <a:endParaRPr lang="en-US" sz="727" dirty="0"/>
          </a:p>
        </p:txBody>
      </p:sp>
      <p:sp>
        <p:nvSpPr>
          <p:cNvPr id="22" name="Shape 18"/>
          <p:cNvSpPr/>
          <p:nvPr/>
        </p:nvSpPr>
        <p:spPr>
          <a:xfrm>
            <a:off x="714375" y="4063008"/>
            <a:ext cx="1607344" cy="651867"/>
          </a:xfrm>
          <a:prstGeom prst="rect">
            <a:avLst/>
          </a:prstGeom>
          <a:solidFill>
            <a:srgbClr val="F8F9FA"/>
          </a:solidFill>
          <a:ln/>
        </p:spPr>
      </p:sp>
      <p:sp>
        <p:nvSpPr>
          <p:cNvPr id="23" name="Shape 19"/>
          <p:cNvSpPr/>
          <p:nvPr/>
        </p:nvSpPr>
        <p:spPr>
          <a:xfrm>
            <a:off x="714375" y="4063008"/>
            <a:ext cx="1607344" cy="14288"/>
          </a:xfrm>
          <a:prstGeom prst="rect">
            <a:avLst/>
          </a:prstGeom>
          <a:solidFill>
            <a:srgbClr val="FF4F00"/>
          </a:solidFill>
          <a:ln/>
        </p:spPr>
      </p:sp>
      <p:sp>
        <p:nvSpPr>
          <p:cNvPr id="24" name="Text 20"/>
          <p:cNvSpPr/>
          <p:nvPr/>
        </p:nvSpPr>
        <p:spPr>
          <a:xfrm>
            <a:off x="821531" y="4184452"/>
            <a:ext cx="1393031"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999999"/>
                </a:solidFill>
              </a:rPr>
              <a:t>Deliverable</a:t>
            </a:r>
            <a:endParaRPr lang="en-US" sz="584" dirty="0"/>
          </a:p>
        </p:txBody>
      </p:sp>
      <p:sp>
        <p:nvSpPr>
          <p:cNvPr id="25" name="Text 21"/>
          <p:cNvSpPr/>
          <p:nvPr/>
        </p:nvSpPr>
        <p:spPr>
          <a:xfrm>
            <a:off x="821531" y="4336256"/>
            <a:ext cx="1393031" cy="271463"/>
          </a:xfrm>
          <a:prstGeom prst="rect">
            <a:avLst/>
          </a:prstGeom>
          <a:noFill/>
          <a:ln/>
        </p:spPr>
        <p:txBody>
          <a:bodyPr wrap="square" lIns="0" tIns="0" rIns="0" bIns="0" rtlCol="0" anchor="t">
            <a:spAutoFit/>
          </a:bodyPr>
          <a:lstStyle/>
          <a:p>
            <a:pPr algn="l" indent="0" marL="0">
              <a:lnSpc>
                <a:spcPts val="900"/>
              </a:lnSpc>
              <a:buNone/>
            </a:pPr>
            <a:r>
              <a:rPr lang="en-US" sz="683" b="1" dirty="0">
                <a:solidFill>
                  <a:srgbClr val="333333"/>
                </a:solidFill>
              </a:rPr>
              <a:t>Data Pipeline &amp; Foundational APIs</a:t>
            </a:r>
            <a:endParaRPr lang="en-US" sz="683" dirty="0"/>
          </a:p>
        </p:txBody>
      </p:sp>
      <p:sp>
        <p:nvSpPr>
          <p:cNvPr id="26" name="Shape 22"/>
          <p:cNvSpPr/>
          <p:nvPr/>
        </p:nvSpPr>
        <p:spPr>
          <a:xfrm>
            <a:off x="2607469" y="1476970"/>
            <a:ext cx="1893094" cy="3380780"/>
          </a:xfrm>
          <a:prstGeom prst="rect">
            <a:avLst/>
          </a:prstGeom>
          <a:solidFill>
            <a:srgbClr val="FFFFFF"/>
          </a:solidFill>
          <a:ln w="9144">
            <a:solidFill>
              <a:srgbClr val="EEEEEE"/>
            </a:solidFill>
            <a:prstDash val="solid"/>
          </a:ln>
        </p:spPr>
      </p:sp>
      <p:sp>
        <p:nvSpPr>
          <p:cNvPr id="27" name="Shape 23"/>
          <p:cNvSpPr/>
          <p:nvPr/>
        </p:nvSpPr>
        <p:spPr>
          <a:xfrm>
            <a:off x="2607469" y="1476970"/>
            <a:ext cx="1893094" cy="580430"/>
          </a:xfrm>
          <a:prstGeom prst="rect">
            <a:avLst/>
          </a:prstGeom>
          <a:solidFill>
            <a:srgbClr val="002B5C"/>
          </a:solidFill>
          <a:ln/>
        </p:spPr>
      </p:sp>
      <p:sp>
        <p:nvSpPr>
          <p:cNvPr id="28" name="Text 24"/>
          <p:cNvSpPr/>
          <p:nvPr/>
        </p:nvSpPr>
        <p:spPr>
          <a:xfrm>
            <a:off x="2714625" y="1584127"/>
            <a:ext cx="1678781" cy="135731"/>
          </a:xfrm>
          <a:prstGeom prst="rect">
            <a:avLst/>
          </a:prstGeom>
          <a:noFill/>
          <a:ln/>
        </p:spPr>
        <p:txBody>
          <a:bodyPr wrap="none" lIns="0" tIns="0" rIns="0" bIns="0" rtlCol="0" anchor="t">
            <a:spAutoFit/>
          </a:bodyPr>
          <a:lstStyle/>
          <a:p>
            <a:pPr algn="ctr" indent="0" marL="0">
              <a:lnSpc>
                <a:spcPts val="900"/>
              </a:lnSpc>
              <a:buNone/>
            </a:pPr>
            <a:r>
              <a:rPr lang="en-US" sz="683" b="1" spc="1" kern="0" dirty="0">
                <a:solidFill>
                  <a:srgbClr val="FF4F00"/>
                </a:solidFill>
              </a:rPr>
              <a:t>Phase 2</a:t>
            </a:r>
            <a:endParaRPr lang="en-US" sz="683" dirty="0"/>
          </a:p>
        </p:txBody>
      </p:sp>
      <p:sp>
        <p:nvSpPr>
          <p:cNvPr id="29" name="Text 25"/>
          <p:cNvSpPr/>
          <p:nvPr/>
        </p:nvSpPr>
        <p:spPr>
          <a:xfrm>
            <a:off x="2714625" y="1755577"/>
            <a:ext cx="1678781" cy="194667"/>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FFFFF"/>
                </a:solidFill>
              </a:rPr>
              <a:t>Months 3-4</a:t>
            </a:r>
            <a:endParaRPr lang="en-US" sz="987" dirty="0"/>
          </a:p>
        </p:txBody>
      </p:sp>
      <p:sp>
        <p:nvSpPr>
          <p:cNvPr id="30" name="Text 26"/>
          <p:cNvSpPr/>
          <p:nvPr/>
        </p:nvSpPr>
        <p:spPr>
          <a:xfrm>
            <a:off x="2750344" y="2200275"/>
            <a:ext cx="1607344" cy="314325"/>
          </a:xfrm>
          <a:prstGeom prst="rect">
            <a:avLst/>
          </a:prstGeom>
          <a:noFill/>
          <a:ln/>
        </p:spPr>
        <p:txBody>
          <a:bodyPr wrap="square" lIns="0" tIns="0" rIns="0" bIns="0" rtlCol="0" anchor="t">
            <a:spAutoFit/>
          </a:bodyPr>
          <a:lstStyle/>
          <a:p>
            <a:pPr algn="l" indent="0" marL="0">
              <a:lnSpc>
                <a:spcPts val="1200"/>
              </a:lnSpc>
              <a:buNone/>
            </a:pPr>
            <a:r>
              <a:rPr lang="en-US" sz="885" b="1" dirty="0">
                <a:solidFill>
                  <a:srgbClr val="002B5C"/>
                </a:solidFill>
              </a:rPr>
              <a:t>Core AI Functionality</a:t>
            </a:r>
            <a:endParaRPr lang="en-US" sz="885" dirty="0"/>
          </a:p>
        </p:txBody>
      </p:sp>
      <p:sp>
        <p:nvSpPr>
          <p:cNvPr id="31" name="Text 27"/>
          <p:cNvSpPr/>
          <p:nvPr/>
        </p:nvSpPr>
        <p:spPr>
          <a:xfrm>
            <a:off x="2750344" y="2621756"/>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F4F00"/>
                </a:solidFill>
              </a:rPr>
              <a:t>•</a:t>
            </a:r>
            <a:endParaRPr lang="en-US" sz="683" dirty="0"/>
          </a:p>
        </p:txBody>
      </p:sp>
      <p:sp>
        <p:nvSpPr>
          <p:cNvPr id="32" name="Text 28"/>
          <p:cNvSpPr/>
          <p:nvPr/>
        </p:nvSpPr>
        <p:spPr>
          <a:xfrm>
            <a:off x="2857500" y="2623542"/>
            <a:ext cx="1469994"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DeiT-Tiny training &amp; integration</a:t>
            </a:r>
            <a:endParaRPr lang="en-US" sz="727" dirty="0"/>
          </a:p>
        </p:txBody>
      </p:sp>
      <p:sp>
        <p:nvSpPr>
          <p:cNvPr id="33" name="Text 29"/>
          <p:cNvSpPr/>
          <p:nvPr/>
        </p:nvSpPr>
        <p:spPr>
          <a:xfrm>
            <a:off x="2750344" y="2833195"/>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F4F00"/>
                </a:solidFill>
              </a:rPr>
              <a:t>•</a:t>
            </a:r>
            <a:endParaRPr lang="en-US" sz="683" dirty="0"/>
          </a:p>
        </p:txBody>
      </p:sp>
      <p:sp>
        <p:nvSpPr>
          <p:cNvPr id="34" name="Text 30"/>
          <p:cNvSpPr/>
          <p:nvPr/>
        </p:nvSpPr>
        <p:spPr>
          <a:xfrm>
            <a:off x="2857500" y="2834980"/>
            <a:ext cx="1180951" cy="27573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555555"/>
                </a:solidFill>
              </a:rPr>
              <a:t>StyleGAN2 synthetic data generation</a:t>
            </a:r>
            <a:endParaRPr lang="en-US" sz="727" dirty="0"/>
          </a:p>
        </p:txBody>
      </p:sp>
      <p:sp>
        <p:nvSpPr>
          <p:cNvPr id="35" name="Text 31"/>
          <p:cNvSpPr/>
          <p:nvPr/>
        </p:nvSpPr>
        <p:spPr>
          <a:xfrm>
            <a:off x="2750344" y="3184634"/>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F4F00"/>
                </a:solidFill>
              </a:rPr>
              <a:t>•</a:t>
            </a:r>
            <a:endParaRPr lang="en-US" sz="683" dirty="0"/>
          </a:p>
        </p:txBody>
      </p:sp>
      <p:sp>
        <p:nvSpPr>
          <p:cNvPr id="36" name="Text 32"/>
          <p:cNvSpPr/>
          <p:nvPr/>
        </p:nvSpPr>
        <p:spPr>
          <a:xfrm>
            <a:off x="2857500" y="3186419"/>
            <a:ext cx="1153660" cy="27573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555555"/>
                </a:solidFill>
              </a:rPr>
              <a:t>Advanced augmentation pipeline</a:t>
            </a:r>
            <a:endParaRPr lang="en-US" sz="727" dirty="0"/>
          </a:p>
        </p:txBody>
      </p:sp>
      <p:sp>
        <p:nvSpPr>
          <p:cNvPr id="37" name="Text 33"/>
          <p:cNvSpPr/>
          <p:nvPr/>
        </p:nvSpPr>
        <p:spPr>
          <a:xfrm>
            <a:off x="2750344" y="3536073"/>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F4F00"/>
                </a:solidFill>
              </a:rPr>
              <a:t>•</a:t>
            </a:r>
            <a:endParaRPr lang="en-US" sz="683" dirty="0"/>
          </a:p>
        </p:txBody>
      </p:sp>
      <p:sp>
        <p:nvSpPr>
          <p:cNvPr id="38" name="Text 34"/>
          <p:cNvSpPr/>
          <p:nvPr/>
        </p:nvSpPr>
        <p:spPr>
          <a:xfrm>
            <a:off x="2857500" y="3537858"/>
            <a:ext cx="1028337"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Model ensemble logic</a:t>
            </a:r>
            <a:endParaRPr lang="en-US" sz="727" dirty="0"/>
          </a:p>
        </p:txBody>
      </p:sp>
      <p:sp>
        <p:nvSpPr>
          <p:cNvPr id="39" name="Shape 35"/>
          <p:cNvSpPr/>
          <p:nvPr/>
        </p:nvSpPr>
        <p:spPr>
          <a:xfrm>
            <a:off x="2750344" y="4063008"/>
            <a:ext cx="1607344" cy="651867"/>
          </a:xfrm>
          <a:prstGeom prst="rect">
            <a:avLst/>
          </a:prstGeom>
          <a:solidFill>
            <a:srgbClr val="F8F9FA"/>
          </a:solidFill>
          <a:ln/>
        </p:spPr>
      </p:sp>
      <p:sp>
        <p:nvSpPr>
          <p:cNvPr id="40" name="Shape 36"/>
          <p:cNvSpPr/>
          <p:nvPr/>
        </p:nvSpPr>
        <p:spPr>
          <a:xfrm>
            <a:off x="2750344" y="4063008"/>
            <a:ext cx="1607344" cy="14288"/>
          </a:xfrm>
          <a:prstGeom prst="rect">
            <a:avLst/>
          </a:prstGeom>
          <a:solidFill>
            <a:srgbClr val="FF4F00"/>
          </a:solidFill>
          <a:ln/>
        </p:spPr>
      </p:sp>
      <p:sp>
        <p:nvSpPr>
          <p:cNvPr id="41" name="Text 37"/>
          <p:cNvSpPr/>
          <p:nvPr/>
        </p:nvSpPr>
        <p:spPr>
          <a:xfrm>
            <a:off x="2857500" y="4184452"/>
            <a:ext cx="1393031"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999999"/>
                </a:solidFill>
              </a:rPr>
              <a:t>Deliverable</a:t>
            </a:r>
            <a:endParaRPr lang="en-US" sz="584" dirty="0"/>
          </a:p>
        </p:txBody>
      </p:sp>
      <p:sp>
        <p:nvSpPr>
          <p:cNvPr id="42" name="Text 38"/>
          <p:cNvSpPr/>
          <p:nvPr/>
        </p:nvSpPr>
        <p:spPr>
          <a:xfrm>
            <a:off x="2857500" y="4336256"/>
            <a:ext cx="1393031" cy="271463"/>
          </a:xfrm>
          <a:prstGeom prst="rect">
            <a:avLst/>
          </a:prstGeom>
          <a:noFill/>
          <a:ln/>
        </p:spPr>
        <p:txBody>
          <a:bodyPr wrap="square" lIns="0" tIns="0" rIns="0" bIns="0" rtlCol="0" anchor="t">
            <a:spAutoFit/>
          </a:bodyPr>
          <a:lstStyle/>
          <a:p>
            <a:pPr algn="l" indent="0" marL="0">
              <a:lnSpc>
                <a:spcPts val="900"/>
              </a:lnSpc>
              <a:buNone/>
            </a:pPr>
            <a:r>
              <a:rPr lang="en-US" sz="683" b="1" dirty="0">
                <a:solidFill>
                  <a:srgbClr val="333333"/>
                </a:solidFill>
              </a:rPr>
              <a:t>Inference Pipeline (99.1% Accuracy)</a:t>
            </a:r>
            <a:endParaRPr lang="en-US" sz="683" dirty="0"/>
          </a:p>
        </p:txBody>
      </p:sp>
      <p:sp>
        <p:nvSpPr>
          <p:cNvPr id="43" name="Shape 39"/>
          <p:cNvSpPr/>
          <p:nvPr/>
        </p:nvSpPr>
        <p:spPr>
          <a:xfrm>
            <a:off x="4643438" y="1476970"/>
            <a:ext cx="1893094" cy="3380780"/>
          </a:xfrm>
          <a:prstGeom prst="rect">
            <a:avLst/>
          </a:prstGeom>
          <a:solidFill>
            <a:srgbClr val="FFFFFF"/>
          </a:solidFill>
          <a:ln w="9144">
            <a:solidFill>
              <a:srgbClr val="EEEEEE"/>
            </a:solidFill>
            <a:prstDash val="solid"/>
          </a:ln>
        </p:spPr>
      </p:sp>
      <p:sp>
        <p:nvSpPr>
          <p:cNvPr id="44" name="Shape 40"/>
          <p:cNvSpPr/>
          <p:nvPr/>
        </p:nvSpPr>
        <p:spPr>
          <a:xfrm>
            <a:off x="4643438" y="1476970"/>
            <a:ext cx="1893094" cy="580430"/>
          </a:xfrm>
          <a:prstGeom prst="rect">
            <a:avLst/>
          </a:prstGeom>
          <a:solidFill>
            <a:srgbClr val="002B5C"/>
          </a:solidFill>
          <a:ln/>
        </p:spPr>
      </p:sp>
      <p:sp>
        <p:nvSpPr>
          <p:cNvPr id="45" name="Text 41"/>
          <p:cNvSpPr/>
          <p:nvPr/>
        </p:nvSpPr>
        <p:spPr>
          <a:xfrm>
            <a:off x="4750594" y="1584127"/>
            <a:ext cx="1678781" cy="135731"/>
          </a:xfrm>
          <a:prstGeom prst="rect">
            <a:avLst/>
          </a:prstGeom>
          <a:noFill/>
          <a:ln/>
        </p:spPr>
        <p:txBody>
          <a:bodyPr wrap="none" lIns="0" tIns="0" rIns="0" bIns="0" rtlCol="0" anchor="t">
            <a:spAutoFit/>
          </a:bodyPr>
          <a:lstStyle/>
          <a:p>
            <a:pPr algn="ctr" indent="0" marL="0">
              <a:lnSpc>
                <a:spcPts val="900"/>
              </a:lnSpc>
              <a:buNone/>
            </a:pPr>
            <a:r>
              <a:rPr lang="en-US" sz="683" b="1" spc="1" kern="0" dirty="0">
                <a:solidFill>
                  <a:srgbClr val="FF4F00"/>
                </a:solidFill>
              </a:rPr>
              <a:t>Phase 3</a:t>
            </a:r>
            <a:endParaRPr lang="en-US" sz="683" dirty="0"/>
          </a:p>
        </p:txBody>
      </p:sp>
      <p:sp>
        <p:nvSpPr>
          <p:cNvPr id="46" name="Text 42"/>
          <p:cNvSpPr/>
          <p:nvPr/>
        </p:nvSpPr>
        <p:spPr>
          <a:xfrm>
            <a:off x="4750594" y="1755577"/>
            <a:ext cx="1678781" cy="194667"/>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FFFFF"/>
                </a:solidFill>
              </a:rPr>
              <a:t>Months 5-6</a:t>
            </a:r>
            <a:endParaRPr lang="en-US" sz="987" dirty="0"/>
          </a:p>
        </p:txBody>
      </p:sp>
      <p:sp>
        <p:nvSpPr>
          <p:cNvPr id="47" name="Text 43"/>
          <p:cNvSpPr/>
          <p:nvPr/>
        </p:nvSpPr>
        <p:spPr>
          <a:xfrm>
            <a:off x="4786313" y="2200275"/>
            <a:ext cx="1607344" cy="314325"/>
          </a:xfrm>
          <a:prstGeom prst="rect">
            <a:avLst/>
          </a:prstGeom>
          <a:noFill/>
          <a:ln/>
        </p:spPr>
        <p:txBody>
          <a:bodyPr wrap="square" lIns="0" tIns="0" rIns="0" bIns="0" rtlCol="0" anchor="t">
            <a:spAutoFit/>
          </a:bodyPr>
          <a:lstStyle/>
          <a:p>
            <a:pPr algn="l" indent="0" marL="0">
              <a:lnSpc>
                <a:spcPts val="1200"/>
              </a:lnSpc>
              <a:buNone/>
            </a:pPr>
            <a:r>
              <a:rPr lang="en-US" sz="885" b="1" dirty="0">
                <a:solidFill>
                  <a:srgbClr val="002B5C"/>
                </a:solidFill>
              </a:rPr>
              <a:t>Production Readiness</a:t>
            </a:r>
            <a:endParaRPr lang="en-US" sz="885" dirty="0"/>
          </a:p>
        </p:txBody>
      </p:sp>
      <p:sp>
        <p:nvSpPr>
          <p:cNvPr id="48" name="Text 44"/>
          <p:cNvSpPr/>
          <p:nvPr/>
        </p:nvSpPr>
        <p:spPr>
          <a:xfrm>
            <a:off x="4786313" y="2621756"/>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F4F00"/>
                </a:solidFill>
              </a:rPr>
              <a:t>•</a:t>
            </a:r>
            <a:endParaRPr lang="en-US" sz="683" dirty="0"/>
          </a:p>
        </p:txBody>
      </p:sp>
      <p:sp>
        <p:nvSpPr>
          <p:cNvPr id="49" name="Text 45"/>
          <p:cNvSpPr/>
          <p:nvPr/>
        </p:nvSpPr>
        <p:spPr>
          <a:xfrm>
            <a:off x="4893469" y="2623542"/>
            <a:ext cx="1471892" cy="27573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555555"/>
                </a:solidFill>
              </a:rPr>
              <a:t>Explainability dashboard (Grad-CAM)</a:t>
            </a:r>
            <a:endParaRPr lang="en-US" sz="727" dirty="0"/>
          </a:p>
        </p:txBody>
      </p:sp>
      <p:sp>
        <p:nvSpPr>
          <p:cNvPr id="50" name="Text 46"/>
          <p:cNvSpPr/>
          <p:nvPr/>
        </p:nvSpPr>
        <p:spPr>
          <a:xfrm>
            <a:off x="4786313" y="2973195"/>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F4F00"/>
                </a:solidFill>
              </a:rPr>
              <a:t>•</a:t>
            </a:r>
            <a:endParaRPr lang="en-US" sz="683" dirty="0"/>
          </a:p>
        </p:txBody>
      </p:sp>
      <p:sp>
        <p:nvSpPr>
          <p:cNvPr id="51" name="Text 47"/>
          <p:cNvSpPr/>
          <p:nvPr/>
        </p:nvSpPr>
        <p:spPr>
          <a:xfrm>
            <a:off x="4893469" y="2974981"/>
            <a:ext cx="1456097"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MES integration &amp; Alert system</a:t>
            </a:r>
            <a:endParaRPr lang="en-US" sz="727" dirty="0"/>
          </a:p>
        </p:txBody>
      </p:sp>
      <p:sp>
        <p:nvSpPr>
          <p:cNvPr id="52" name="Text 48"/>
          <p:cNvSpPr/>
          <p:nvPr/>
        </p:nvSpPr>
        <p:spPr>
          <a:xfrm>
            <a:off x="4786313" y="3184634"/>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F4F00"/>
                </a:solidFill>
              </a:rPr>
              <a:t>•</a:t>
            </a:r>
            <a:endParaRPr lang="en-US" sz="683" dirty="0"/>
          </a:p>
        </p:txBody>
      </p:sp>
      <p:sp>
        <p:nvSpPr>
          <p:cNvPr id="53" name="Text 49"/>
          <p:cNvSpPr/>
          <p:nvPr/>
        </p:nvSpPr>
        <p:spPr>
          <a:xfrm>
            <a:off x="4893469" y="3186419"/>
            <a:ext cx="991949"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Expert feedback loop</a:t>
            </a:r>
            <a:endParaRPr lang="en-US" sz="727" dirty="0"/>
          </a:p>
        </p:txBody>
      </p:sp>
      <p:sp>
        <p:nvSpPr>
          <p:cNvPr id="54" name="Text 50"/>
          <p:cNvSpPr/>
          <p:nvPr/>
        </p:nvSpPr>
        <p:spPr>
          <a:xfrm>
            <a:off x="4786313" y="3396072"/>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F4F00"/>
                </a:solidFill>
              </a:rPr>
              <a:t>•</a:t>
            </a:r>
            <a:endParaRPr lang="en-US" sz="683" dirty="0"/>
          </a:p>
        </p:txBody>
      </p:sp>
      <p:sp>
        <p:nvSpPr>
          <p:cNvPr id="55" name="Text 51"/>
          <p:cNvSpPr/>
          <p:nvPr/>
        </p:nvSpPr>
        <p:spPr>
          <a:xfrm>
            <a:off x="4893469" y="3397858"/>
            <a:ext cx="1420295"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Batch processing optimization</a:t>
            </a:r>
            <a:endParaRPr lang="en-US" sz="727" dirty="0"/>
          </a:p>
        </p:txBody>
      </p:sp>
      <p:sp>
        <p:nvSpPr>
          <p:cNvPr id="56" name="Shape 52"/>
          <p:cNvSpPr/>
          <p:nvPr/>
        </p:nvSpPr>
        <p:spPr>
          <a:xfrm>
            <a:off x="4786313" y="4063008"/>
            <a:ext cx="1607344" cy="651867"/>
          </a:xfrm>
          <a:prstGeom prst="rect">
            <a:avLst/>
          </a:prstGeom>
          <a:solidFill>
            <a:srgbClr val="F8F9FA"/>
          </a:solidFill>
          <a:ln/>
        </p:spPr>
      </p:sp>
      <p:sp>
        <p:nvSpPr>
          <p:cNvPr id="57" name="Shape 53"/>
          <p:cNvSpPr/>
          <p:nvPr/>
        </p:nvSpPr>
        <p:spPr>
          <a:xfrm>
            <a:off x="4786313" y="4063008"/>
            <a:ext cx="1607344" cy="14288"/>
          </a:xfrm>
          <a:prstGeom prst="rect">
            <a:avLst/>
          </a:prstGeom>
          <a:solidFill>
            <a:srgbClr val="FF4F00"/>
          </a:solidFill>
          <a:ln/>
        </p:spPr>
      </p:sp>
      <p:sp>
        <p:nvSpPr>
          <p:cNvPr id="58" name="Text 54"/>
          <p:cNvSpPr/>
          <p:nvPr/>
        </p:nvSpPr>
        <p:spPr>
          <a:xfrm>
            <a:off x="4893469" y="4184452"/>
            <a:ext cx="1393031"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999999"/>
                </a:solidFill>
              </a:rPr>
              <a:t>Deliverable</a:t>
            </a:r>
            <a:endParaRPr lang="en-US" sz="584" dirty="0"/>
          </a:p>
        </p:txBody>
      </p:sp>
      <p:sp>
        <p:nvSpPr>
          <p:cNvPr id="59" name="Text 55"/>
          <p:cNvSpPr/>
          <p:nvPr/>
        </p:nvSpPr>
        <p:spPr>
          <a:xfrm>
            <a:off x="4893469" y="4336256"/>
            <a:ext cx="1393031" cy="271463"/>
          </a:xfrm>
          <a:prstGeom prst="rect">
            <a:avLst/>
          </a:prstGeom>
          <a:noFill/>
          <a:ln/>
        </p:spPr>
        <p:txBody>
          <a:bodyPr wrap="square" lIns="0" tIns="0" rIns="0" bIns="0" rtlCol="0" anchor="t">
            <a:spAutoFit/>
          </a:bodyPr>
          <a:lstStyle/>
          <a:p>
            <a:pPr algn="l" indent="0" marL="0">
              <a:lnSpc>
                <a:spcPts val="900"/>
              </a:lnSpc>
              <a:buNone/>
            </a:pPr>
            <a:r>
              <a:rPr lang="en-US" sz="683" b="1" dirty="0">
                <a:solidFill>
                  <a:srgbClr val="333333"/>
                </a:solidFill>
              </a:rPr>
              <a:t>Production Deployment Package</a:t>
            </a:r>
            <a:endParaRPr lang="en-US" sz="683" dirty="0"/>
          </a:p>
        </p:txBody>
      </p:sp>
      <p:sp>
        <p:nvSpPr>
          <p:cNvPr id="60" name="Shape 56"/>
          <p:cNvSpPr/>
          <p:nvPr/>
        </p:nvSpPr>
        <p:spPr>
          <a:xfrm>
            <a:off x="6679406" y="1476970"/>
            <a:ext cx="1893094" cy="3380780"/>
          </a:xfrm>
          <a:prstGeom prst="rect">
            <a:avLst/>
          </a:prstGeom>
          <a:solidFill>
            <a:srgbClr val="FFFFFF"/>
          </a:solidFill>
          <a:ln w="9144">
            <a:solidFill>
              <a:srgbClr val="EEEEEE"/>
            </a:solidFill>
            <a:prstDash val="solid"/>
          </a:ln>
        </p:spPr>
      </p:sp>
      <p:sp>
        <p:nvSpPr>
          <p:cNvPr id="61" name="Shape 57"/>
          <p:cNvSpPr/>
          <p:nvPr/>
        </p:nvSpPr>
        <p:spPr>
          <a:xfrm>
            <a:off x="6679406" y="1476970"/>
            <a:ext cx="1893094" cy="580430"/>
          </a:xfrm>
          <a:prstGeom prst="rect">
            <a:avLst/>
          </a:prstGeom>
          <a:solidFill>
            <a:srgbClr val="002B5C"/>
          </a:solidFill>
          <a:ln/>
        </p:spPr>
      </p:sp>
      <p:sp>
        <p:nvSpPr>
          <p:cNvPr id="62" name="Text 58"/>
          <p:cNvSpPr/>
          <p:nvPr/>
        </p:nvSpPr>
        <p:spPr>
          <a:xfrm>
            <a:off x="6786563" y="1584127"/>
            <a:ext cx="1678781" cy="135731"/>
          </a:xfrm>
          <a:prstGeom prst="rect">
            <a:avLst/>
          </a:prstGeom>
          <a:noFill/>
          <a:ln/>
        </p:spPr>
        <p:txBody>
          <a:bodyPr wrap="none" lIns="0" tIns="0" rIns="0" bIns="0" rtlCol="0" anchor="t">
            <a:spAutoFit/>
          </a:bodyPr>
          <a:lstStyle/>
          <a:p>
            <a:pPr algn="ctr" indent="0" marL="0">
              <a:lnSpc>
                <a:spcPts val="900"/>
              </a:lnSpc>
              <a:buNone/>
            </a:pPr>
            <a:r>
              <a:rPr lang="en-US" sz="683" b="1" spc="1" kern="0" dirty="0">
                <a:solidFill>
                  <a:srgbClr val="FF4F00"/>
                </a:solidFill>
              </a:rPr>
              <a:t>Phase 4</a:t>
            </a:r>
            <a:endParaRPr lang="en-US" sz="683" dirty="0"/>
          </a:p>
        </p:txBody>
      </p:sp>
      <p:sp>
        <p:nvSpPr>
          <p:cNvPr id="63" name="Text 59"/>
          <p:cNvSpPr/>
          <p:nvPr/>
        </p:nvSpPr>
        <p:spPr>
          <a:xfrm>
            <a:off x="6786563" y="1755577"/>
            <a:ext cx="1678781" cy="194667"/>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FFFFF"/>
                </a:solidFill>
              </a:rPr>
              <a:t>Months 7-8</a:t>
            </a:r>
            <a:endParaRPr lang="en-US" sz="987" dirty="0"/>
          </a:p>
        </p:txBody>
      </p:sp>
      <p:sp>
        <p:nvSpPr>
          <p:cNvPr id="64" name="Text 60"/>
          <p:cNvSpPr/>
          <p:nvPr/>
        </p:nvSpPr>
        <p:spPr>
          <a:xfrm>
            <a:off x="6822281" y="2200275"/>
            <a:ext cx="1607344" cy="314325"/>
          </a:xfrm>
          <a:prstGeom prst="rect">
            <a:avLst/>
          </a:prstGeom>
          <a:noFill/>
          <a:ln/>
        </p:spPr>
        <p:txBody>
          <a:bodyPr wrap="square" lIns="0" tIns="0" rIns="0" bIns="0" rtlCol="0" anchor="t">
            <a:spAutoFit/>
          </a:bodyPr>
          <a:lstStyle/>
          <a:p>
            <a:pPr algn="l" indent="0" marL="0">
              <a:lnSpc>
                <a:spcPts val="1200"/>
              </a:lnSpc>
              <a:buNone/>
            </a:pPr>
            <a:r>
              <a:rPr lang="en-US" sz="885" b="1" dirty="0">
                <a:solidFill>
                  <a:srgbClr val="002B5C"/>
                </a:solidFill>
              </a:rPr>
              <a:t>Optimization &amp; Scaling</a:t>
            </a:r>
            <a:endParaRPr lang="en-US" sz="885" dirty="0"/>
          </a:p>
        </p:txBody>
      </p:sp>
      <p:sp>
        <p:nvSpPr>
          <p:cNvPr id="65" name="Text 61"/>
          <p:cNvSpPr/>
          <p:nvPr/>
        </p:nvSpPr>
        <p:spPr>
          <a:xfrm>
            <a:off x="6822281" y="2621756"/>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F4F00"/>
                </a:solidFill>
              </a:rPr>
              <a:t>•</a:t>
            </a:r>
            <a:endParaRPr lang="en-US" sz="683" dirty="0"/>
          </a:p>
        </p:txBody>
      </p:sp>
      <p:sp>
        <p:nvSpPr>
          <p:cNvPr id="66" name="Text 62"/>
          <p:cNvSpPr/>
          <p:nvPr/>
        </p:nvSpPr>
        <p:spPr>
          <a:xfrm>
            <a:off x="6929438" y="2623542"/>
            <a:ext cx="1426183"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K8s auto-scaling configuration</a:t>
            </a:r>
            <a:endParaRPr lang="en-US" sz="727" dirty="0"/>
          </a:p>
        </p:txBody>
      </p:sp>
      <p:sp>
        <p:nvSpPr>
          <p:cNvPr id="67" name="Text 63"/>
          <p:cNvSpPr/>
          <p:nvPr/>
        </p:nvSpPr>
        <p:spPr>
          <a:xfrm>
            <a:off x="6822281" y="2833195"/>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F4F00"/>
                </a:solidFill>
              </a:rPr>
              <a:t>•</a:t>
            </a:r>
            <a:endParaRPr lang="en-US" sz="683" dirty="0"/>
          </a:p>
        </p:txBody>
      </p:sp>
      <p:sp>
        <p:nvSpPr>
          <p:cNvPr id="68" name="Text 64"/>
          <p:cNvSpPr/>
          <p:nvPr/>
        </p:nvSpPr>
        <p:spPr>
          <a:xfrm>
            <a:off x="6929438" y="2834980"/>
            <a:ext cx="1201155" cy="27573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555555"/>
                </a:solidFill>
              </a:rPr>
              <a:t>Production launch &amp; User training</a:t>
            </a:r>
            <a:endParaRPr lang="en-US" sz="727" dirty="0"/>
          </a:p>
        </p:txBody>
      </p:sp>
      <p:sp>
        <p:nvSpPr>
          <p:cNvPr id="69" name="Text 65"/>
          <p:cNvSpPr/>
          <p:nvPr/>
        </p:nvSpPr>
        <p:spPr>
          <a:xfrm>
            <a:off x="6822281" y="3184634"/>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F4F00"/>
                </a:solidFill>
              </a:rPr>
              <a:t>•</a:t>
            </a:r>
            <a:endParaRPr lang="en-US" sz="683" dirty="0"/>
          </a:p>
        </p:txBody>
      </p:sp>
      <p:sp>
        <p:nvSpPr>
          <p:cNvPr id="70" name="Text 66"/>
          <p:cNvSpPr/>
          <p:nvPr/>
        </p:nvSpPr>
        <p:spPr>
          <a:xfrm>
            <a:off x="6929438" y="3186419"/>
            <a:ext cx="1319278"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Performance benchmarking</a:t>
            </a:r>
            <a:endParaRPr lang="en-US" sz="727" dirty="0"/>
          </a:p>
        </p:txBody>
      </p:sp>
      <p:sp>
        <p:nvSpPr>
          <p:cNvPr id="71" name="Text 67"/>
          <p:cNvSpPr/>
          <p:nvPr/>
        </p:nvSpPr>
        <p:spPr>
          <a:xfrm>
            <a:off x="6822281" y="3396072"/>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FF4F00"/>
                </a:solidFill>
              </a:rPr>
              <a:t>•</a:t>
            </a:r>
            <a:endParaRPr lang="en-US" sz="683" dirty="0"/>
          </a:p>
        </p:txBody>
      </p:sp>
      <p:sp>
        <p:nvSpPr>
          <p:cNvPr id="72" name="Text 68"/>
          <p:cNvSpPr/>
          <p:nvPr/>
        </p:nvSpPr>
        <p:spPr>
          <a:xfrm>
            <a:off x="6929438" y="3397858"/>
            <a:ext cx="1385692"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Continuous monitoring setup</a:t>
            </a:r>
            <a:endParaRPr lang="en-US" sz="727" dirty="0"/>
          </a:p>
        </p:txBody>
      </p:sp>
      <p:sp>
        <p:nvSpPr>
          <p:cNvPr id="73" name="Shape 69"/>
          <p:cNvSpPr/>
          <p:nvPr/>
        </p:nvSpPr>
        <p:spPr>
          <a:xfrm>
            <a:off x="6822281" y="4063008"/>
            <a:ext cx="1607344" cy="651867"/>
          </a:xfrm>
          <a:prstGeom prst="rect">
            <a:avLst/>
          </a:prstGeom>
          <a:solidFill>
            <a:srgbClr val="F8F9FA"/>
          </a:solidFill>
          <a:ln/>
        </p:spPr>
      </p:sp>
      <p:sp>
        <p:nvSpPr>
          <p:cNvPr id="74" name="Shape 70"/>
          <p:cNvSpPr/>
          <p:nvPr/>
        </p:nvSpPr>
        <p:spPr>
          <a:xfrm>
            <a:off x="6822281" y="4063008"/>
            <a:ext cx="1607344" cy="14288"/>
          </a:xfrm>
          <a:prstGeom prst="rect">
            <a:avLst/>
          </a:prstGeom>
          <a:solidFill>
            <a:srgbClr val="FF4F00"/>
          </a:solidFill>
          <a:ln/>
        </p:spPr>
      </p:sp>
      <p:sp>
        <p:nvSpPr>
          <p:cNvPr id="75" name="Text 71"/>
          <p:cNvSpPr/>
          <p:nvPr/>
        </p:nvSpPr>
        <p:spPr>
          <a:xfrm>
            <a:off x="6929438" y="4184452"/>
            <a:ext cx="1393031"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999999"/>
                </a:solidFill>
              </a:rPr>
              <a:t>Deliverable</a:t>
            </a:r>
            <a:endParaRPr lang="en-US" sz="584" dirty="0"/>
          </a:p>
        </p:txBody>
      </p:sp>
      <p:sp>
        <p:nvSpPr>
          <p:cNvPr id="76" name="Text 72"/>
          <p:cNvSpPr/>
          <p:nvPr/>
        </p:nvSpPr>
        <p:spPr>
          <a:xfrm>
            <a:off x="6929438" y="4336256"/>
            <a:ext cx="1393031" cy="271463"/>
          </a:xfrm>
          <a:prstGeom prst="rect">
            <a:avLst/>
          </a:prstGeom>
          <a:noFill/>
          <a:ln/>
        </p:spPr>
        <p:txBody>
          <a:bodyPr wrap="square" lIns="0" tIns="0" rIns="0" bIns="0" rtlCol="0" anchor="t">
            <a:spAutoFit/>
          </a:bodyPr>
          <a:lstStyle/>
          <a:p>
            <a:pPr algn="l" indent="0" marL="0">
              <a:lnSpc>
                <a:spcPts val="900"/>
              </a:lnSpc>
              <a:buNone/>
            </a:pPr>
            <a:r>
              <a:rPr lang="en-US" sz="683" b="1" dirty="0">
                <a:solidFill>
                  <a:srgbClr val="333333"/>
                </a:solidFill>
              </a:rPr>
              <a:t>Fully Operational Production System</a:t>
            </a:r>
            <a:endParaRPr lang="en-US" sz="683"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53099"/>
          </a:xfrm>
          <a:prstGeom prst="rect">
            <a:avLst/>
          </a:prstGeom>
        </p:spPr>
      </p:pic>
      <p:sp>
        <p:nvSpPr>
          <p:cNvPr id="4" name="Shape 0"/>
          <p:cNvSpPr/>
          <p:nvPr/>
        </p:nvSpPr>
        <p:spPr>
          <a:xfrm>
            <a:off x="571500" y="428625"/>
            <a:ext cx="8001000" cy="791170"/>
          </a:xfrm>
          <a:prstGeom prst="rect">
            <a:avLst/>
          </a:prstGeom>
          <a:solidFill>
            <a:srgbClr val="000000">
              <a:alpha val="0"/>
            </a:srgbClr>
          </a:solidFill>
          <a:ln/>
        </p:spPr>
      </p:sp>
      <p:sp>
        <p:nvSpPr>
          <p:cNvPr id="5" name="Shape 1"/>
          <p:cNvSpPr/>
          <p:nvPr/>
        </p:nvSpPr>
        <p:spPr>
          <a:xfrm>
            <a:off x="571500" y="1191220"/>
            <a:ext cx="8001000" cy="28575"/>
          </a:xfrm>
          <a:prstGeom prst="rect">
            <a:avLst/>
          </a:prstGeom>
          <a:solidFill>
            <a:srgbClr val="002B5C"/>
          </a:solidFill>
          <a:ln/>
        </p:spPr>
      </p:sp>
      <p:sp>
        <p:nvSpPr>
          <p:cNvPr id="6" name="Text 2"/>
          <p:cNvSpPr/>
          <p:nvPr/>
        </p:nvSpPr>
        <p:spPr>
          <a:xfrm>
            <a:off x="571500" y="428625"/>
            <a:ext cx="8001000" cy="40898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002B5C"/>
                </a:solidFill>
              </a:rPr>
              <a:t>Quantifiable Success Metrics and KPIs</a:t>
            </a:r>
            <a:endParaRPr lang="en-US" sz="2121" dirty="0"/>
          </a:p>
        </p:txBody>
      </p:sp>
      <p:sp>
        <p:nvSpPr>
          <p:cNvPr id="7" name="Text 3"/>
          <p:cNvSpPr/>
          <p:nvPr/>
        </p:nvSpPr>
        <p:spPr>
          <a:xfrm>
            <a:off x="571500" y="873323"/>
            <a:ext cx="8001000" cy="175022"/>
          </a:xfrm>
          <a:prstGeom prst="rect">
            <a:avLst/>
          </a:prstGeom>
          <a:noFill/>
          <a:ln/>
        </p:spPr>
        <p:txBody>
          <a:bodyPr wrap="none" lIns="0" tIns="0" rIns="0" bIns="0" rtlCol="0" anchor="t">
            <a:spAutoFit/>
          </a:bodyPr>
          <a:lstStyle/>
          <a:p>
            <a:pPr algn="l" indent="0" marL="0">
              <a:lnSpc>
                <a:spcPts val="1200"/>
              </a:lnSpc>
              <a:buNone/>
            </a:pPr>
            <a:r>
              <a:rPr lang="en-US" sz="942" dirty="0">
                <a:solidFill>
                  <a:srgbClr val="666666"/>
                </a:solidFill>
              </a:rPr>
              <a:t>Measurable Business and Technical Outcomes</a:t>
            </a:r>
            <a:endParaRPr lang="en-US" sz="942" dirty="0"/>
          </a:p>
        </p:txBody>
      </p:sp>
      <p:sp>
        <p:nvSpPr>
          <p:cNvPr id="8" name="Text 4"/>
          <p:cNvSpPr/>
          <p:nvPr/>
        </p:nvSpPr>
        <p:spPr>
          <a:xfrm>
            <a:off x="571500" y="1476970"/>
            <a:ext cx="4169355" cy="194667"/>
          </a:xfrm>
          <a:prstGeom prst="rect">
            <a:avLst/>
          </a:prstGeom>
          <a:noFill/>
          <a:ln/>
        </p:spPr>
        <p:txBody>
          <a:bodyPr wrap="none" lIns="127508" tIns="0" rIns="0" bIns="0" rtlCol="0" anchor="t">
            <a:spAutoFit/>
          </a:bodyPr>
          <a:lstStyle/>
          <a:p>
            <a:pPr algn="l" indent="0" marL="0">
              <a:lnSpc>
                <a:spcPts val="1400"/>
              </a:lnSpc>
              <a:buNone/>
            </a:pPr>
            <a:r>
              <a:rPr lang="en-US" sz="987" b="1" dirty="0">
                <a:solidFill>
                  <a:srgbClr val="002B5C"/>
                </a:solidFill>
              </a:rPr>
              <a:t>Technical Performance</a:t>
            </a:r>
            <a:endParaRPr lang="en-US" sz="987" dirty="0"/>
          </a:p>
        </p:txBody>
      </p:sp>
      <p:sp>
        <p:nvSpPr>
          <p:cNvPr id="9" name="Shape 5"/>
          <p:cNvSpPr/>
          <p:nvPr/>
        </p:nvSpPr>
        <p:spPr>
          <a:xfrm>
            <a:off x="571500" y="1778794"/>
            <a:ext cx="1358066" cy="287536"/>
          </a:xfrm>
          <a:prstGeom prst="rect">
            <a:avLst/>
          </a:prstGeom>
          <a:solidFill>
            <a:srgbClr val="002B5C"/>
          </a:solidFill>
          <a:ln/>
        </p:spPr>
      </p:sp>
      <p:sp>
        <p:nvSpPr>
          <p:cNvPr id="10" name="Text 6"/>
          <p:cNvSpPr/>
          <p:nvPr/>
        </p:nvSpPr>
        <p:spPr>
          <a:xfrm>
            <a:off x="571500" y="1778794"/>
            <a:ext cx="1358066" cy="287536"/>
          </a:xfrm>
          <a:prstGeom prst="rect">
            <a:avLst/>
          </a:prstGeom>
          <a:noFill/>
          <a:ln/>
        </p:spPr>
        <p:txBody>
          <a:bodyPr wrap="square" lIns="127508" tIns="102108" rIns="127508" bIns="102108" rtlCol="0" anchor="ctr">
            <a:spAutoFit/>
          </a:bodyPr>
          <a:lstStyle/>
          <a:p>
            <a:pPr algn="l" indent="0" marL="0">
              <a:lnSpc>
                <a:spcPts val="800"/>
              </a:lnSpc>
              <a:buNone/>
            </a:pPr>
            <a:r>
              <a:rPr lang="en-US" sz="584" b="1" dirty="0">
                <a:solidFill>
                  <a:srgbClr val="FFFFFF"/>
                </a:solidFill>
              </a:rPr>
              <a:t>Metric</a:t>
            </a:r>
            <a:endParaRPr lang="en-US" sz="584" dirty="0"/>
          </a:p>
        </p:txBody>
      </p:sp>
      <p:sp>
        <p:nvSpPr>
          <p:cNvPr id="11" name="Shape 7"/>
          <p:cNvSpPr/>
          <p:nvPr/>
        </p:nvSpPr>
        <p:spPr>
          <a:xfrm>
            <a:off x="1929566" y="1778794"/>
            <a:ext cx="999846" cy="287536"/>
          </a:xfrm>
          <a:prstGeom prst="rect">
            <a:avLst/>
          </a:prstGeom>
          <a:solidFill>
            <a:srgbClr val="002B5C"/>
          </a:solidFill>
          <a:ln/>
        </p:spPr>
      </p:sp>
      <p:sp>
        <p:nvSpPr>
          <p:cNvPr id="12" name="Text 8"/>
          <p:cNvSpPr/>
          <p:nvPr/>
        </p:nvSpPr>
        <p:spPr>
          <a:xfrm>
            <a:off x="1929566" y="1778794"/>
            <a:ext cx="999846" cy="287536"/>
          </a:xfrm>
          <a:prstGeom prst="rect">
            <a:avLst/>
          </a:prstGeom>
          <a:noFill/>
          <a:ln/>
        </p:spPr>
        <p:txBody>
          <a:bodyPr wrap="square" lIns="127508" tIns="102108" rIns="127508" bIns="102108" rtlCol="0" anchor="ctr">
            <a:spAutoFit/>
          </a:bodyPr>
          <a:lstStyle/>
          <a:p>
            <a:pPr algn="l" indent="0" marL="0">
              <a:lnSpc>
                <a:spcPts val="800"/>
              </a:lnSpc>
              <a:buNone/>
            </a:pPr>
            <a:r>
              <a:rPr lang="en-US" sz="584" b="1" dirty="0">
                <a:solidFill>
                  <a:srgbClr val="FFFFFF"/>
                </a:solidFill>
              </a:rPr>
              <a:t>Target</a:t>
            </a:r>
            <a:endParaRPr lang="en-US" sz="584" dirty="0"/>
          </a:p>
        </p:txBody>
      </p:sp>
      <p:sp>
        <p:nvSpPr>
          <p:cNvPr id="13" name="Shape 9"/>
          <p:cNvSpPr/>
          <p:nvPr/>
        </p:nvSpPr>
        <p:spPr>
          <a:xfrm>
            <a:off x="2929412" y="1778794"/>
            <a:ext cx="779366" cy="287536"/>
          </a:xfrm>
          <a:prstGeom prst="rect">
            <a:avLst/>
          </a:prstGeom>
          <a:solidFill>
            <a:srgbClr val="002B5C"/>
          </a:solidFill>
          <a:ln/>
        </p:spPr>
      </p:sp>
      <p:sp>
        <p:nvSpPr>
          <p:cNvPr id="14" name="Text 10"/>
          <p:cNvSpPr/>
          <p:nvPr/>
        </p:nvSpPr>
        <p:spPr>
          <a:xfrm>
            <a:off x="2929412" y="1778794"/>
            <a:ext cx="779366" cy="287536"/>
          </a:xfrm>
          <a:prstGeom prst="rect">
            <a:avLst/>
          </a:prstGeom>
          <a:noFill/>
          <a:ln/>
        </p:spPr>
        <p:txBody>
          <a:bodyPr wrap="square" lIns="127508" tIns="102108" rIns="127508" bIns="102108" rtlCol="0" anchor="ctr">
            <a:spAutoFit/>
          </a:bodyPr>
          <a:lstStyle/>
          <a:p>
            <a:pPr algn="l" indent="0" marL="0">
              <a:lnSpc>
                <a:spcPts val="800"/>
              </a:lnSpc>
              <a:buNone/>
            </a:pPr>
            <a:r>
              <a:rPr lang="en-US" sz="584" b="1" dirty="0">
                <a:solidFill>
                  <a:srgbClr val="FFFFFF"/>
                </a:solidFill>
              </a:rPr>
              <a:t>Baseline</a:t>
            </a:r>
            <a:endParaRPr lang="en-US" sz="584" dirty="0"/>
          </a:p>
        </p:txBody>
      </p:sp>
      <p:sp>
        <p:nvSpPr>
          <p:cNvPr id="15" name="Shape 11"/>
          <p:cNvSpPr/>
          <p:nvPr/>
        </p:nvSpPr>
        <p:spPr>
          <a:xfrm>
            <a:off x="3708778" y="1778794"/>
            <a:ext cx="1032077" cy="287536"/>
          </a:xfrm>
          <a:prstGeom prst="rect">
            <a:avLst/>
          </a:prstGeom>
          <a:solidFill>
            <a:srgbClr val="002B5C"/>
          </a:solidFill>
          <a:ln/>
        </p:spPr>
      </p:sp>
      <p:sp>
        <p:nvSpPr>
          <p:cNvPr id="16" name="Text 12"/>
          <p:cNvSpPr/>
          <p:nvPr/>
        </p:nvSpPr>
        <p:spPr>
          <a:xfrm>
            <a:off x="3708778" y="1778794"/>
            <a:ext cx="1032077" cy="287536"/>
          </a:xfrm>
          <a:prstGeom prst="rect">
            <a:avLst/>
          </a:prstGeom>
          <a:noFill/>
          <a:ln/>
        </p:spPr>
        <p:txBody>
          <a:bodyPr wrap="square" lIns="127508" tIns="102108" rIns="127508" bIns="102108" rtlCol="0" anchor="ctr">
            <a:spAutoFit/>
          </a:bodyPr>
          <a:lstStyle/>
          <a:p>
            <a:pPr algn="l" indent="0" marL="0">
              <a:lnSpc>
                <a:spcPts val="800"/>
              </a:lnSpc>
              <a:buNone/>
            </a:pPr>
            <a:r>
              <a:rPr lang="en-US" sz="584" b="1" dirty="0">
                <a:solidFill>
                  <a:srgbClr val="FFFFFF"/>
                </a:solidFill>
              </a:rPr>
              <a:t>Improvement</a:t>
            </a:r>
            <a:endParaRPr lang="en-US" sz="584" dirty="0"/>
          </a:p>
        </p:txBody>
      </p:sp>
      <p:sp>
        <p:nvSpPr>
          <p:cNvPr id="17" name="Text 13"/>
          <p:cNvSpPr/>
          <p:nvPr/>
        </p:nvSpPr>
        <p:spPr>
          <a:xfrm>
            <a:off x="571500" y="2066330"/>
            <a:ext cx="1358066" cy="353616"/>
          </a:xfrm>
          <a:prstGeom prst="rect">
            <a:avLst/>
          </a:prstGeom>
          <a:noFill/>
          <a:ln/>
        </p:spPr>
        <p:txBody>
          <a:bodyPr wrap="square" lIns="127508" tIns="127508" rIns="127508" bIns="127508" rtlCol="0" anchor="ctr">
            <a:spAutoFit/>
          </a:bodyPr>
          <a:lstStyle/>
          <a:p>
            <a:pPr algn="l" indent="0" marL="0">
              <a:lnSpc>
                <a:spcPts val="900"/>
              </a:lnSpc>
              <a:buNone/>
            </a:pPr>
            <a:r>
              <a:rPr lang="en-US" sz="683" b="1" dirty="0">
                <a:solidFill>
                  <a:srgbClr val="333333"/>
                </a:solidFill>
              </a:rPr>
              <a:t>Defect Accuracy</a:t>
            </a:r>
            <a:endParaRPr lang="en-US" sz="683" dirty="0"/>
          </a:p>
        </p:txBody>
      </p:sp>
      <p:sp>
        <p:nvSpPr>
          <p:cNvPr id="18" name="Text 14"/>
          <p:cNvSpPr/>
          <p:nvPr/>
        </p:nvSpPr>
        <p:spPr>
          <a:xfrm>
            <a:off x="1929566" y="2066330"/>
            <a:ext cx="999846" cy="353616"/>
          </a:xfrm>
          <a:prstGeom prst="rect">
            <a:avLst/>
          </a:prstGeom>
          <a:noFill/>
          <a:ln/>
        </p:spPr>
        <p:txBody>
          <a:bodyPr wrap="square" lIns="127508" tIns="127508" rIns="127508" bIns="127508" rtlCol="0" anchor="ctr">
            <a:spAutoFit/>
          </a:bodyPr>
          <a:lstStyle/>
          <a:p>
            <a:pPr algn="l" indent="0" marL="0">
              <a:lnSpc>
                <a:spcPts val="900"/>
              </a:lnSpc>
              <a:buNone/>
            </a:pPr>
            <a:r>
              <a:rPr lang="en-US" sz="683" b="1" dirty="0">
                <a:solidFill>
                  <a:srgbClr val="333333"/>
                </a:solidFill>
              </a:rPr>
              <a:t>≥ 99%</a:t>
            </a:r>
            <a:endParaRPr lang="en-US" sz="683" dirty="0"/>
          </a:p>
        </p:txBody>
      </p:sp>
      <p:sp>
        <p:nvSpPr>
          <p:cNvPr id="19" name="Text 15"/>
          <p:cNvSpPr/>
          <p:nvPr/>
        </p:nvSpPr>
        <p:spPr>
          <a:xfrm>
            <a:off x="2929412" y="2066330"/>
            <a:ext cx="779366" cy="353616"/>
          </a:xfrm>
          <a:prstGeom prst="rect">
            <a:avLst/>
          </a:prstGeom>
          <a:noFill/>
          <a:ln/>
        </p:spPr>
        <p:txBody>
          <a:bodyPr wrap="square" lIns="127508" tIns="127508" rIns="127508" bIns="127508" rtlCol="0" anchor="ctr">
            <a:spAutoFit/>
          </a:bodyPr>
          <a:lstStyle/>
          <a:p>
            <a:pPr algn="l" indent="0" marL="0">
              <a:lnSpc>
                <a:spcPts val="900"/>
              </a:lnSpc>
              <a:buNone/>
            </a:pPr>
            <a:r>
              <a:rPr lang="en-US" sz="674" dirty="0">
                <a:solidFill>
                  <a:srgbClr val="333333"/>
                </a:solidFill>
              </a:rPr>
              <a:t>85-90%</a:t>
            </a:r>
            <a:endParaRPr lang="en-US" sz="674" dirty="0"/>
          </a:p>
        </p:txBody>
      </p:sp>
      <p:sp>
        <p:nvSpPr>
          <p:cNvPr id="20" name="Text 16"/>
          <p:cNvSpPr/>
          <p:nvPr/>
        </p:nvSpPr>
        <p:spPr>
          <a:xfrm>
            <a:off x="3708778" y="2066330"/>
            <a:ext cx="1032077" cy="353616"/>
          </a:xfrm>
          <a:prstGeom prst="rect">
            <a:avLst/>
          </a:prstGeom>
          <a:noFill/>
          <a:ln/>
        </p:spPr>
        <p:txBody>
          <a:bodyPr wrap="square" lIns="127508" tIns="127508" rIns="127508" bIns="127508" rtlCol="0" anchor="ctr">
            <a:spAutoFit/>
          </a:bodyPr>
          <a:lstStyle/>
          <a:p>
            <a:pPr algn="l" indent="0" marL="0">
              <a:lnSpc>
                <a:spcPts val="900"/>
              </a:lnSpc>
              <a:buNone/>
            </a:pPr>
            <a:r>
              <a:rPr lang="en-US" sz="683" b="1" dirty="0">
                <a:solidFill>
                  <a:srgbClr val="333333"/>
                </a:solidFill>
              </a:rPr>
              <a:t>+9-14%</a:t>
            </a:r>
            <a:endParaRPr lang="en-US" sz="683" dirty="0"/>
          </a:p>
        </p:txBody>
      </p:sp>
      <p:sp>
        <p:nvSpPr>
          <p:cNvPr id="21" name="Text 17"/>
          <p:cNvSpPr/>
          <p:nvPr/>
        </p:nvSpPr>
        <p:spPr>
          <a:xfrm>
            <a:off x="571500" y="2419945"/>
            <a:ext cx="1358066" cy="357188"/>
          </a:xfrm>
          <a:prstGeom prst="rect">
            <a:avLst/>
          </a:prstGeom>
          <a:noFill/>
          <a:ln/>
        </p:spPr>
        <p:txBody>
          <a:bodyPr wrap="square" lIns="127508" tIns="127508" rIns="127508" bIns="127508" rtlCol="0" anchor="ctr">
            <a:spAutoFit/>
          </a:bodyPr>
          <a:lstStyle/>
          <a:p>
            <a:pPr algn="l" indent="0" marL="0">
              <a:lnSpc>
                <a:spcPts val="900"/>
              </a:lnSpc>
              <a:buNone/>
            </a:pPr>
            <a:r>
              <a:rPr lang="en-US" sz="683" b="1" dirty="0">
                <a:solidFill>
                  <a:srgbClr val="333333"/>
                </a:solidFill>
              </a:rPr>
              <a:t>False Alarm Rate</a:t>
            </a:r>
            <a:endParaRPr lang="en-US" sz="683" dirty="0"/>
          </a:p>
        </p:txBody>
      </p:sp>
      <p:sp>
        <p:nvSpPr>
          <p:cNvPr id="22" name="Text 18"/>
          <p:cNvSpPr/>
          <p:nvPr/>
        </p:nvSpPr>
        <p:spPr>
          <a:xfrm>
            <a:off x="1929566" y="2419945"/>
            <a:ext cx="999846" cy="357188"/>
          </a:xfrm>
          <a:prstGeom prst="rect">
            <a:avLst/>
          </a:prstGeom>
          <a:noFill/>
          <a:ln/>
        </p:spPr>
        <p:txBody>
          <a:bodyPr wrap="square" lIns="127508" tIns="127508" rIns="127508" bIns="127508" rtlCol="0" anchor="ctr">
            <a:spAutoFit/>
          </a:bodyPr>
          <a:lstStyle/>
          <a:p>
            <a:pPr algn="l" indent="0" marL="0">
              <a:lnSpc>
                <a:spcPts val="900"/>
              </a:lnSpc>
              <a:buNone/>
            </a:pPr>
            <a:r>
              <a:rPr lang="en-US" sz="683" b="1" dirty="0">
                <a:solidFill>
                  <a:srgbClr val="333333"/>
                </a:solidFill>
              </a:rPr>
              <a:t>&lt; 5%</a:t>
            </a:r>
            <a:endParaRPr lang="en-US" sz="683" dirty="0"/>
          </a:p>
        </p:txBody>
      </p:sp>
      <p:sp>
        <p:nvSpPr>
          <p:cNvPr id="23" name="Text 19"/>
          <p:cNvSpPr/>
          <p:nvPr/>
        </p:nvSpPr>
        <p:spPr>
          <a:xfrm>
            <a:off x="2929412" y="2419945"/>
            <a:ext cx="779366" cy="357188"/>
          </a:xfrm>
          <a:prstGeom prst="rect">
            <a:avLst/>
          </a:prstGeom>
          <a:noFill/>
          <a:ln/>
        </p:spPr>
        <p:txBody>
          <a:bodyPr wrap="square" lIns="127508" tIns="127508" rIns="127508" bIns="127508" rtlCol="0" anchor="ctr">
            <a:spAutoFit/>
          </a:bodyPr>
          <a:lstStyle/>
          <a:p>
            <a:pPr algn="l" indent="0" marL="0">
              <a:lnSpc>
                <a:spcPts val="900"/>
              </a:lnSpc>
              <a:buNone/>
            </a:pPr>
            <a:r>
              <a:rPr lang="en-US" sz="674" dirty="0">
                <a:solidFill>
                  <a:srgbClr val="333333"/>
                </a:solidFill>
              </a:rPr>
              <a:t>10-15%</a:t>
            </a:r>
            <a:endParaRPr lang="en-US" sz="674" dirty="0"/>
          </a:p>
        </p:txBody>
      </p:sp>
      <p:sp>
        <p:nvSpPr>
          <p:cNvPr id="24" name="Text 20"/>
          <p:cNvSpPr/>
          <p:nvPr/>
        </p:nvSpPr>
        <p:spPr>
          <a:xfrm>
            <a:off x="3708778" y="2419945"/>
            <a:ext cx="1032077" cy="357188"/>
          </a:xfrm>
          <a:prstGeom prst="rect">
            <a:avLst/>
          </a:prstGeom>
          <a:noFill/>
          <a:ln/>
        </p:spPr>
        <p:txBody>
          <a:bodyPr wrap="square" lIns="127508" tIns="127508" rIns="127508" bIns="127508" rtlCol="0" anchor="ctr">
            <a:spAutoFit/>
          </a:bodyPr>
          <a:lstStyle/>
          <a:p>
            <a:pPr algn="l" indent="0" marL="0">
              <a:lnSpc>
                <a:spcPts val="900"/>
              </a:lnSpc>
              <a:buNone/>
            </a:pPr>
            <a:r>
              <a:rPr lang="en-US" sz="683" b="1" dirty="0">
                <a:solidFill>
                  <a:srgbClr val="333333"/>
                </a:solidFill>
              </a:rPr>
              <a:t>-5-10%</a:t>
            </a:r>
            <a:endParaRPr lang="en-US" sz="683" dirty="0"/>
          </a:p>
        </p:txBody>
      </p:sp>
      <p:sp>
        <p:nvSpPr>
          <p:cNvPr id="25" name="Text 21"/>
          <p:cNvSpPr/>
          <p:nvPr/>
        </p:nvSpPr>
        <p:spPr>
          <a:xfrm>
            <a:off x="571500" y="2777133"/>
            <a:ext cx="1358066" cy="357188"/>
          </a:xfrm>
          <a:prstGeom prst="rect">
            <a:avLst/>
          </a:prstGeom>
          <a:noFill/>
          <a:ln/>
        </p:spPr>
        <p:txBody>
          <a:bodyPr wrap="square" lIns="127508" tIns="127508" rIns="127508" bIns="127508" rtlCol="0" anchor="ctr">
            <a:spAutoFit/>
          </a:bodyPr>
          <a:lstStyle/>
          <a:p>
            <a:pPr algn="l" indent="0" marL="0">
              <a:lnSpc>
                <a:spcPts val="900"/>
              </a:lnSpc>
              <a:buNone/>
            </a:pPr>
            <a:r>
              <a:rPr lang="en-US" sz="683" b="1" dirty="0">
                <a:solidFill>
                  <a:srgbClr val="333333"/>
                </a:solidFill>
              </a:rPr>
              <a:t>Inference Latency</a:t>
            </a:r>
            <a:endParaRPr lang="en-US" sz="683" dirty="0"/>
          </a:p>
        </p:txBody>
      </p:sp>
      <p:sp>
        <p:nvSpPr>
          <p:cNvPr id="26" name="Text 22"/>
          <p:cNvSpPr/>
          <p:nvPr/>
        </p:nvSpPr>
        <p:spPr>
          <a:xfrm>
            <a:off x="1929566" y="2777133"/>
            <a:ext cx="999846" cy="357188"/>
          </a:xfrm>
          <a:prstGeom prst="rect">
            <a:avLst/>
          </a:prstGeom>
          <a:noFill/>
          <a:ln/>
        </p:spPr>
        <p:txBody>
          <a:bodyPr wrap="square" lIns="127508" tIns="127508" rIns="127508" bIns="127508" rtlCol="0" anchor="ctr">
            <a:spAutoFit/>
          </a:bodyPr>
          <a:lstStyle/>
          <a:p>
            <a:pPr algn="l" indent="0" marL="0">
              <a:lnSpc>
                <a:spcPts val="900"/>
              </a:lnSpc>
              <a:buNone/>
            </a:pPr>
            <a:r>
              <a:rPr lang="en-US" sz="683" b="1" dirty="0">
                <a:solidFill>
                  <a:srgbClr val="333333"/>
                </a:solidFill>
              </a:rPr>
              <a:t>≤ 50ms</a:t>
            </a:r>
            <a:endParaRPr lang="en-US" sz="683" dirty="0"/>
          </a:p>
        </p:txBody>
      </p:sp>
      <p:sp>
        <p:nvSpPr>
          <p:cNvPr id="27" name="Text 23"/>
          <p:cNvSpPr/>
          <p:nvPr/>
        </p:nvSpPr>
        <p:spPr>
          <a:xfrm>
            <a:off x="2929412" y="2777133"/>
            <a:ext cx="779366" cy="357188"/>
          </a:xfrm>
          <a:prstGeom prst="rect">
            <a:avLst/>
          </a:prstGeom>
          <a:noFill/>
          <a:ln/>
        </p:spPr>
        <p:txBody>
          <a:bodyPr wrap="square" lIns="127508" tIns="127508" rIns="127508" bIns="127508" rtlCol="0" anchor="ctr">
            <a:spAutoFit/>
          </a:bodyPr>
          <a:lstStyle/>
          <a:p>
            <a:pPr algn="l" indent="0" marL="0">
              <a:lnSpc>
                <a:spcPts val="900"/>
              </a:lnSpc>
              <a:buNone/>
            </a:pPr>
            <a:r>
              <a:rPr lang="en-US" sz="674" dirty="0">
                <a:solidFill>
                  <a:srgbClr val="333333"/>
                </a:solidFill>
              </a:rPr>
              <a:t>2-4 Hours</a:t>
            </a:r>
            <a:endParaRPr lang="en-US" sz="674" dirty="0"/>
          </a:p>
        </p:txBody>
      </p:sp>
      <p:sp>
        <p:nvSpPr>
          <p:cNvPr id="28" name="Text 24"/>
          <p:cNvSpPr/>
          <p:nvPr/>
        </p:nvSpPr>
        <p:spPr>
          <a:xfrm>
            <a:off x="3708778" y="2777133"/>
            <a:ext cx="1032077" cy="357188"/>
          </a:xfrm>
          <a:prstGeom prst="rect">
            <a:avLst/>
          </a:prstGeom>
          <a:noFill/>
          <a:ln/>
        </p:spPr>
        <p:txBody>
          <a:bodyPr wrap="square" lIns="127508" tIns="127508" rIns="127508" bIns="127508" rtlCol="0" anchor="ctr">
            <a:spAutoFit/>
          </a:bodyPr>
          <a:lstStyle/>
          <a:p>
            <a:pPr algn="l" indent="0" marL="0">
              <a:lnSpc>
                <a:spcPts val="900"/>
              </a:lnSpc>
              <a:buNone/>
            </a:pPr>
            <a:r>
              <a:rPr lang="en-US" sz="683" b="1" dirty="0">
                <a:solidFill>
                  <a:srgbClr val="333333"/>
                </a:solidFill>
              </a:rPr>
              <a:t>99.9%</a:t>
            </a:r>
            <a:endParaRPr lang="en-US" sz="683" dirty="0"/>
          </a:p>
        </p:txBody>
      </p:sp>
      <p:sp>
        <p:nvSpPr>
          <p:cNvPr id="29" name="Text 25"/>
          <p:cNvSpPr/>
          <p:nvPr/>
        </p:nvSpPr>
        <p:spPr>
          <a:xfrm>
            <a:off x="571500" y="3134320"/>
            <a:ext cx="1358066" cy="357188"/>
          </a:xfrm>
          <a:prstGeom prst="rect">
            <a:avLst/>
          </a:prstGeom>
          <a:noFill/>
          <a:ln/>
        </p:spPr>
        <p:txBody>
          <a:bodyPr wrap="square" lIns="127508" tIns="127508" rIns="127508" bIns="127508" rtlCol="0" anchor="ctr">
            <a:spAutoFit/>
          </a:bodyPr>
          <a:lstStyle/>
          <a:p>
            <a:pPr algn="l" indent="0" marL="0">
              <a:lnSpc>
                <a:spcPts val="900"/>
              </a:lnSpc>
              <a:buNone/>
            </a:pPr>
            <a:r>
              <a:rPr lang="en-US" sz="683" b="1" dirty="0">
                <a:solidFill>
                  <a:srgbClr val="333333"/>
                </a:solidFill>
              </a:rPr>
              <a:t>Throughput</a:t>
            </a:r>
            <a:endParaRPr lang="en-US" sz="683" dirty="0"/>
          </a:p>
        </p:txBody>
      </p:sp>
      <p:sp>
        <p:nvSpPr>
          <p:cNvPr id="30" name="Text 26"/>
          <p:cNvSpPr/>
          <p:nvPr/>
        </p:nvSpPr>
        <p:spPr>
          <a:xfrm>
            <a:off x="1929566" y="3134320"/>
            <a:ext cx="999846" cy="357188"/>
          </a:xfrm>
          <a:prstGeom prst="rect">
            <a:avLst/>
          </a:prstGeom>
          <a:noFill/>
          <a:ln/>
        </p:spPr>
        <p:txBody>
          <a:bodyPr wrap="square" lIns="127508" tIns="127508" rIns="127508" bIns="127508" rtlCol="0" anchor="ctr">
            <a:spAutoFit/>
          </a:bodyPr>
          <a:lstStyle/>
          <a:p>
            <a:pPr algn="l" indent="0" marL="0">
              <a:lnSpc>
                <a:spcPts val="900"/>
              </a:lnSpc>
              <a:buNone/>
            </a:pPr>
            <a:r>
              <a:rPr lang="en-US" sz="683" b="1" dirty="0">
                <a:solidFill>
                  <a:srgbClr val="333333"/>
                </a:solidFill>
              </a:rPr>
              <a:t>≥ 1000 WPH</a:t>
            </a:r>
            <a:endParaRPr lang="en-US" sz="683" dirty="0"/>
          </a:p>
        </p:txBody>
      </p:sp>
      <p:sp>
        <p:nvSpPr>
          <p:cNvPr id="31" name="Text 27"/>
          <p:cNvSpPr/>
          <p:nvPr/>
        </p:nvSpPr>
        <p:spPr>
          <a:xfrm>
            <a:off x="2929412" y="3134320"/>
            <a:ext cx="779366" cy="357188"/>
          </a:xfrm>
          <a:prstGeom prst="rect">
            <a:avLst/>
          </a:prstGeom>
          <a:noFill/>
          <a:ln/>
        </p:spPr>
        <p:txBody>
          <a:bodyPr wrap="square" lIns="127508" tIns="127508" rIns="127508" bIns="127508" rtlCol="0" anchor="ctr">
            <a:spAutoFit/>
          </a:bodyPr>
          <a:lstStyle/>
          <a:p>
            <a:pPr algn="l" indent="0" marL="0">
              <a:lnSpc>
                <a:spcPts val="900"/>
              </a:lnSpc>
              <a:buNone/>
            </a:pPr>
            <a:r>
              <a:rPr lang="en-US" sz="674" dirty="0">
                <a:solidFill>
                  <a:srgbClr val="333333"/>
                </a:solidFill>
              </a:rPr>
              <a:t>100-200</a:t>
            </a:r>
            <a:endParaRPr lang="en-US" sz="674" dirty="0"/>
          </a:p>
        </p:txBody>
      </p:sp>
      <p:sp>
        <p:nvSpPr>
          <p:cNvPr id="32" name="Text 28"/>
          <p:cNvSpPr/>
          <p:nvPr/>
        </p:nvSpPr>
        <p:spPr>
          <a:xfrm>
            <a:off x="3708778" y="3134320"/>
            <a:ext cx="1032077" cy="357188"/>
          </a:xfrm>
          <a:prstGeom prst="rect">
            <a:avLst/>
          </a:prstGeom>
          <a:noFill/>
          <a:ln/>
        </p:spPr>
        <p:txBody>
          <a:bodyPr wrap="square" lIns="127508" tIns="127508" rIns="127508" bIns="127508" rtlCol="0" anchor="ctr">
            <a:spAutoFit/>
          </a:bodyPr>
          <a:lstStyle/>
          <a:p>
            <a:pPr algn="l" indent="0" marL="0">
              <a:lnSpc>
                <a:spcPts val="900"/>
              </a:lnSpc>
              <a:buNone/>
            </a:pPr>
            <a:r>
              <a:rPr lang="en-US" sz="683" b="1" dirty="0">
                <a:solidFill>
                  <a:srgbClr val="333333"/>
                </a:solidFill>
              </a:rPr>
              <a:t>5-10x</a:t>
            </a:r>
            <a:endParaRPr lang="en-US" sz="683" dirty="0"/>
          </a:p>
        </p:txBody>
      </p:sp>
      <p:sp>
        <p:nvSpPr>
          <p:cNvPr id="33" name="Text 29"/>
          <p:cNvSpPr/>
          <p:nvPr/>
        </p:nvSpPr>
        <p:spPr>
          <a:xfrm>
            <a:off x="571500" y="3491508"/>
            <a:ext cx="1358066" cy="360759"/>
          </a:xfrm>
          <a:prstGeom prst="rect">
            <a:avLst/>
          </a:prstGeom>
          <a:noFill/>
          <a:ln/>
        </p:spPr>
        <p:txBody>
          <a:bodyPr wrap="square" lIns="127508" tIns="127508" rIns="127508" bIns="127508" rtlCol="0" anchor="ctr">
            <a:spAutoFit/>
          </a:bodyPr>
          <a:lstStyle/>
          <a:p>
            <a:pPr algn="l" indent="0" marL="0">
              <a:lnSpc>
                <a:spcPts val="900"/>
              </a:lnSpc>
              <a:buNone/>
            </a:pPr>
            <a:r>
              <a:rPr lang="en-US" sz="683" b="1" dirty="0">
                <a:solidFill>
                  <a:srgbClr val="333333"/>
                </a:solidFill>
              </a:rPr>
              <a:t>Availability</a:t>
            </a:r>
            <a:endParaRPr lang="en-US" sz="683" dirty="0"/>
          </a:p>
        </p:txBody>
      </p:sp>
      <p:sp>
        <p:nvSpPr>
          <p:cNvPr id="34" name="Text 30"/>
          <p:cNvSpPr/>
          <p:nvPr/>
        </p:nvSpPr>
        <p:spPr>
          <a:xfrm>
            <a:off x="1929566" y="3491508"/>
            <a:ext cx="999846" cy="360759"/>
          </a:xfrm>
          <a:prstGeom prst="rect">
            <a:avLst/>
          </a:prstGeom>
          <a:noFill/>
          <a:ln/>
        </p:spPr>
        <p:txBody>
          <a:bodyPr wrap="square" lIns="127508" tIns="127508" rIns="127508" bIns="127508" rtlCol="0" anchor="ctr">
            <a:spAutoFit/>
          </a:bodyPr>
          <a:lstStyle/>
          <a:p>
            <a:pPr algn="l" indent="0" marL="0">
              <a:lnSpc>
                <a:spcPts val="900"/>
              </a:lnSpc>
              <a:buNone/>
            </a:pPr>
            <a:r>
              <a:rPr lang="en-US" sz="683" b="1" dirty="0">
                <a:solidFill>
                  <a:srgbClr val="333333"/>
                </a:solidFill>
              </a:rPr>
              <a:t>≥ 99.5%</a:t>
            </a:r>
            <a:endParaRPr lang="en-US" sz="683" dirty="0"/>
          </a:p>
        </p:txBody>
      </p:sp>
      <p:sp>
        <p:nvSpPr>
          <p:cNvPr id="35" name="Text 31"/>
          <p:cNvSpPr/>
          <p:nvPr/>
        </p:nvSpPr>
        <p:spPr>
          <a:xfrm>
            <a:off x="2929412" y="3491508"/>
            <a:ext cx="779366" cy="360759"/>
          </a:xfrm>
          <a:prstGeom prst="rect">
            <a:avLst/>
          </a:prstGeom>
          <a:noFill/>
          <a:ln/>
        </p:spPr>
        <p:txBody>
          <a:bodyPr wrap="square" lIns="127508" tIns="127508" rIns="127508" bIns="127508" rtlCol="0" anchor="ctr">
            <a:spAutoFit/>
          </a:bodyPr>
          <a:lstStyle/>
          <a:p>
            <a:pPr algn="l" indent="0" marL="0">
              <a:lnSpc>
                <a:spcPts val="900"/>
              </a:lnSpc>
              <a:buNone/>
            </a:pPr>
            <a:r>
              <a:rPr lang="en-US" sz="674" dirty="0">
                <a:solidFill>
                  <a:srgbClr val="333333"/>
                </a:solidFill>
              </a:rPr>
              <a:t>95%</a:t>
            </a:r>
            <a:endParaRPr lang="en-US" sz="674" dirty="0"/>
          </a:p>
        </p:txBody>
      </p:sp>
      <p:sp>
        <p:nvSpPr>
          <p:cNvPr id="36" name="Text 32"/>
          <p:cNvSpPr/>
          <p:nvPr/>
        </p:nvSpPr>
        <p:spPr>
          <a:xfrm>
            <a:off x="3708778" y="3491508"/>
            <a:ext cx="1032077" cy="360759"/>
          </a:xfrm>
          <a:prstGeom prst="rect">
            <a:avLst/>
          </a:prstGeom>
          <a:noFill/>
          <a:ln/>
        </p:spPr>
        <p:txBody>
          <a:bodyPr wrap="square" lIns="127508" tIns="127508" rIns="127508" bIns="127508" rtlCol="0" anchor="ctr">
            <a:spAutoFit/>
          </a:bodyPr>
          <a:lstStyle/>
          <a:p>
            <a:pPr algn="l" indent="0" marL="0">
              <a:lnSpc>
                <a:spcPts val="900"/>
              </a:lnSpc>
              <a:buNone/>
            </a:pPr>
            <a:r>
              <a:rPr lang="en-US" sz="683" b="1" dirty="0">
                <a:solidFill>
                  <a:srgbClr val="333333"/>
                </a:solidFill>
              </a:rPr>
              <a:t>+4.5%</a:t>
            </a:r>
            <a:endParaRPr lang="en-US" sz="683" dirty="0"/>
          </a:p>
        </p:txBody>
      </p:sp>
      <p:sp>
        <p:nvSpPr>
          <p:cNvPr id="37" name="Text 33"/>
          <p:cNvSpPr/>
          <p:nvPr/>
        </p:nvSpPr>
        <p:spPr>
          <a:xfrm>
            <a:off x="5098042" y="1476970"/>
            <a:ext cx="3474458" cy="194667"/>
          </a:xfrm>
          <a:prstGeom prst="rect">
            <a:avLst/>
          </a:prstGeom>
          <a:noFill/>
          <a:ln/>
        </p:spPr>
        <p:txBody>
          <a:bodyPr wrap="none" lIns="127508" tIns="0" rIns="0" bIns="0" rtlCol="0" anchor="t">
            <a:spAutoFit/>
          </a:bodyPr>
          <a:lstStyle/>
          <a:p>
            <a:pPr algn="l" indent="0" marL="0">
              <a:lnSpc>
                <a:spcPts val="1400"/>
              </a:lnSpc>
              <a:buNone/>
            </a:pPr>
            <a:r>
              <a:rPr lang="en-US" sz="987" b="1" dirty="0">
                <a:solidFill>
                  <a:srgbClr val="002B5C"/>
                </a:solidFill>
              </a:rPr>
              <a:t>Business Impact</a:t>
            </a:r>
            <a:endParaRPr lang="en-US" sz="987" dirty="0"/>
          </a:p>
        </p:txBody>
      </p:sp>
      <p:sp>
        <p:nvSpPr>
          <p:cNvPr id="38" name="Shape 34"/>
          <p:cNvSpPr/>
          <p:nvPr/>
        </p:nvSpPr>
        <p:spPr>
          <a:xfrm>
            <a:off x="5098042" y="1778794"/>
            <a:ext cx="1665777" cy="1120676"/>
          </a:xfrm>
          <a:prstGeom prst="rect">
            <a:avLst/>
          </a:prstGeom>
          <a:solidFill>
            <a:srgbClr val="F8F9FA"/>
          </a:solidFill>
          <a:ln/>
        </p:spPr>
      </p:sp>
      <p:sp>
        <p:nvSpPr>
          <p:cNvPr id="39" name="Shape 35"/>
          <p:cNvSpPr/>
          <p:nvPr/>
        </p:nvSpPr>
        <p:spPr>
          <a:xfrm>
            <a:off x="5098042" y="1778794"/>
            <a:ext cx="1665777" cy="28575"/>
          </a:xfrm>
          <a:prstGeom prst="rect">
            <a:avLst/>
          </a:prstGeom>
          <a:solidFill>
            <a:srgbClr val="002B5C"/>
          </a:solidFill>
          <a:ln/>
        </p:spPr>
      </p:sp>
      <p:sp>
        <p:nvSpPr>
          <p:cNvPr id="40" name="Text 36"/>
          <p:cNvSpPr/>
          <p:nvPr/>
        </p:nvSpPr>
        <p:spPr>
          <a:xfrm>
            <a:off x="5240917" y="1921669"/>
            <a:ext cx="1380027"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666666"/>
                </a:solidFill>
              </a:rPr>
              <a:t>Manual Review</a:t>
            </a:r>
            <a:endParaRPr lang="en-US" sz="683" dirty="0"/>
          </a:p>
        </p:txBody>
      </p:sp>
      <p:sp>
        <p:nvSpPr>
          <p:cNvPr id="41" name="Text 37"/>
          <p:cNvSpPr/>
          <p:nvPr/>
        </p:nvSpPr>
        <p:spPr>
          <a:xfrm>
            <a:off x="5240917" y="2147869"/>
            <a:ext cx="1380027"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002B5C"/>
                </a:solidFill>
              </a:rPr>
              <a:t>-50%</a:t>
            </a:r>
            <a:endParaRPr lang="en-US" sz="1602" dirty="0"/>
          </a:p>
        </p:txBody>
      </p:sp>
      <p:sp>
        <p:nvSpPr>
          <p:cNvPr id="42" name="Text 38"/>
          <p:cNvSpPr/>
          <p:nvPr/>
        </p:nvSpPr>
        <p:spPr>
          <a:xfrm>
            <a:off x="5240917" y="2515158"/>
            <a:ext cx="1380027" cy="241436"/>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555555"/>
                </a:solidFill>
              </a:rPr>
              <a:t>Save $75K-$150K labor cost annually</a:t>
            </a:r>
            <a:endParaRPr lang="en-US" sz="674" dirty="0"/>
          </a:p>
        </p:txBody>
      </p:sp>
      <p:sp>
        <p:nvSpPr>
          <p:cNvPr id="43" name="Shape 39"/>
          <p:cNvSpPr/>
          <p:nvPr/>
        </p:nvSpPr>
        <p:spPr>
          <a:xfrm>
            <a:off x="6906695" y="1778794"/>
            <a:ext cx="1665805" cy="1120676"/>
          </a:xfrm>
          <a:prstGeom prst="rect">
            <a:avLst/>
          </a:prstGeom>
          <a:solidFill>
            <a:srgbClr val="002B5C"/>
          </a:solidFill>
          <a:ln/>
        </p:spPr>
      </p:sp>
      <p:sp>
        <p:nvSpPr>
          <p:cNvPr id="44" name="Shape 40"/>
          <p:cNvSpPr/>
          <p:nvPr/>
        </p:nvSpPr>
        <p:spPr>
          <a:xfrm>
            <a:off x="6906695" y="1778794"/>
            <a:ext cx="1665805" cy="28575"/>
          </a:xfrm>
          <a:prstGeom prst="rect">
            <a:avLst/>
          </a:prstGeom>
          <a:solidFill>
            <a:srgbClr val="FF4F00"/>
          </a:solidFill>
          <a:ln/>
        </p:spPr>
      </p:sp>
      <p:sp>
        <p:nvSpPr>
          <p:cNvPr id="45" name="Text 41"/>
          <p:cNvSpPr/>
          <p:nvPr/>
        </p:nvSpPr>
        <p:spPr>
          <a:xfrm>
            <a:off x="7049570" y="1921669"/>
            <a:ext cx="1380055"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FFFF">
                    <a:alpha val="80000"/>
                  </a:srgbClr>
                </a:solidFill>
              </a:rPr>
              <a:t>Yield Improvement</a:t>
            </a:r>
            <a:endParaRPr lang="en-US" sz="683" dirty="0"/>
          </a:p>
        </p:txBody>
      </p:sp>
      <p:sp>
        <p:nvSpPr>
          <p:cNvPr id="46" name="Text 42"/>
          <p:cNvSpPr/>
          <p:nvPr/>
        </p:nvSpPr>
        <p:spPr>
          <a:xfrm>
            <a:off x="7049570" y="2140725"/>
            <a:ext cx="1380055"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4F00"/>
                </a:solidFill>
              </a:rPr>
              <a:t>2-3%</a:t>
            </a:r>
            <a:endParaRPr lang="en-US" sz="1602" dirty="0"/>
          </a:p>
        </p:txBody>
      </p:sp>
      <p:sp>
        <p:nvSpPr>
          <p:cNvPr id="47" name="Text 43"/>
          <p:cNvSpPr/>
          <p:nvPr/>
        </p:nvSpPr>
        <p:spPr>
          <a:xfrm>
            <a:off x="7049570" y="2500871"/>
            <a:ext cx="1380055" cy="241436"/>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FFFFFF"/>
                </a:solidFill>
              </a:rPr>
              <a:t>Generate $1M-$1.5M additional revenue</a:t>
            </a:r>
            <a:endParaRPr lang="en-US" sz="674" dirty="0"/>
          </a:p>
        </p:txBody>
      </p:sp>
      <p:sp>
        <p:nvSpPr>
          <p:cNvPr id="48" name="Shape 44"/>
          <p:cNvSpPr/>
          <p:nvPr/>
        </p:nvSpPr>
        <p:spPr>
          <a:xfrm>
            <a:off x="5098042" y="3028057"/>
            <a:ext cx="1665777" cy="1134963"/>
          </a:xfrm>
          <a:prstGeom prst="rect">
            <a:avLst/>
          </a:prstGeom>
          <a:solidFill>
            <a:srgbClr val="F8F9FA"/>
          </a:solidFill>
          <a:ln/>
        </p:spPr>
      </p:sp>
      <p:sp>
        <p:nvSpPr>
          <p:cNvPr id="49" name="Shape 45"/>
          <p:cNvSpPr/>
          <p:nvPr/>
        </p:nvSpPr>
        <p:spPr>
          <a:xfrm>
            <a:off x="5098042" y="3028057"/>
            <a:ext cx="1665777" cy="28575"/>
          </a:xfrm>
          <a:prstGeom prst="rect">
            <a:avLst/>
          </a:prstGeom>
          <a:solidFill>
            <a:srgbClr val="002B5C"/>
          </a:solidFill>
          <a:ln/>
        </p:spPr>
      </p:sp>
      <p:sp>
        <p:nvSpPr>
          <p:cNvPr id="50" name="Text 46"/>
          <p:cNvSpPr/>
          <p:nvPr/>
        </p:nvSpPr>
        <p:spPr>
          <a:xfrm>
            <a:off x="5240917" y="3185220"/>
            <a:ext cx="1380027"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666666"/>
                </a:solidFill>
              </a:rPr>
              <a:t>Delay Reduction</a:t>
            </a:r>
            <a:endParaRPr lang="en-US" sz="683" dirty="0"/>
          </a:p>
        </p:txBody>
      </p:sp>
      <p:sp>
        <p:nvSpPr>
          <p:cNvPr id="51" name="Text 47"/>
          <p:cNvSpPr/>
          <p:nvPr/>
        </p:nvSpPr>
        <p:spPr>
          <a:xfrm>
            <a:off x="5240917" y="3411420"/>
            <a:ext cx="1380027"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002B5C"/>
                </a:solidFill>
              </a:rPr>
              <a:t>80%</a:t>
            </a:r>
            <a:endParaRPr lang="en-US" sz="1602" dirty="0"/>
          </a:p>
        </p:txBody>
      </p:sp>
      <p:sp>
        <p:nvSpPr>
          <p:cNvPr id="52" name="Text 48"/>
          <p:cNvSpPr/>
          <p:nvPr/>
        </p:nvSpPr>
        <p:spPr>
          <a:xfrm>
            <a:off x="5240917" y="3778709"/>
            <a:ext cx="1380027" cy="241436"/>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555555"/>
                </a:solidFill>
              </a:rPr>
              <a:t>Improve capacity utilization by 15-20%</a:t>
            </a:r>
            <a:endParaRPr lang="en-US" sz="674" dirty="0"/>
          </a:p>
        </p:txBody>
      </p:sp>
      <p:sp>
        <p:nvSpPr>
          <p:cNvPr id="53" name="Shape 49"/>
          <p:cNvSpPr/>
          <p:nvPr/>
        </p:nvSpPr>
        <p:spPr>
          <a:xfrm>
            <a:off x="6906695" y="3042345"/>
            <a:ext cx="1665805" cy="1120676"/>
          </a:xfrm>
          <a:prstGeom prst="rect">
            <a:avLst/>
          </a:prstGeom>
          <a:solidFill>
            <a:srgbClr val="F8F9FA"/>
          </a:solidFill>
          <a:ln/>
        </p:spPr>
      </p:sp>
      <p:sp>
        <p:nvSpPr>
          <p:cNvPr id="54" name="Shape 50"/>
          <p:cNvSpPr/>
          <p:nvPr/>
        </p:nvSpPr>
        <p:spPr>
          <a:xfrm>
            <a:off x="6906695" y="3042345"/>
            <a:ext cx="1665805" cy="28575"/>
          </a:xfrm>
          <a:prstGeom prst="rect">
            <a:avLst/>
          </a:prstGeom>
          <a:solidFill>
            <a:srgbClr val="002B5C"/>
          </a:solidFill>
          <a:ln/>
        </p:spPr>
      </p:sp>
      <p:sp>
        <p:nvSpPr>
          <p:cNvPr id="55" name="Text 51"/>
          <p:cNvSpPr/>
          <p:nvPr/>
        </p:nvSpPr>
        <p:spPr>
          <a:xfrm>
            <a:off x="7049570" y="3185220"/>
            <a:ext cx="1380055"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666666"/>
                </a:solidFill>
              </a:rPr>
              <a:t>Payback Period</a:t>
            </a:r>
            <a:endParaRPr lang="en-US" sz="683" dirty="0"/>
          </a:p>
        </p:txBody>
      </p:sp>
      <p:sp>
        <p:nvSpPr>
          <p:cNvPr id="56" name="Text 52"/>
          <p:cNvSpPr/>
          <p:nvPr/>
        </p:nvSpPr>
        <p:spPr>
          <a:xfrm>
            <a:off x="7049570" y="3471779"/>
            <a:ext cx="1380055"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002B5C"/>
                </a:solidFill>
              </a:rPr>
              <a:t>12-18 Mo</a:t>
            </a:r>
            <a:endParaRPr lang="en-US" sz="1602" dirty="0"/>
          </a:p>
        </p:txBody>
      </p:sp>
      <p:sp>
        <p:nvSpPr>
          <p:cNvPr id="57" name="Text 53"/>
          <p:cNvSpPr/>
          <p:nvPr/>
        </p:nvSpPr>
        <p:spPr>
          <a:xfrm>
            <a:off x="7049570" y="3899427"/>
            <a:ext cx="1380055" cy="120718"/>
          </a:xfrm>
          <a:prstGeom prst="rect">
            <a:avLst/>
          </a:prstGeom>
          <a:noFill/>
          <a:ln/>
        </p:spPr>
        <p:txBody>
          <a:bodyPr wrap="none" lIns="0" tIns="0" rIns="0" bIns="0" rtlCol="0" anchor="t">
            <a:spAutoFit/>
          </a:bodyPr>
          <a:lstStyle/>
          <a:p>
            <a:pPr algn="l" indent="0" marL="0">
              <a:lnSpc>
                <a:spcPts val="1000"/>
              </a:lnSpc>
              <a:buNone/>
            </a:pPr>
            <a:r>
              <a:rPr lang="en-US" sz="674" dirty="0">
                <a:solidFill>
                  <a:srgbClr val="555555"/>
                </a:solidFill>
              </a:rPr>
              <a:t>Profitability begins in Year 2</a:t>
            </a:r>
            <a:endParaRPr lang="en-US" sz="674" dirty="0"/>
          </a:p>
        </p:txBody>
      </p:sp>
      <p:sp>
        <p:nvSpPr>
          <p:cNvPr id="58" name="Shape 54"/>
          <p:cNvSpPr/>
          <p:nvPr/>
        </p:nvSpPr>
        <p:spPr>
          <a:xfrm>
            <a:off x="571500" y="4377333"/>
            <a:ext cx="8001000" cy="480417"/>
          </a:xfrm>
          <a:prstGeom prst="rect">
            <a:avLst/>
          </a:prstGeom>
          <a:solidFill>
            <a:srgbClr val="F0F4F8"/>
          </a:solidFill>
          <a:ln/>
        </p:spPr>
      </p:sp>
      <p:sp>
        <p:nvSpPr>
          <p:cNvPr id="59" name="Shape 55"/>
          <p:cNvSpPr/>
          <p:nvPr/>
        </p:nvSpPr>
        <p:spPr>
          <a:xfrm>
            <a:off x="571500" y="4377333"/>
            <a:ext cx="42863" cy="480417"/>
          </a:xfrm>
          <a:prstGeom prst="rect">
            <a:avLst/>
          </a:prstGeom>
          <a:solidFill>
            <a:srgbClr val="FF4F00"/>
          </a:solidFill>
          <a:ln/>
        </p:spPr>
      </p:sp>
      <p:sp>
        <p:nvSpPr>
          <p:cNvPr id="60" name="Text 56"/>
          <p:cNvSpPr/>
          <p:nvPr/>
        </p:nvSpPr>
        <p:spPr>
          <a:xfrm>
            <a:off x="785813" y="4539853"/>
            <a:ext cx="1648560"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02B5C"/>
                </a:solidFill>
              </a:rPr>
              <a:t>User Satisfaction Targets</a:t>
            </a:r>
            <a:endParaRPr lang="en-US" sz="784" dirty="0"/>
          </a:p>
        </p:txBody>
      </p:sp>
      <p:sp>
        <p:nvSpPr>
          <p:cNvPr id="61" name="Text 57"/>
          <p:cNvSpPr/>
          <p:nvPr/>
        </p:nvSpPr>
        <p:spPr>
          <a:xfrm>
            <a:off x="2648685" y="4520208"/>
            <a:ext cx="349625"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002B5C"/>
                </a:solidFill>
              </a:rPr>
              <a:t>4.5/5</a:t>
            </a:r>
            <a:endParaRPr lang="en-US" sz="987" dirty="0"/>
          </a:p>
        </p:txBody>
      </p:sp>
      <p:sp>
        <p:nvSpPr>
          <p:cNvPr id="62" name="Text 58"/>
          <p:cNvSpPr/>
          <p:nvPr/>
        </p:nvSpPr>
        <p:spPr>
          <a:xfrm>
            <a:off x="3069748" y="4549676"/>
            <a:ext cx="990247"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555555"/>
                </a:solidFill>
              </a:rPr>
              <a:t>Engineer Satisfaction</a:t>
            </a:r>
            <a:endParaRPr lang="en-US" sz="727" dirty="0"/>
          </a:p>
        </p:txBody>
      </p:sp>
      <p:sp>
        <p:nvSpPr>
          <p:cNvPr id="63" name="Text 59"/>
          <p:cNvSpPr/>
          <p:nvPr/>
        </p:nvSpPr>
        <p:spPr>
          <a:xfrm>
            <a:off x="4345744" y="4520208"/>
            <a:ext cx="349625"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002B5C"/>
                </a:solidFill>
              </a:rPr>
              <a:t>4.5/5</a:t>
            </a:r>
            <a:endParaRPr lang="en-US" sz="987" dirty="0"/>
          </a:p>
        </p:txBody>
      </p:sp>
      <p:sp>
        <p:nvSpPr>
          <p:cNvPr id="64" name="Text 60"/>
          <p:cNvSpPr/>
          <p:nvPr/>
        </p:nvSpPr>
        <p:spPr>
          <a:xfrm>
            <a:off x="4766807" y="4549676"/>
            <a:ext cx="756596"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555555"/>
                </a:solidFill>
              </a:rPr>
              <a:t>MES Integration</a:t>
            </a:r>
            <a:endParaRPr lang="en-US" sz="727" dirty="0"/>
          </a:p>
        </p:txBody>
      </p:sp>
      <p:sp>
        <p:nvSpPr>
          <p:cNvPr id="65" name="Text 61"/>
          <p:cNvSpPr/>
          <p:nvPr/>
        </p:nvSpPr>
        <p:spPr>
          <a:xfrm>
            <a:off x="5809152" y="4520208"/>
            <a:ext cx="349625"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002B5C"/>
                </a:solidFill>
              </a:rPr>
              <a:t>4.5/5</a:t>
            </a:r>
            <a:endParaRPr lang="en-US" sz="987" dirty="0"/>
          </a:p>
        </p:txBody>
      </p:sp>
      <p:sp>
        <p:nvSpPr>
          <p:cNvPr id="66" name="Text 62"/>
          <p:cNvSpPr/>
          <p:nvPr/>
        </p:nvSpPr>
        <p:spPr>
          <a:xfrm>
            <a:off x="6230215" y="4549676"/>
            <a:ext cx="830712"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555555"/>
                </a:solidFill>
              </a:rPr>
              <a:t>Management ROI</a:t>
            </a:r>
            <a:endParaRPr lang="en-US" sz="72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432320"/>
          </a:xfrm>
          <a:prstGeom prst="rect">
            <a:avLst/>
          </a:prstGeom>
        </p:spPr>
      </p:pic>
      <p:sp>
        <p:nvSpPr>
          <p:cNvPr id="4" name="Shape 0"/>
          <p:cNvSpPr/>
          <p:nvPr/>
        </p:nvSpPr>
        <p:spPr>
          <a:xfrm>
            <a:off x="571500" y="428625"/>
            <a:ext cx="8001000" cy="791170"/>
          </a:xfrm>
          <a:prstGeom prst="rect">
            <a:avLst/>
          </a:prstGeom>
          <a:solidFill>
            <a:srgbClr val="000000">
              <a:alpha val="0"/>
            </a:srgbClr>
          </a:solidFill>
          <a:ln/>
        </p:spPr>
      </p:sp>
      <p:sp>
        <p:nvSpPr>
          <p:cNvPr id="5" name="Shape 1"/>
          <p:cNvSpPr/>
          <p:nvPr/>
        </p:nvSpPr>
        <p:spPr>
          <a:xfrm>
            <a:off x="571500" y="1191220"/>
            <a:ext cx="8001000" cy="28575"/>
          </a:xfrm>
          <a:prstGeom prst="rect">
            <a:avLst/>
          </a:prstGeom>
          <a:solidFill>
            <a:srgbClr val="002B5C"/>
          </a:solidFill>
          <a:ln/>
        </p:spPr>
      </p:sp>
      <p:sp>
        <p:nvSpPr>
          <p:cNvPr id="6" name="Text 2"/>
          <p:cNvSpPr/>
          <p:nvPr/>
        </p:nvSpPr>
        <p:spPr>
          <a:xfrm>
            <a:off x="571500" y="428625"/>
            <a:ext cx="8001000" cy="40898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002B5C"/>
                </a:solidFill>
              </a:rPr>
              <a:t>Risk Management and Mitigation Strategies</a:t>
            </a:r>
            <a:endParaRPr lang="en-US" sz="2121" dirty="0"/>
          </a:p>
        </p:txBody>
      </p:sp>
      <p:sp>
        <p:nvSpPr>
          <p:cNvPr id="7" name="Text 3"/>
          <p:cNvSpPr/>
          <p:nvPr/>
        </p:nvSpPr>
        <p:spPr>
          <a:xfrm>
            <a:off x="571500" y="873323"/>
            <a:ext cx="8001000" cy="175022"/>
          </a:xfrm>
          <a:prstGeom prst="rect">
            <a:avLst/>
          </a:prstGeom>
          <a:noFill/>
          <a:ln/>
        </p:spPr>
        <p:txBody>
          <a:bodyPr wrap="none" lIns="0" tIns="0" rIns="0" bIns="0" rtlCol="0" anchor="t">
            <a:spAutoFit/>
          </a:bodyPr>
          <a:lstStyle/>
          <a:p>
            <a:pPr algn="l" indent="0" marL="0">
              <a:lnSpc>
                <a:spcPts val="1200"/>
              </a:lnSpc>
              <a:buNone/>
            </a:pPr>
            <a:r>
              <a:rPr lang="en-US" sz="942" dirty="0">
                <a:solidFill>
                  <a:srgbClr val="666666"/>
                </a:solidFill>
              </a:rPr>
              <a:t>Proactive Identification and Control</a:t>
            </a:r>
            <a:endParaRPr lang="en-US" sz="942" dirty="0"/>
          </a:p>
        </p:txBody>
      </p:sp>
      <p:pic>
        <p:nvPicPr>
          <p:cNvPr id="8" name="Image 1" descr="preencoded.png">    </p:cNvPr>
          <p:cNvPicPr>
            <a:picLocks noChangeAspect="1"/>
          </p:cNvPicPr>
          <p:nvPr/>
        </p:nvPicPr>
        <p:blipFill>
          <a:blip r:embed="rId2"/>
          <a:stretch>
            <a:fillRect/>
          </a:stretch>
        </p:blipFill>
        <p:spPr>
          <a:xfrm>
            <a:off x="571500" y="1498402"/>
            <a:ext cx="171450" cy="171450"/>
          </a:xfrm>
          <a:prstGeom prst="rect">
            <a:avLst/>
          </a:prstGeom>
        </p:spPr>
      </p:pic>
      <p:sp>
        <p:nvSpPr>
          <p:cNvPr id="9" name="Text 4"/>
          <p:cNvSpPr/>
          <p:nvPr/>
        </p:nvSpPr>
        <p:spPr>
          <a:xfrm>
            <a:off x="850106" y="1476970"/>
            <a:ext cx="885630"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02B5C"/>
                </a:solidFill>
              </a:rPr>
              <a:t>Technical</a:t>
            </a:r>
            <a:endParaRPr lang="en-US" sz="1090" dirty="0"/>
          </a:p>
        </p:txBody>
      </p:sp>
      <p:sp>
        <p:nvSpPr>
          <p:cNvPr id="10" name="Shape 5"/>
          <p:cNvSpPr/>
          <p:nvPr/>
        </p:nvSpPr>
        <p:spPr>
          <a:xfrm>
            <a:off x="571500" y="2062758"/>
            <a:ext cx="2476481" cy="1100779"/>
          </a:xfrm>
          <a:prstGeom prst="rect">
            <a:avLst/>
          </a:prstGeom>
          <a:solidFill>
            <a:srgbClr val="F9F9F9"/>
          </a:solidFill>
          <a:ln/>
        </p:spPr>
      </p:sp>
      <p:sp>
        <p:nvSpPr>
          <p:cNvPr id="11" name="Shape 6"/>
          <p:cNvSpPr/>
          <p:nvPr/>
        </p:nvSpPr>
        <p:spPr>
          <a:xfrm>
            <a:off x="571500" y="2062758"/>
            <a:ext cx="28575" cy="1100779"/>
          </a:xfrm>
          <a:prstGeom prst="rect">
            <a:avLst/>
          </a:prstGeom>
          <a:solidFill>
            <a:srgbClr val="002B5C"/>
          </a:solidFill>
          <a:ln/>
        </p:spPr>
      </p:sp>
      <p:sp>
        <p:nvSpPr>
          <p:cNvPr id="12" name="Text 7"/>
          <p:cNvSpPr/>
          <p:nvPr/>
        </p:nvSpPr>
        <p:spPr>
          <a:xfrm>
            <a:off x="714375" y="2205633"/>
            <a:ext cx="2190731"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33333"/>
                </a:solidFill>
              </a:rPr>
              <a:t>Model Performance Drift</a:t>
            </a:r>
            <a:endParaRPr lang="en-US" sz="885" dirty="0"/>
          </a:p>
        </p:txBody>
      </p:sp>
      <p:sp>
        <p:nvSpPr>
          <p:cNvPr id="13" name="Text 8"/>
          <p:cNvSpPr/>
          <p:nvPr/>
        </p:nvSpPr>
        <p:spPr>
          <a:xfrm>
            <a:off x="714375" y="2452092"/>
            <a:ext cx="2190731" cy="119993"/>
          </a:xfrm>
          <a:prstGeom prst="rect">
            <a:avLst/>
          </a:prstGeom>
          <a:noFill/>
          <a:ln/>
        </p:spPr>
        <p:txBody>
          <a:bodyPr wrap="none" lIns="0" tIns="0" rIns="0" bIns="0" rtlCol="0" anchor="t">
            <a:spAutoFit/>
          </a:bodyPr>
          <a:lstStyle/>
          <a:p>
            <a:pPr algn="l" indent="0" marL="0">
              <a:lnSpc>
                <a:spcPts val="900"/>
              </a:lnSpc>
              <a:buNone/>
            </a:pPr>
            <a:r>
              <a:rPr lang="en-US" sz="584" b="1" dirty="0">
                <a:solidFill>
                  <a:srgbClr val="002B5C"/>
                </a:solidFill>
              </a:rPr>
              <a:t>Mitigation</a:t>
            </a:r>
            <a:endParaRPr lang="en-US" sz="584" dirty="0"/>
          </a:p>
        </p:txBody>
      </p:sp>
      <p:sp>
        <p:nvSpPr>
          <p:cNvPr id="14" name="Text 9"/>
          <p:cNvSpPr/>
          <p:nvPr/>
        </p:nvSpPr>
        <p:spPr>
          <a:xfrm>
            <a:off x="714375" y="2602446"/>
            <a:ext cx="2043057"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Continuous learning pipeline, A/B testing in</a:t>
            </a:r>
            <a:endParaRPr lang="en-US" sz="727" dirty="0"/>
          </a:p>
        </p:txBody>
      </p:sp>
      <p:sp>
        <p:nvSpPr>
          <p:cNvPr id="15" name="Text 10"/>
          <p:cNvSpPr/>
          <p:nvPr/>
        </p:nvSpPr>
        <p:spPr>
          <a:xfrm>
            <a:off x="714375" y="2742447"/>
            <a:ext cx="1791128"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shadow mode, and automatic rollback</a:t>
            </a:r>
            <a:endParaRPr lang="en-US" sz="727" dirty="0"/>
          </a:p>
        </p:txBody>
      </p:sp>
      <p:sp>
        <p:nvSpPr>
          <p:cNvPr id="16" name="Text 11"/>
          <p:cNvSpPr/>
          <p:nvPr/>
        </p:nvSpPr>
        <p:spPr>
          <a:xfrm>
            <a:off x="714375" y="2882447"/>
            <a:ext cx="619581"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mechanisms.</a:t>
            </a:r>
            <a:endParaRPr lang="en-US" sz="727" dirty="0"/>
          </a:p>
        </p:txBody>
      </p:sp>
      <p:sp>
        <p:nvSpPr>
          <p:cNvPr id="17" name="Shape 12"/>
          <p:cNvSpPr/>
          <p:nvPr/>
        </p:nvSpPr>
        <p:spPr>
          <a:xfrm>
            <a:off x="571500" y="3342131"/>
            <a:ext cx="2476481" cy="1100779"/>
          </a:xfrm>
          <a:prstGeom prst="rect">
            <a:avLst/>
          </a:prstGeom>
          <a:solidFill>
            <a:srgbClr val="F9F9F9"/>
          </a:solidFill>
          <a:ln/>
        </p:spPr>
      </p:sp>
      <p:sp>
        <p:nvSpPr>
          <p:cNvPr id="18" name="Shape 13"/>
          <p:cNvSpPr/>
          <p:nvPr/>
        </p:nvSpPr>
        <p:spPr>
          <a:xfrm>
            <a:off x="571500" y="3342131"/>
            <a:ext cx="28575" cy="1100779"/>
          </a:xfrm>
          <a:prstGeom prst="rect">
            <a:avLst/>
          </a:prstGeom>
          <a:solidFill>
            <a:srgbClr val="002B5C"/>
          </a:solidFill>
          <a:ln/>
        </p:spPr>
      </p:sp>
      <p:sp>
        <p:nvSpPr>
          <p:cNvPr id="19" name="Text 14"/>
          <p:cNvSpPr/>
          <p:nvPr/>
        </p:nvSpPr>
        <p:spPr>
          <a:xfrm>
            <a:off x="714375" y="3485006"/>
            <a:ext cx="2190731"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33333"/>
                </a:solidFill>
              </a:rPr>
              <a:t>Integration Complexity</a:t>
            </a:r>
            <a:endParaRPr lang="en-US" sz="885" dirty="0"/>
          </a:p>
        </p:txBody>
      </p:sp>
      <p:sp>
        <p:nvSpPr>
          <p:cNvPr id="20" name="Text 15"/>
          <p:cNvSpPr/>
          <p:nvPr/>
        </p:nvSpPr>
        <p:spPr>
          <a:xfrm>
            <a:off x="714375" y="3731465"/>
            <a:ext cx="2190731" cy="119993"/>
          </a:xfrm>
          <a:prstGeom prst="rect">
            <a:avLst/>
          </a:prstGeom>
          <a:noFill/>
          <a:ln/>
        </p:spPr>
        <p:txBody>
          <a:bodyPr wrap="none" lIns="0" tIns="0" rIns="0" bIns="0" rtlCol="0" anchor="t">
            <a:spAutoFit/>
          </a:bodyPr>
          <a:lstStyle/>
          <a:p>
            <a:pPr algn="l" indent="0" marL="0">
              <a:lnSpc>
                <a:spcPts val="900"/>
              </a:lnSpc>
              <a:buNone/>
            </a:pPr>
            <a:r>
              <a:rPr lang="en-US" sz="584" b="1" dirty="0">
                <a:solidFill>
                  <a:srgbClr val="002B5C"/>
                </a:solidFill>
              </a:rPr>
              <a:t>Mitigation</a:t>
            </a:r>
            <a:endParaRPr lang="en-US" sz="584" dirty="0"/>
          </a:p>
        </p:txBody>
      </p:sp>
      <p:sp>
        <p:nvSpPr>
          <p:cNvPr id="21" name="Text 16"/>
          <p:cNvSpPr/>
          <p:nvPr/>
        </p:nvSpPr>
        <p:spPr>
          <a:xfrm>
            <a:off x="714375" y="3881819"/>
            <a:ext cx="1952951"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Standardized REST APIs, pre-built adapter</a:t>
            </a:r>
            <a:endParaRPr lang="en-US" sz="727" dirty="0"/>
          </a:p>
        </p:txBody>
      </p:sp>
      <p:sp>
        <p:nvSpPr>
          <p:cNvPr id="22" name="Text 17"/>
          <p:cNvSpPr/>
          <p:nvPr/>
        </p:nvSpPr>
        <p:spPr>
          <a:xfrm>
            <a:off x="714375" y="4021820"/>
            <a:ext cx="1896359"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tools, and dedicated integration support</a:t>
            </a:r>
            <a:endParaRPr lang="en-US" sz="727" dirty="0"/>
          </a:p>
        </p:txBody>
      </p:sp>
      <p:sp>
        <p:nvSpPr>
          <p:cNvPr id="23" name="Text 18"/>
          <p:cNvSpPr/>
          <p:nvPr/>
        </p:nvSpPr>
        <p:spPr>
          <a:xfrm>
            <a:off x="714375" y="4161820"/>
            <a:ext cx="268951"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team.</a:t>
            </a:r>
            <a:endParaRPr lang="en-US" sz="727" dirty="0"/>
          </a:p>
        </p:txBody>
      </p:sp>
      <p:pic>
        <p:nvPicPr>
          <p:cNvPr id="24" name="Image 2" descr="preencoded.png">    </p:cNvPr>
          <p:cNvPicPr>
            <a:picLocks noChangeAspect="1"/>
          </p:cNvPicPr>
          <p:nvPr/>
        </p:nvPicPr>
        <p:blipFill>
          <a:blip r:embed="rId3"/>
          <a:stretch>
            <a:fillRect/>
          </a:stretch>
        </p:blipFill>
        <p:spPr>
          <a:xfrm>
            <a:off x="3333731" y="1498402"/>
            <a:ext cx="214313" cy="171450"/>
          </a:xfrm>
          <a:prstGeom prst="rect">
            <a:avLst/>
          </a:prstGeom>
        </p:spPr>
      </p:pic>
      <p:sp>
        <p:nvSpPr>
          <p:cNvPr id="25" name="Text 19"/>
          <p:cNvSpPr/>
          <p:nvPr/>
        </p:nvSpPr>
        <p:spPr>
          <a:xfrm>
            <a:off x="3655200" y="1476970"/>
            <a:ext cx="1115234"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4F00"/>
                </a:solidFill>
              </a:rPr>
              <a:t>Operational</a:t>
            </a:r>
            <a:endParaRPr lang="en-US" sz="1090" dirty="0"/>
          </a:p>
        </p:txBody>
      </p:sp>
      <p:sp>
        <p:nvSpPr>
          <p:cNvPr id="26" name="Shape 20"/>
          <p:cNvSpPr/>
          <p:nvPr/>
        </p:nvSpPr>
        <p:spPr>
          <a:xfrm>
            <a:off x="3333731" y="2062758"/>
            <a:ext cx="2476509" cy="960779"/>
          </a:xfrm>
          <a:prstGeom prst="rect">
            <a:avLst/>
          </a:prstGeom>
          <a:solidFill>
            <a:srgbClr val="F9F9F9"/>
          </a:solidFill>
          <a:ln/>
        </p:spPr>
      </p:sp>
      <p:sp>
        <p:nvSpPr>
          <p:cNvPr id="27" name="Shape 21"/>
          <p:cNvSpPr/>
          <p:nvPr/>
        </p:nvSpPr>
        <p:spPr>
          <a:xfrm>
            <a:off x="3333731" y="2062758"/>
            <a:ext cx="28575" cy="960779"/>
          </a:xfrm>
          <a:prstGeom prst="rect">
            <a:avLst/>
          </a:prstGeom>
          <a:solidFill>
            <a:srgbClr val="FF4F00"/>
          </a:solidFill>
          <a:ln/>
        </p:spPr>
      </p:sp>
      <p:sp>
        <p:nvSpPr>
          <p:cNvPr id="28" name="Text 22"/>
          <p:cNvSpPr/>
          <p:nvPr/>
        </p:nvSpPr>
        <p:spPr>
          <a:xfrm>
            <a:off x="3476606" y="2205633"/>
            <a:ext cx="219075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33333"/>
                </a:solidFill>
              </a:rPr>
              <a:t>User Adoption</a:t>
            </a:r>
            <a:endParaRPr lang="en-US" sz="885" dirty="0"/>
          </a:p>
        </p:txBody>
      </p:sp>
      <p:sp>
        <p:nvSpPr>
          <p:cNvPr id="29" name="Text 23"/>
          <p:cNvSpPr/>
          <p:nvPr/>
        </p:nvSpPr>
        <p:spPr>
          <a:xfrm>
            <a:off x="3476606" y="2452092"/>
            <a:ext cx="2190759" cy="119993"/>
          </a:xfrm>
          <a:prstGeom prst="rect">
            <a:avLst/>
          </a:prstGeom>
          <a:noFill/>
          <a:ln/>
        </p:spPr>
        <p:txBody>
          <a:bodyPr wrap="none" lIns="0" tIns="0" rIns="0" bIns="0" rtlCol="0" anchor="t">
            <a:spAutoFit/>
          </a:bodyPr>
          <a:lstStyle/>
          <a:p>
            <a:pPr algn="l" indent="0" marL="0">
              <a:lnSpc>
                <a:spcPts val="900"/>
              </a:lnSpc>
              <a:buNone/>
            </a:pPr>
            <a:r>
              <a:rPr lang="en-US" sz="584" b="1" dirty="0">
                <a:solidFill>
                  <a:srgbClr val="002B5C"/>
                </a:solidFill>
              </a:rPr>
              <a:t>Mitigation</a:t>
            </a:r>
            <a:endParaRPr lang="en-US" sz="584" dirty="0"/>
          </a:p>
        </p:txBody>
      </p:sp>
      <p:sp>
        <p:nvSpPr>
          <p:cNvPr id="30" name="Text 24"/>
          <p:cNvSpPr/>
          <p:nvPr/>
        </p:nvSpPr>
        <p:spPr>
          <a:xfrm>
            <a:off x="3476606" y="2602446"/>
            <a:ext cx="2013365"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Comprehensive training programs, phased</a:t>
            </a:r>
            <a:endParaRPr lang="en-US" sz="727" dirty="0"/>
          </a:p>
        </p:txBody>
      </p:sp>
      <p:sp>
        <p:nvSpPr>
          <p:cNvPr id="31" name="Text 25"/>
          <p:cNvSpPr/>
          <p:nvPr/>
        </p:nvSpPr>
        <p:spPr>
          <a:xfrm>
            <a:off x="3476606" y="2742447"/>
            <a:ext cx="1944746"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rollout strategy, and user feedback loops.</a:t>
            </a:r>
            <a:endParaRPr lang="en-US" sz="727" dirty="0"/>
          </a:p>
        </p:txBody>
      </p:sp>
      <p:sp>
        <p:nvSpPr>
          <p:cNvPr id="32" name="Shape 26"/>
          <p:cNvSpPr/>
          <p:nvPr/>
        </p:nvSpPr>
        <p:spPr>
          <a:xfrm>
            <a:off x="3333731" y="3202130"/>
            <a:ext cx="2476509" cy="960779"/>
          </a:xfrm>
          <a:prstGeom prst="rect">
            <a:avLst/>
          </a:prstGeom>
          <a:solidFill>
            <a:srgbClr val="F9F9F9"/>
          </a:solidFill>
          <a:ln/>
        </p:spPr>
      </p:sp>
      <p:sp>
        <p:nvSpPr>
          <p:cNvPr id="33" name="Shape 27"/>
          <p:cNvSpPr/>
          <p:nvPr/>
        </p:nvSpPr>
        <p:spPr>
          <a:xfrm>
            <a:off x="3333731" y="3202130"/>
            <a:ext cx="28575" cy="960779"/>
          </a:xfrm>
          <a:prstGeom prst="rect">
            <a:avLst/>
          </a:prstGeom>
          <a:solidFill>
            <a:srgbClr val="FF4F00"/>
          </a:solidFill>
          <a:ln/>
        </p:spPr>
      </p:sp>
      <p:sp>
        <p:nvSpPr>
          <p:cNvPr id="34" name="Text 28"/>
          <p:cNvSpPr/>
          <p:nvPr/>
        </p:nvSpPr>
        <p:spPr>
          <a:xfrm>
            <a:off x="3476606" y="3345005"/>
            <a:ext cx="219075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33333"/>
                </a:solidFill>
              </a:rPr>
              <a:t>System Failure</a:t>
            </a:r>
            <a:endParaRPr lang="en-US" sz="885" dirty="0"/>
          </a:p>
        </p:txBody>
      </p:sp>
      <p:sp>
        <p:nvSpPr>
          <p:cNvPr id="35" name="Text 29"/>
          <p:cNvSpPr/>
          <p:nvPr/>
        </p:nvSpPr>
        <p:spPr>
          <a:xfrm>
            <a:off x="3476606" y="3591465"/>
            <a:ext cx="2190759" cy="119993"/>
          </a:xfrm>
          <a:prstGeom prst="rect">
            <a:avLst/>
          </a:prstGeom>
          <a:noFill/>
          <a:ln/>
        </p:spPr>
        <p:txBody>
          <a:bodyPr wrap="none" lIns="0" tIns="0" rIns="0" bIns="0" rtlCol="0" anchor="t">
            <a:spAutoFit/>
          </a:bodyPr>
          <a:lstStyle/>
          <a:p>
            <a:pPr algn="l" indent="0" marL="0">
              <a:lnSpc>
                <a:spcPts val="900"/>
              </a:lnSpc>
              <a:buNone/>
            </a:pPr>
            <a:r>
              <a:rPr lang="en-US" sz="584" b="1" dirty="0">
                <a:solidFill>
                  <a:srgbClr val="002B5C"/>
                </a:solidFill>
              </a:rPr>
              <a:t>Mitigation</a:t>
            </a:r>
            <a:endParaRPr lang="en-US" sz="584" dirty="0"/>
          </a:p>
        </p:txBody>
      </p:sp>
      <p:sp>
        <p:nvSpPr>
          <p:cNvPr id="36" name="Text 30"/>
          <p:cNvSpPr/>
          <p:nvPr/>
        </p:nvSpPr>
        <p:spPr>
          <a:xfrm>
            <a:off x="3476606" y="3741818"/>
            <a:ext cx="1911148"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Redundant deployment (N+1), automatic</a:t>
            </a:r>
            <a:endParaRPr lang="en-US" sz="727" dirty="0"/>
          </a:p>
        </p:txBody>
      </p:sp>
      <p:sp>
        <p:nvSpPr>
          <p:cNvPr id="37" name="Text 31"/>
          <p:cNvSpPr/>
          <p:nvPr/>
        </p:nvSpPr>
        <p:spPr>
          <a:xfrm>
            <a:off x="3476606" y="3881819"/>
            <a:ext cx="1884136"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failover, and real-time monitoring alerts.</a:t>
            </a:r>
            <a:endParaRPr lang="en-US" sz="727" dirty="0"/>
          </a:p>
        </p:txBody>
      </p:sp>
      <p:pic>
        <p:nvPicPr>
          <p:cNvPr id="38" name="Image 3" descr="preencoded.png">    </p:cNvPr>
          <p:cNvPicPr>
            <a:picLocks noChangeAspect="1"/>
          </p:cNvPicPr>
          <p:nvPr/>
        </p:nvPicPr>
        <p:blipFill>
          <a:blip r:embed="rId4"/>
          <a:stretch>
            <a:fillRect/>
          </a:stretch>
        </p:blipFill>
        <p:spPr>
          <a:xfrm>
            <a:off x="6095991" y="1498402"/>
            <a:ext cx="171450" cy="171450"/>
          </a:xfrm>
          <a:prstGeom prst="rect">
            <a:avLst/>
          </a:prstGeom>
        </p:spPr>
      </p:pic>
      <p:sp>
        <p:nvSpPr>
          <p:cNvPr id="39" name="Text 32"/>
          <p:cNvSpPr/>
          <p:nvPr/>
        </p:nvSpPr>
        <p:spPr>
          <a:xfrm>
            <a:off x="6374597" y="1476970"/>
            <a:ext cx="761144"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333333"/>
                </a:solidFill>
              </a:rPr>
              <a:t>Business</a:t>
            </a:r>
            <a:endParaRPr lang="en-US" sz="1090" dirty="0"/>
          </a:p>
        </p:txBody>
      </p:sp>
      <p:sp>
        <p:nvSpPr>
          <p:cNvPr id="40" name="Shape 33"/>
          <p:cNvSpPr/>
          <p:nvPr/>
        </p:nvSpPr>
        <p:spPr>
          <a:xfrm>
            <a:off x="6095991" y="2062758"/>
            <a:ext cx="2476481" cy="960779"/>
          </a:xfrm>
          <a:prstGeom prst="rect">
            <a:avLst/>
          </a:prstGeom>
          <a:solidFill>
            <a:srgbClr val="F9F9F9"/>
          </a:solidFill>
          <a:ln/>
        </p:spPr>
      </p:sp>
      <p:sp>
        <p:nvSpPr>
          <p:cNvPr id="41" name="Shape 34"/>
          <p:cNvSpPr/>
          <p:nvPr/>
        </p:nvSpPr>
        <p:spPr>
          <a:xfrm>
            <a:off x="6095991" y="2062758"/>
            <a:ext cx="28575" cy="960779"/>
          </a:xfrm>
          <a:prstGeom prst="rect">
            <a:avLst/>
          </a:prstGeom>
          <a:solidFill>
            <a:srgbClr val="333333"/>
          </a:solidFill>
          <a:ln/>
        </p:spPr>
      </p:sp>
      <p:sp>
        <p:nvSpPr>
          <p:cNvPr id="42" name="Text 35"/>
          <p:cNvSpPr/>
          <p:nvPr/>
        </p:nvSpPr>
        <p:spPr>
          <a:xfrm>
            <a:off x="6238866" y="2205633"/>
            <a:ext cx="2190731"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33333"/>
                </a:solidFill>
              </a:rPr>
              <a:t>Implementation Delay</a:t>
            </a:r>
            <a:endParaRPr lang="en-US" sz="885" dirty="0"/>
          </a:p>
        </p:txBody>
      </p:sp>
      <p:sp>
        <p:nvSpPr>
          <p:cNvPr id="43" name="Text 36"/>
          <p:cNvSpPr/>
          <p:nvPr/>
        </p:nvSpPr>
        <p:spPr>
          <a:xfrm>
            <a:off x="6238866" y="2452092"/>
            <a:ext cx="2190731" cy="119993"/>
          </a:xfrm>
          <a:prstGeom prst="rect">
            <a:avLst/>
          </a:prstGeom>
          <a:noFill/>
          <a:ln/>
        </p:spPr>
        <p:txBody>
          <a:bodyPr wrap="none" lIns="0" tIns="0" rIns="0" bIns="0" rtlCol="0" anchor="t">
            <a:spAutoFit/>
          </a:bodyPr>
          <a:lstStyle/>
          <a:p>
            <a:pPr algn="l" indent="0" marL="0">
              <a:lnSpc>
                <a:spcPts val="900"/>
              </a:lnSpc>
              <a:buNone/>
            </a:pPr>
            <a:r>
              <a:rPr lang="en-US" sz="584" b="1" dirty="0">
                <a:solidFill>
                  <a:srgbClr val="002B5C"/>
                </a:solidFill>
              </a:rPr>
              <a:t>Mitigation</a:t>
            </a:r>
            <a:endParaRPr lang="en-US" sz="584" dirty="0"/>
          </a:p>
        </p:txBody>
      </p:sp>
      <p:sp>
        <p:nvSpPr>
          <p:cNvPr id="44" name="Text 37"/>
          <p:cNvSpPr/>
          <p:nvPr/>
        </p:nvSpPr>
        <p:spPr>
          <a:xfrm>
            <a:off x="6238866" y="2602446"/>
            <a:ext cx="1817443"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Agile development methodology, strict</a:t>
            </a:r>
            <a:endParaRPr lang="en-US" sz="727" dirty="0"/>
          </a:p>
        </p:txBody>
      </p:sp>
      <p:sp>
        <p:nvSpPr>
          <p:cNvPr id="45" name="Text 38"/>
          <p:cNvSpPr/>
          <p:nvPr/>
        </p:nvSpPr>
        <p:spPr>
          <a:xfrm>
            <a:off x="6238866" y="2742447"/>
            <a:ext cx="2059660"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milestone checkpoints, and risk monitoring.</a:t>
            </a:r>
            <a:endParaRPr lang="en-US" sz="727" dirty="0"/>
          </a:p>
        </p:txBody>
      </p:sp>
      <p:sp>
        <p:nvSpPr>
          <p:cNvPr id="46" name="Shape 39"/>
          <p:cNvSpPr/>
          <p:nvPr/>
        </p:nvSpPr>
        <p:spPr>
          <a:xfrm>
            <a:off x="6095991" y="3202130"/>
            <a:ext cx="2476481" cy="960779"/>
          </a:xfrm>
          <a:prstGeom prst="rect">
            <a:avLst/>
          </a:prstGeom>
          <a:solidFill>
            <a:srgbClr val="F9F9F9"/>
          </a:solidFill>
          <a:ln/>
        </p:spPr>
      </p:sp>
      <p:sp>
        <p:nvSpPr>
          <p:cNvPr id="47" name="Shape 40"/>
          <p:cNvSpPr/>
          <p:nvPr/>
        </p:nvSpPr>
        <p:spPr>
          <a:xfrm>
            <a:off x="6095991" y="3202130"/>
            <a:ext cx="28575" cy="960779"/>
          </a:xfrm>
          <a:prstGeom prst="rect">
            <a:avLst/>
          </a:prstGeom>
          <a:solidFill>
            <a:srgbClr val="333333"/>
          </a:solidFill>
          <a:ln/>
        </p:spPr>
      </p:sp>
      <p:sp>
        <p:nvSpPr>
          <p:cNvPr id="48" name="Text 41"/>
          <p:cNvSpPr/>
          <p:nvPr/>
        </p:nvSpPr>
        <p:spPr>
          <a:xfrm>
            <a:off x="6238866" y="3345005"/>
            <a:ext cx="2190731"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33333"/>
                </a:solidFill>
              </a:rPr>
              <a:t>Market Changes</a:t>
            </a:r>
            <a:endParaRPr lang="en-US" sz="885" dirty="0"/>
          </a:p>
        </p:txBody>
      </p:sp>
      <p:sp>
        <p:nvSpPr>
          <p:cNvPr id="49" name="Text 42"/>
          <p:cNvSpPr/>
          <p:nvPr/>
        </p:nvSpPr>
        <p:spPr>
          <a:xfrm>
            <a:off x="6238866" y="3591465"/>
            <a:ext cx="2190731" cy="119993"/>
          </a:xfrm>
          <a:prstGeom prst="rect">
            <a:avLst/>
          </a:prstGeom>
          <a:noFill/>
          <a:ln/>
        </p:spPr>
        <p:txBody>
          <a:bodyPr wrap="none" lIns="0" tIns="0" rIns="0" bIns="0" rtlCol="0" anchor="t">
            <a:spAutoFit/>
          </a:bodyPr>
          <a:lstStyle/>
          <a:p>
            <a:pPr algn="l" indent="0" marL="0">
              <a:lnSpc>
                <a:spcPts val="900"/>
              </a:lnSpc>
              <a:buNone/>
            </a:pPr>
            <a:r>
              <a:rPr lang="en-US" sz="584" b="1" dirty="0">
                <a:solidFill>
                  <a:srgbClr val="002B5C"/>
                </a:solidFill>
              </a:rPr>
              <a:t>Mitigation</a:t>
            </a:r>
            <a:endParaRPr lang="en-US" sz="584" dirty="0"/>
          </a:p>
        </p:txBody>
      </p:sp>
      <p:sp>
        <p:nvSpPr>
          <p:cNvPr id="50" name="Text 43"/>
          <p:cNvSpPr/>
          <p:nvPr/>
        </p:nvSpPr>
        <p:spPr>
          <a:xfrm>
            <a:off x="6238866" y="3741818"/>
            <a:ext cx="2115582"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Modular architecture allows rapid adaptation</a:t>
            </a:r>
            <a:endParaRPr lang="en-US" sz="727" dirty="0"/>
          </a:p>
        </p:txBody>
      </p:sp>
      <p:sp>
        <p:nvSpPr>
          <p:cNvPr id="51" name="Text 44"/>
          <p:cNvSpPr/>
          <p:nvPr/>
        </p:nvSpPr>
        <p:spPr>
          <a:xfrm>
            <a:off x="6238866" y="3881819"/>
            <a:ext cx="1562221"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555555"/>
                </a:solidFill>
              </a:rPr>
              <a:t>to new manufacturing processes.</a:t>
            </a:r>
            <a:endParaRPr lang="en-US" sz="727" dirty="0"/>
          </a:p>
        </p:txBody>
      </p:sp>
      <p:sp>
        <p:nvSpPr>
          <p:cNvPr id="52" name="Shape 45"/>
          <p:cNvSpPr/>
          <p:nvPr/>
        </p:nvSpPr>
        <p:spPr>
          <a:xfrm>
            <a:off x="571500" y="4657223"/>
            <a:ext cx="8001000" cy="460772"/>
          </a:xfrm>
          <a:prstGeom prst="rect">
            <a:avLst/>
          </a:prstGeom>
          <a:solidFill>
            <a:srgbClr val="002B5C"/>
          </a:solidFill>
          <a:ln/>
        </p:spPr>
      </p:sp>
      <p:sp>
        <p:nvSpPr>
          <p:cNvPr id="53" name="Text 46"/>
          <p:cNvSpPr/>
          <p:nvPr/>
        </p:nvSpPr>
        <p:spPr>
          <a:xfrm>
            <a:off x="785813" y="4800098"/>
            <a:ext cx="1209498"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4F00"/>
                </a:solidFill>
              </a:rPr>
              <a:t>Risk Monitoring</a:t>
            </a:r>
            <a:endParaRPr lang="en-US" sz="885" dirty="0"/>
          </a:p>
        </p:txBody>
      </p:sp>
      <p:pic>
        <p:nvPicPr>
          <p:cNvPr id="54" name="Image 4" descr="preencoded.png">    </p:cNvPr>
          <p:cNvPicPr>
            <a:picLocks noChangeAspect="1"/>
          </p:cNvPicPr>
          <p:nvPr/>
        </p:nvPicPr>
        <p:blipFill>
          <a:blip r:embed="rId5"/>
          <a:stretch>
            <a:fillRect/>
          </a:stretch>
        </p:blipFill>
        <p:spPr>
          <a:xfrm>
            <a:off x="2209623" y="4830459"/>
            <a:ext cx="100013" cy="114300"/>
          </a:xfrm>
          <a:prstGeom prst="rect">
            <a:avLst/>
          </a:prstGeom>
        </p:spPr>
      </p:pic>
      <p:sp>
        <p:nvSpPr>
          <p:cNvPr id="55" name="Text 47"/>
          <p:cNvSpPr/>
          <p:nvPr/>
        </p:nvSpPr>
        <p:spPr>
          <a:xfrm>
            <a:off x="2381073" y="4809920"/>
            <a:ext cx="1379720"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Weekly Risk Assessments</a:t>
            </a:r>
            <a:endParaRPr lang="en-US" sz="784" dirty="0"/>
          </a:p>
        </p:txBody>
      </p:sp>
      <p:pic>
        <p:nvPicPr>
          <p:cNvPr id="56" name="Image 5" descr="preencoded.png">    </p:cNvPr>
          <p:cNvPicPr>
            <a:picLocks noChangeAspect="1"/>
          </p:cNvPicPr>
          <p:nvPr/>
        </p:nvPicPr>
        <p:blipFill>
          <a:blip r:embed="rId6"/>
          <a:stretch>
            <a:fillRect/>
          </a:stretch>
        </p:blipFill>
        <p:spPr>
          <a:xfrm>
            <a:off x="4046544" y="4830459"/>
            <a:ext cx="128588" cy="114300"/>
          </a:xfrm>
          <a:prstGeom prst="rect">
            <a:avLst/>
          </a:prstGeom>
        </p:spPr>
      </p:pic>
      <p:sp>
        <p:nvSpPr>
          <p:cNvPr id="57" name="Text 48"/>
          <p:cNvSpPr/>
          <p:nvPr/>
        </p:nvSpPr>
        <p:spPr>
          <a:xfrm>
            <a:off x="4246569" y="4809920"/>
            <a:ext cx="1362001"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Real-time KPI Dashboard</a:t>
            </a:r>
            <a:endParaRPr lang="en-US" sz="784" dirty="0"/>
          </a:p>
        </p:txBody>
      </p:sp>
      <p:pic>
        <p:nvPicPr>
          <p:cNvPr id="58" name="Image 6" descr="preencoded.png">    </p:cNvPr>
          <p:cNvPicPr>
            <a:picLocks noChangeAspect="1"/>
          </p:cNvPicPr>
          <p:nvPr/>
        </p:nvPicPr>
        <p:blipFill>
          <a:blip r:embed="rId7"/>
          <a:stretch>
            <a:fillRect/>
          </a:stretch>
        </p:blipFill>
        <p:spPr>
          <a:xfrm>
            <a:off x="5894319" y="4830459"/>
            <a:ext cx="100013" cy="114300"/>
          </a:xfrm>
          <a:prstGeom prst="rect">
            <a:avLst/>
          </a:prstGeom>
        </p:spPr>
      </p:pic>
      <p:sp>
        <p:nvSpPr>
          <p:cNvPr id="59" name="Text 49"/>
          <p:cNvSpPr/>
          <p:nvPr/>
        </p:nvSpPr>
        <p:spPr>
          <a:xfrm>
            <a:off x="6065769" y="4809920"/>
            <a:ext cx="1489109"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rPr>
              <a:t>Emergency Response Plans</a:t>
            </a:r>
            <a:endParaRPr lang="en-US" sz="784"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91720"/>
          </a:xfrm>
          <a:prstGeom prst="rect">
            <a:avLst/>
          </a:prstGeom>
        </p:spPr>
      </p:pic>
      <p:sp>
        <p:nvSpPr>
          <p:cNvPr id="4" name="Shape 0"/>
          <p:cNvSpPr/>
          <p:nvPr/>
        </p:nvSpPr>
        <p:spPr>
          <a:xfrm>
            <a:off x="571500" y="428625"/>
            <a:ext cx="8001000" cy="580430"/>
          </a:xfrm>
          <a:prstGeom prst="rect">
            <a:avLst/>
          </a:prstGeom>
          <a:solidFill>
            <a:srgbClr val="000000">
              <a:alpha val="0"/>
            </a:srgbClr>
          </a:solidFill>
          <a:ln/>
        </p:spPr>
      </p:sp>
      <p:sp>
        <p:nvSpPr>
          <p:cNvPr id="5" name="Shape 1"/>
          <p:cNvSpPr/>
          <p:nvPr/>
        </p:nvSpPr>
        <p:spPr>
          <a:xfrm>
            <a:off x="571500" y="980480"/>
            <a:ext cx="8001000" cy="28575"/>
          </a:xfrm>
          <a:prstGeom prst="rect">
            <a:avLst/>
          </a:prstGeom>
          <a:solidFill>
            <a:srgbClr val="002B5C"/>
          </a:solidFill>
          <a:ln/>
        </p:spPr>
      </p:sp>
      <p:sp>
        <p:nvSpPr>
          <p:cNvPr id="6" name="Text 2"/>
          <p:cNvSpPr/>
          <p:nvPr/>
        </p:nvSpPr>
        <p:spPr>
          <a:xfrm>
            <a:off x="571500" y="428625"/>
            <a:ext cx="8001000" cy="40898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002B5C"/>
                </a:solidFill>
              </a:rPr>
              <a:t>Competitive Advantages and Differentiation</a:t>
            </a:r>
            <a:endParaRPr lang="en-US" sz="2121" dirty="0"/>
          </a:p>
        </p:txBody>
      </p:sp>
      <p:pic>
        <p:nvPicPr>
          <p:cNvPr id="7" name="Image 1" descr="preencoded.png">    </p:cNvPr>
          <p:cNvPicPr>
            <a:picLocks noChangeAspect="1"/>
          </p:cNvPicPr>
          <p:nvPr/>
        </p:nvPicPr>
        <p:blipFill>
          <a:blip r:embed="rId2"/>
          <a:stretch>
            <a:fillRect/>
          </a:stretch>
        </p:blipFill>
        <p:spPr>
          <a:xfrm>
            <a:off x="742950" y="1299270"/>
            <a:ext cx="128588" cy="128588"/>
          </a:xfrm>
          <a:prstGeom prst="rect">
            <a:avLst/>
          </a:prstGeom>
        </p:spPr>
      </p:pic>
      <p:sp>
        <p:nvSpPr>
          <p:cNvPr id="8" name="Text 3"/>
          <p:cNvSpPr/>
          <p:nvPr/>
        </p:nvSpPr>
        <p:spPr>
          <a:xfrm>
            <a:off x="942975" y="1266230"/>
            <a:ext cx="1492486"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33333"/>
                </a:solidFill>
              </a:rPr>
              <a:t>Technical Leadership</a:t>
            </a:r>
            <a:endParaRPr lang="en-US" sz="987" dirty="0"/>
          </a:p>
        </p:txBody>
      </p:sp>
      <p:sp>
        <p:nvSpPr>
          <p:cNvPr id="9" name="Text 4"/>
          <p:cNvSpPr/>
          <p:nvPr/>
        </p:nvSpPr>
        <p:spPr>
          <a:xfrm>
            <a:off x="742950" y="1518047"/>
            <a:ext cx="441483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555555"/>
                </a:solidFill>
              </a:rPr>
              <a:t>Superior performance metrics compared to traditional AOI and competitor solutions.</a:t>
            </a:r>
            <a:endParaRPr lang="en-US" sz="834" dirty="0"/>
          </a:p>
        </p:txBody>
      </p:sp>
      <p:sp>
        <p:nvSpPr>
          <p:cNvPr id="10" name="Shape 5"/>
          <p:cNvSpPr/>
          <p:nvPr/>
        </p:nvSpPr>
        <p:spPr>
          <a:xfrm>
            <a:off x="742950" y="1895215"/>
            <a:ext cx="864394" cy="164306"/>
          </a:xfrm>
          <a:prstGeom prst="rect">
            <a:avLst/>
          </a:prstGeom>
          <a:solidFill>
            <a:srgbClr val="FFF5F0"/>
          </a:solidFill>
          <a:ln/>
        </p:spPr>
      </p:sp>
      <p:sp>
        <p:nvSpPr>
          <p:cNvPr id="11" name="Text 6"/>
          <p:cNvSpPr/>
          <p:nvPr/>
        </p:nvSpPr>
        <p:spPr>
          <a:xfrm>
            <a:off x="742950" y="1895215"/>
            <a:ext cx="864394" cy="164306"/>
          </a:xfrm>
          <a:prstGeom prst="rect">
            <a:avLst/>
          </a:prstGeom>
          <a:noFill/>
          <a:ln/>
        </p:spPr>
        <p:txBody>
          <a:bodyPr wrap="none" lIns="68072" tIns="17018" rIns="68072" bIns="17018" rtlCol="0" anchor="t">
            <a:spAutoFit/>
          </a:bodyPr>
          <a:lstStyle/>
          <a:p>
            <a:pPr algn="l" indent="0" marL="0">
              <a:lnSpc>
                <a:spcPts val="900"/>
              </a:lnSpc>
              <a:buNone/>
            </a:pPr>
            <a:r>
              <a:rPr lang="en-US" sz="683" b="1" dirty="0">
                <a:solidFill>
                  <a:srgbClr val="FF4F00"/>
                </a:solidFill>
              </a:rPr>
              <a:t>99.1% Accuracy</a:t>
            </a:r>
            <a:endParaRPr lang="en-US" sz="683" dirty="0"/>
          </a:p>
        </p:txBody>
      </p:sp>
      <p:sp>
        <p:nvSpPr>
          <p:cNvPr id="12" name="Shape 7"/>
          <p:cNvSpPr/>
          <p:nvPr/>
        </p:nvSpPr>
        <p:spPr>
          <a:xfrm>
            <a:off x="1714500" y="1895215"/>
            <a:ext cx="838916" cy="164306"/>
          </a:xfrm>
          <a:prstGeom prst="rect">
            <a:avLst/>
          </a:prstGeom>
          <a:solidFill>
            <a:srgbClr val="FFF5F0"/>
          </a:solidFill>
          <a:ln/>
        </p:spPr>
      </p:sp>
      <p:sp>
        <p:nvSpPr>
          <p:cNvPr id="13" name="Text 8"/>
          <p:cNvSpPr/>
          <p:nvPr/>
        </p:nvSpPr>
        <p:spPr>
          <a:xfrm>
            <a:off x="1714500" y="1895215"/>
            <a:ext cx="838916" cy="164306"/>
          </a:xfrm>
          <a:prstGeom prst="rect">
            <a:avLst/>
          </a:prstGeom>
          <a:noFill/>
          <a:ln/>
        </p:spPr>
        <p:txBody>
          <a:bodyPr wrap="none" lIns="68072" tIns="17018" rIns="68072" bIns="17018" rtlCol="0" anchor="t">
            <a:spAutoFit/>
          </a:bodyPr>
          <a:lstStyle/>
          <a:p>
            <a:pPr algn="l" indent="0" marL="0">
              <a:lnSpc>
                <a:spcPts val="900"/>
              </a:lnSpc>
              <a:buNone/>
            </a:pPr>
            <a:r>
              <a:rPr lang="en-US" sz="683" b="1" dirty="0">
                <a:solidFill>
                  <a:srgbClr val="FF4F00"/>
                </a:solidFill>
              </a:rPr>
              <a:t>&lt;50ms Latency</a:t>
            </a:r>
            <a:endParaRPr lang="en-US" sz="683" dirty="0"/>
          </a:p>
        </p:txBody>
      </p:sp>
      <p:sp>
        <p:nvSpPr>
          <p:cNvPr id="14" name="Shape 9"/>
          <p:cNvSpPr/>
          <p:nvPr/>
        </p:nvSpPr>
        <p:spPr>
          <a:xfrm>
            <a:off x="2660572" y="1895215"/>
            <a:ext cx="815392" cy="164306"/>
          </a:xfrm>
          <a:prstGeom prst="rect">
            <a:avLst/>
          </a:prstGeom>
          <a:solidFill>
            <a:srgbClr val="FFF5F0"/>
          </a:solidFill>
          <a:ln/>
        </p:spPr>
      </p:sp>
      <p:sp>
        <p:nvSpPr>
          <p:cNvPr id="15" name="Text 10"/>
          <p:cNvSpPr/>
          <p:nvPr/>
        </p:nvSpPr>
        <p:spPr>
          <a:xfrm>
            <a:off x="2660572" y="1895215"/>
            <a:ext cx="815392" cy="164306"/>
          </a:xfrm>
          <a:prstGeom prst="rect">
            <a:avLst/>
          </a:prstGeom>
          <a:noFill/>
          <a:ln/>
        </p:spPr>
        <p:txBody>
          <a:bodyPr wrap="none" lIns="68072" tIns="17018" rIns="68072" bIns="17018" rtlCol="0" anchor="t">
            <a:spAutoFit/>
          </a:bodyPr>
          <a:lstStyle/>
          <a:p>
            <a:pPr algn="l" indent="0" marL="0">
              <a:lnSpc>
                <a:spcPts val="900"/>
              </a:lnSpc>
              <a:buNone/>
            </a:pPr>
            <a:r>
              <a:rPr lang="en-US" sz="683" b="1" dirty="0">
                <a:solidFill>
                  <a:srgbClr val="FF4F00"/>
                </a:solidFill>
              </a:rPr>
              <a:t>Auto-Learning</a:t>
            </a:r>
            <a:endParaRPr lang="en-US" sz="683" dirty="0"/>
          </a:p>
        </p:txBody>
      </p:sp>
      <p:pic>
        <p:nvPicPr>
          <p:cNvPr id="16" name="Image 2" descr="preencoded.png">    </p:cNvPr>
          <p:cNvPicPr>
            <a:picLocks noChangeAspect="1"/>
          </p:cNvPicPr>
          <p:nvPr/>
        </p:nvPicPr>
        <p:blipFill>
          <a:blip r:embed="rId3"/>
          <a:stretch>
            <a:fillRect/>
          </a:stretch>
        </p:blipFill>
        <p:spPr>
          <a:xfrm>
            <a:off x="742950" y="2271154"/>
            <a:ext cx="144661" cy="128588"/>
          </a:xfrm>
          <a:prstGeom prst="rect">
            <a:avLst/>
          </a:prstGeom>
        </p:spPr>
      </p:pic>
      <p:sp>
        <p:nvSpPr>
          <p:cNvPr id="17" name="Text 11"/>
          <p:cNvSpPr/>
          <p:nvPr/>
        </p:nvSpPr>
        <p:spPr>
          <a:xfrm>
            <a:off x="959048" y="2238115"/>
            <a:ext cx="1289754"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33333"/>
                </a:solidFill>
              </a:rPr>
              <a:t>Cost Effectiveness</a:t>
            </a:r>
            <a:endParaRPr lang="en-US" sz="987" dirty="0"/>
          </a:p>
        </p:txBody>
      </p:sp>
      <p:sp>
        <p:nvSpPr>
          <p:cNvPr id="18" name="Text 12"/>
          <p:cNvSpPr/>
          <p:nvPr/>
        </p:nvSpPr>
        <p:spPr>
          <a:xfrm>
            <a:off x="742950" y="2489932"/>
            <a:ext cx="4414838"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555555"/>
                </a:solidFill>
              </a:rPr>
              <a:t>Rapid ROI through significant labor reduction and yield improvement.</a:t>
            </a:r>
            <a:endParaRPr lang="en-US" sz="834" dirty="0"/>
          </a:p>
        </p:txBody>
      </p:sp>
      <p:sp>
        <p:nvSpPr>
          <p:cNvPr id="19" name="Shape 13"/>
          <p:cNvSpPr/>
          <p:nvPr/>
        </p:nvSpPr>
        <p:spPr>
          <a:xfrm>
            <a:off x="742950" y="2707091"/>
            <a:ext cx="987428" cy="164306"/>
          </a:xfrm>
          <a:prstGeom prst="rect">
            <a:avLst/>
          </a:prstGeom>
          <a:solidFill>
            <a:srgbClr val="FFF5F0"/>
          </a:solidFill>
          <a:ln/>
        </p:spPr>
      </p:sp>
      <p:sp>
        <p:nvSpPr>
          <p:cNvPr id="20" name="Text 14"/>
          <p:cNvSpPr/>
          <p:nvPr/>
        </p:nvSpPr>
        <p:spPr>
          <a:xfrm>
            <a:off x="742950" y="2707091"/>
            <a:ext cx="987428" cy="164306"/>
          </a:xfrm>
          <a:prstGeom prst="rect">
            <a:avLst/>
          </a:prstGeom>
          <a:noFill/>
          <a:ln/>
        </p:spPr>
        <p:txBody>
          <a:bodyPr wrap="none" lIns="68072" tIns="17018" rIns="68072" bIns="17018" rtlCol="0" anchor="t">
            <a:spAutoFit/>
          </a:bodyPr>
          <a:lstStyle/>
          <a:p>
            <a:pPr algn="l" indent="0" marL="0">
              <a:lnSpc>
                <a:spcPts val="900"/>
              </a:lnSpc>
              <a:buNone/>
            </a:pPr>
            <a:r>
              <a:rPr lang="en-US" sz="683" b="1" dirty="0">
                <a:solidFill>
                  <a:srgbClr val="FF4F00"/>
                </a:solidFill>
              </a:rPr>
              <a:t>12-18 Mo Payback</a:t>
            </a:r>
            <a:endParaRPr lang="en-US" sz="683" dirty="0"/>
          </a:p>
        </p:txBody>
      </p:sp>
      <p:sp>
        <p:nvSpPr>
          <p:cNvPr id="21" name="Shape 15"/>
          <p:cNvSpPr/>
          <p:nvPr/>
        </p:nvSpPr>
        <p:spPr>
          <a:xfrm>
            <a:off x="1837534" y="2707091"/>
            <a:ext cx="1061545" cy="164306"/>
          </a:xfrm>
          <a:prstGeom prst="rect">
            <a:avLst/>
          </a:prstGeom>
          <a:solidFill>
            <a:srgbClr val="FFF5F0"/>
          </a:solidFill>
          <a:ln/>
        </p:spPr>
      </p:sp>
      <p:sp>
        <p:nvSpPr>
          <p:cNvPr id="22" name="Text 16"/>
          <p:cNvSpPr/>
          <p:nvPr/>
        </p:nvSpPr>
        <p:spPr>
          <a:xfrm>
            <a:off x="1837534" y="2707091"/>
            <a:ext cx="1061545" cy="164306"/>
          </a:xfrm>
          <a:prstGeom prst="rect">
            <a:avLst/>
          </a:prstGeom>
          <a:noFill/>
          <a:ln/>
        </p:spPr>
        <p:txBody>
          <a:bodyPr wrap="none" lIns="68072" tIns="17018" rIns="68072" bIns="17018" rtlCol="0" anchor="t">
            <a:spAutoFit/>
          </a:bodyPr>
          <a:lstStyle/>
          <a:p>
            <a:pPr algn="l" indent="0" marL="0">
              <a:lnSpc>
                <a:spcPts val="900"/>
              </a:lnSpc>
              <a:buNone/>
            </a:pPr>
            <a:r>
              <a:rPr lang="en-US" sz="683" b="1" dirty="0">
                <a:solidFill>
                  <a:srgbClr val="FF4F00"/>
                </a:solidFill>
              </a:rPr>
              <a:t>$1.5M Savings/Year</a:t>
            </a:r>
            <a:endParaRPr lang="en-US" sz="683" dirty="0"/>
          </a:p>
        </p:txBody>
      </p:sp>
      <p:pic>
        <p:nvPicPr>
          <p:cNvPr id="23" name="Image 3" descr="preencoded.png">    </p:cNvPr>
          <p:cNvPicPr>
            <a:picLocks noChangeAspect="1"/>
          </p:cNvPicPr>
          <p:nvPr/>
        </p:nvPicPr>
        <p:blipFill>
          <a:blip r:embed="rId4"/>
          <a:stretch>
            <a:fillRect/>
          </a:stretch>
        </p:blipFill>
        <p:spPr>
          <a:xfrm>
            <a:off x="742950" y="3083030"/>
            <a:ext cx="96441" cy="128588"/>
          </a:xfrm>
          <a:prstGeom prst="rect">
            <a:avLst/>
          </a:prstGeom>
        </p:spPr>
      </p:pic>
      <p:sp>
        <p:nvSpPr>
          <p:cNvPr id="24" name="Text 17"/>
          <p:cNvSpPr/>
          <p:nvPr/>
        </p:nvSpPr>
        <p:spPr>
          <a:xfrm>
            <a:off x="910828" y="3049991"/>
            <a:ext cx="1178300"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33333"/>
                </a:solidFill>
              </a:rPr>
              <a:t>Easy Integration</a:t>
            </a:r>
            <a:endParaRPr lang="en-US" sz="987" dirty="0"/>
          </a:p>
        </p:txBody>
      </p:sp>
      <p:sp>
        <p:nvSpPr>
          <p:cNvPr id="25" name="Text 18"/>
          <p:cNvSpPr/>
          <p:nvPr/>
        </p:nvSpPr>
        <p:spPr>
          <a:xfrm>
            <a:off x="742950" y="3301808"/>
            <a:ext cx="441483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555555"/>
                </a:solidFill>
              </a:rPr>
              <a:t>Seamless deployment into existing manufacturing environments without workflow disruption.</a:t>
            </a:r>
            <a:endParaRPr lang="en-US" sz="834" dirty="0"/>
          </a:p>
        </p:txBody>
      </p:sp>
      <p:sp>
        <p:nvSpPr>
          <p:cNvPr id="26" name="Shape 19"/>
          <p:cNvSpPr/>
          <p:nvPr/>
        </p:nvSpPr>
        <p:spPr>
          <a:xfrm>
            <a:off x="742950" y="3678975"/>
            <a:ext cx="1009334" cy="164306"/>
          </a:xfrm>
          <a:prstGeom prst="rect">
            <a:avLst/>
          </a:prstGeom>
          <a:solidFill>
            <a:srgbClr val="FFF5F0"/>
          </a:solidFill>
          <a:ln/>
        </p:spPr>
      </p:sp>
      <p:sp>
        <p:nvSpPr>
          <p:cNvPr id="27" name="Text 20"/>
          <p:cNvSpPr/>
          <p:nvPr/>
        </p:nvSpPr>
        <p:spPr>
          <a:xfrm>
            <a:off x="742950" y="3678975"/>
            <a:ext cx="1009334" cy="164306"/>
          </a:xfrm>
          <a:prstGeom prst="rect">
            <a:avLst/>
          </a:prstGeom>
          <a:noFill/>
          <a:ln/>
        </p:spPr>
        <p:txBody>
          <a:bodyPr wrap="none" lIns="68072" tIns="17018" rIns="68072" bIns="17018" rtlCol="0" anchor="t">
            <a:spAutoFit/>
          </a:bodyPr>
          <a:lstStyle/>
          <a:p>
            <a:pPr algn="l" indent="0" marL="0">
              <a:lnSpc>
                <a:spcPts val="900"/>
              </a:lnSpc>
              <a:buNone/>
            </a:pPr>
            <a:r>
              <a:rPr lang="en-US" sz="683" b="1" dirty="0">
                <a:solidFill>
                  <a:srgbClr val="FF4F00"/>
                </a:solidFill>
              </a:rPr>
              <a:t>Standard REST API</a:t>
            </a:r>
            <a:endParaRPr lang="en-US" sz="683" dirty="0"/>
          </a:p>
        </p:txBody>
      </p:sp>
      <p:sp>
        <p:nvSpPr>
          <p:cNvPr id="28" name="Shape 21"/>
          <p:cNvSpPr/>
          <p:nvPr/>
        </p:nvSpPr>
        <p:spPr>
          <a:xfrm>
            <a:off x="1859440" y="3678975"/>
            <a:ext cx="1021724" cy="164306"/>
          </a:xfrm>
          <a:prstGeom prst="rect">
            <a:avLst/>
          </a:prstGeom>
          <a:solidFill>
            <a:srgbClr val="FFF5F0"/>
          </a:solidFill>
          <a:ln/>
        </p:spPr>
      </p:sp>
      <p:sp>
        <p:nvSpPr>
          <p:cNvPr id="29" name="Text 22"/>
          <p:cNvSpPr/>
          <p:nvPr/>
        </p:nvSpPr>
        <p:spPr>
          <a:xfrm>
            <a:off x="1859440" y="3678975"/>
            <a:ext cx="1021724" cy="164306"/>
          </a:xfrm>
          <a:prstGeom prst="rect">
            <a:avLst/>
          </a:prstGeom>
          <a:noFill/>
          <a:ln/>
        </p:spPr>
        <p:txBody>
          <a:bodyPr wrap="none" lIns="68072" tIns="17018" rIns="68072" bIns="17018" rtlCol="0" anchor="t">
            <a:spAutoFit/>
          </a:bodyPr>
          <a:lstStyle/>
          <a:p>
            <a:pPr algn="l" indent="0" marL="0">
              <a:lnSpc>
                <a:spcPts val="900"/>
              </a:lnSpc>
              <a:buNone/>
            </a:pPr>
            <a:r>
              <a:rPr lang="en-US" sz="683" b="1" dirty="0">
                <a:solidFill>
                  <a:srgbClr val="FF4F00"/>
                </a:solidFill>
              </a:rPr>
              <a:t>Multi-MES Support</a:t>
            </a:r>
            <a:endParaRPr lang="en-US" sz="683" dirty="0"/>
          </a:p>
        </p:txBody>
      </p:sp>
      <p:pic>
        <p:nvPicPr>
          <p:cNvPr id="30" name="Image 4" descr="preencoded.png">    </p:cNvPr>
          <p:cNvPicPr>
            <a:picLocks noChangeAspect="1"/>
          </p:cNvPicPr>
          <p:nvPr/>
        </p:nvPicPr>
        <p:blipFill>
          <a:blip r:embed="rId5"/>
          <a:stretch>
            <a:fillRect/>
          </a:stretch>
        </p:blipFill>
        <p:spPr>
          <a:xfrm>
            <a:off x="742950" y="4054915"/>
            <a:ext cx="160734" cy="128588"/>
          </a:xfrm>
          <a:prstGeom prst="rect">
            <a:avLst/>
          </a:prstGeom>
        </p:spPr>
      </p:pic>
      <p:sp>
        <p:nvSpPr>
          <p:cNvPr id="31" name="Text 23"/>
          <p:cNvSpPr/>
          <p:nvPr/>
        </p:nvSpPr>
        <p:spPr>
          <a:xfrm>
            <a:off x="975122" y="4021875"/>
            <a:ext cx="1191444"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33333"/>
                </a:solidFill>
              </a:rPr>
              <a:t>Long-Term Value</a:t>
            </a:r>
            <a:endParaRPr lang="en-US" sz="987" dirty="0"/>
          </a:p>
        </p:txBody>
      </p:sp>
      <p:sp>
        <p:nvSpPr>
          <p:cNvPr id="32" name="Text 24"/>
          <p:cNvSpPr/>
          <p:nvPr/>
        </p:nvSpPr>
        <p:spPr>
          <a:xfrm>
            <a:off x="742950" y="4273693"/>
            <a:ext cx="4414838"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555555"/>
                </a:solidFill>
              </a:rPr>
              <a:t>Future-proof architecture that evolves with your manufacturing process.</a:t>
            </a:r>
            <a:endParaRPr lang="en-US" sz="834" dirty="0"/>
          </a:p>
        </p:txBody>
      </p:sp>
      <p:sp>
        <p:nvSpPr>
          <p:cNvPr id="33" name="Shape 25"/>
          <p:cNvSpPr/>
          <p:nvPr/>
        </p:nvSpPr>
        <p:spPr>
          <a:xfrm>
            <a:off x="742950" y="4490851"/>
            <a:ext cx="1026719" cy="164306"/>
          </a:xfrm>
          <a:prstGeom prst="rect">
            <a:avLst/>
          </a:prstGeom>
          <a:solidFill>
            <a:srgbClr val="FFF5F0"/>
          </a:solidFill>
          <a:ln/>
        </p:spPr>
      </p:sp>
      <p:sp>
        <p:nvSpPr>
          <p:cNvPr id="34" name="Text 26"/>
          <p:cNvSpPr/>
          <p:nvPr/>
        </p:nvSpPr>
        <p:spPr>
          <a:xfrm>
            <a:off x="742950" y="4490851"/>
            <a:ext cx="1026719" cy="164306"/>
          </a:xfrm>
          <a:prstGeom prst="rect">
            <a:avLst/>
          </a:prstGeom>
          <a:noFill/>
          <a:ln/>
        </p:spPr>
        <p:txBody>
          <a:bodyPr wrap="none" lIns="68072" tIns="17018" rIns="68072" bIns="17018" rtlCol="0" anchor="t">
            <a:spAutoFit/>
          </a:bodyPr>
          <a:lstStyle/>
          <a:p>
            <a:pPr algn="l" indent="0" marL="0">
              <a:lnSpc>
                <a:spcPts val="900"/>
              </a:lnSpc>
              <a:buNone/>
            </a:pPr>
            <a:r>
              <a:rPr lang="en-US" sz="683" b="1" dirty="0">
                <a:solidFill>
                  <a:srgbClr val="FF4F00"/>
                </a:solidFill>
              </a:rPr>
              <a:t>Automated MLOps</a:t>
            </a:r>
            <a:endParaRPr lang="en-US" sz="683" dirty="0"/>
          </a:p>
        </p:txBody>
      </p:sp>
      <p:sp>
        <p:nvSpPr>
          <p:cNvPr id="35" name="Shape 27"/>
          <p:cNvSpPr/>
          <p:nvPr/>
        </p:nvSpPr>
        <p:spPr>
          <a:xfrm>
            <a:off x="1876825" y="4490851"/>
            <a:ext cx="1371181" cy="164306"/>
          </a:xfrm>
          <a:prstGeom prst="rect">
            <a:avLst/>
          </a:prstGeom>
          <a:solidFill>
            <a:srgbClr val="FFF5F0"/>
          </a:solidFill>
          <a:ln/>
        </p:spPr>
      </p:sp>
      <p:sp>
        <p:nvSpPr>
          <p:cNvPr id="36" name="Text 28"/>
          <p:cNvSpPr/>
          <p:nvPr/>
        </p:nvSpPr>
        <p:spPr>
          <a:xfrm>
            <a:off x="1876825" y="4490851"/>
            <a:ext cx="1371181" cy="164306"/>
          </a:xfrm>
          <a:prstGeom prst="rect">
            <a:avLst/>
          </a:prstGeom>
          <a:noFill/>
          <a:ln/>
        </p:spPr>
        <p:txBody>
          <a:bodyPr wrap="none" lIns="68072" tIns="17018" rIns="68072" bIns="17018" rtlCol="0" anchor="t">
            <a:spAutoFit/>
          </a:bodyPr>
          <a:lstStyle/>
          <a:p>
            <a:pPr algn="l" indent="0" marL="0">
              <a:lnSpc>
                <a:spcPts val="900"/>
              </a:lnSpc>
              <a:buNone/>
            </a:pPr>
            <a:r>
              <a:rPr lang="en-US" sz="683" b="1" dirty="0">
                <a:solidFill>
                  <a:srgbClr val="FF4F00"/>
                </a:solidFill>
              </a:rPr>
              <a:t>Continuous Improvement</a:t>
            </a:r>
            <a:endParaRPr lang="en-US" sz="683" dirty="0"/>
          </a:p>
        </p:txBody>
      </p:sp>
      <p:sp>
        <p:nvSpPr>
          <p:cNvPr id="37" name="Shape 29"/>
          <p:cNvSpPr/>
          <p:nvPr/>
        </p:nvSpPr>
        <p:spPr>
          <a:xfrm>
            <a:off x="5514975" y="1266230"/>
            <a:ext cx="3057525" cy="1785938"/>
          </a:xfrm>
          <a:prstGeom prst="rect">
            <a:avLst/>
          </a:prstGeom>
          <a:solidFill>
            <a:srgbClr val="F0F0F0"/>
          </a:solidFill>
          <a:ln w="9144">
            <a:solidFill>
              <a:srgbClr val="DDDDDD"/>
            </a:solidFill>
            <a:prstDash val="solid"/>
          </a:ln>
        </p:spPr>
      </p:sp>
      <p:pic>
        <p:nvPicPr>
          <p:cNvPr id="38" name="Image 5" descr="preencoded.png">    </p:cNvPr>
          <p:cNvPicPr>
            <a:picLocks noChangeAspect="1"/>
          </p:cNvPicPr>
          <p:nvPr/>
        </p:nvPicPr>
        <p:blipFill>
          <a:blip r:embed="rId6"/>
          <a:stretch>
            <a:fillRect/>
          </a:stretch>
        </p:blipFill>
        <p:spPr>
          <a:xfrm>
            <a:off x="5514975" y="1266230"/>
            <a:ext cx="3057525" cy="1785938"/>
          </a:xfrm>
          <a:prstGeom prst="rect">
            <a:avLst/>
          </a:prstGeom>
        </p:spPr>
      </p:pic>
      <p:sp>
        <p:nvSpPr>
          <p:cNvPr id="39" name="Shape 30"/>
          <p:cNvSpPr/>
          <p:nvPr/>
        </p:nvSpPr>
        <p:spPr>
          <a:xfrm>
            <a:off x="5514975" y="3266480"/>
            <a:ext cx="3057525" cy="1682353"/>
          </a:xfrm>
          <a:prstGeom prst="rect">
            <a:avLst/>
          </a:prstGeom>
          <a:solidFill>
            <a:srgbClr val="002B5C"/>
          </a:solidFill>
          <a:ln/>
        </p:spPr>
      </p:sp>
      <p:sp>
        <p:nvSpPr>
          <p:cNvPr id="40" name="Text 31"/>
          <p:cNvSpPr/>
          <p:nvPr/>
        </p:nvSpPr>
        <p:spPr>
          <a:xfrm>
            <a:off x="5693569" y="3445073"/>
            <a:ext cx="2700338" cy="253603"/>
          </a:xfrm>
          <a:prstGeom prst="rect">
            <a:avLst/>
          </a:prstGeom>
          <a:noFill/>
          <a:ln/>
        </p:spPr>
        <p:txBody>
          <a:bodyPr wrap="square" lIns="0" tIns="0" rIns="0" bIns="85090" rtlCol="0" anchor="t">
            <a:spAutoFit/>
          </a:bodyPr>
          <a:lstStyle/>
          <a:p>
            <a:pPr algn="l" indent="0" marL="0">
              <a:lnSpc>
                <a:spcPts val="1200"/>
              </a:lnSpc>
              <a:buNone/>
            </a:pPr>
            <a:r>
              <a:rPr lang="en-US" sz="885" b="1" dirty="0">
                <a:solidFill>
                  <a:srgbClr val="FF4F00"/>
                </a:solidFill>
              </a:rPr>
              <a:t>Vendor Advantages</a:t>
            </a:r>
            <a:endParaRPr lang="en-US" sz="885" dirty="0"/>
          </a:p>
        </p:txBody>
      </p:sp>
      <p:pic>
        <p:nvPicPr>
          <p:cNvPr id="41" name="Image 6" descr="preencoded.png">    </p:cNvPr>
          <p:cNvPicPr>
            <a:picLocks noChangeAspect="1"/>
          </p:cNvPicPr>
          <p:nvPr/>
        </p:nvPicPr>
        <p:blipFill>
          <a:blip r:embed="rId7"/>
          <a:stretch>
            <a:fillRect/>
          </a:stretch>
        </p:blipFill>
        <p:spPr>
          <a:xfrm>
            <a:off x="5693569" y="3833515"/>
            <a:ext cx="100013" cy="100013"/>
          </a:xfrm>
          <a:prstGeom prst="rect">
            <a:avLst/>
          </a:prstGeom>
        </p:spPr>
      </p:pic>
      <p:sp>
        <p:nvSpPr>
          <p:cNvPr id="42" name="Text 32"/>
          <p:cNvSpPr/>
          <p:nvPr/>
        </p:nvSpPr>
        <p:spPr>
          <a:xfrm>
            <a:off x="5879306" y="3805833"/>
            <a:ext cx="1327733"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FFFFFF"/>
                </a:solidFill>
              </a:rPr>
              <a:t>Professional AI/ML Team</a:t>
            </a:r>
            <a:endParaRPr lang="en-US" sz="834" dirty="0"/>
          </a:p>
        </p:txBody>
      </p:sp>
      <p:pic>
        <p:nvPicPr>
          <p:cNvPr id="43" name="Image 7" descr="preencoded.png">    </p:cNvPr>
          <p:cNvPicPr>
            <a:picLocks noChangeAspect="1"/>
          </p:cNvPicPr>
          <p:nvPr/>
        </p:nvPicPr>
        <p:blipFill>
          <a:blip r:embed="rId8"/>
          <a:stretch>
            <a:fillRect/>
          </a:stretch>
        </p:blipFill>
        <p:spPr>
          <a:xfrm>
            <a:off x="5693569" y="4074616"/>
            <a:ext cx="100013" cy="100013"/>
          </a:xfrm>
          <a:prstGeom prst="rect">
            <a:avLst/>
          </a:prstGeom>
        </p:spPr>
      </p:pic>
      <p:sp>
        <p:nvSpPr>
          <p:cNvPr id="44" name="Text 33"/>
          <p:cNvSpPr/>
          <p:nvPr/>
        </p:nvSpPr>
        <p:spPr>
          <a:xfrm>
            <a:off x="5879306" y="4046934"/>
            <a:ext cx="1223814"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FFFFFF"/>
                </a:solidFill>
              </a:rPr>
              <a:t>24/7 Technical Support</a:t>
            </a:r>
            <a:endParaRPr lang="en-US" sz="834" dirty="0"/>
          </a:p>
        </p:txBody>
      </p:sp>
      <p:pic>
        <p:nvPicPr>
          <p:cNvPr id="45" name="Image 8" descr="preencoded.png">    </p:cNvPr>
          <p:cNvPicPr>
            <a:picLocks noChangeAspect="1"/>
          </p:cNvPicPr>
          <p:nvPr/>
        </p:nvPicPr>
        <p:blipFill>
          <a:blip r:embed="rId9"/>
          <a:stretch>
            <a:fillRect/>
          </a:stretch>
        </p:blipFill>
        <p:spPr>
          <a:xfrm>
            <a:off x="5693569" y="4315718"/>
            <a:ext cx="100013" cy="100013"/>
          </a:xfrm>
          <a:prstGeom prst="rect">
            <a:avLst/>
          </a:prstGeom>
        </p:spPr>
      </p:pic>
      <p:sp>
        <p:nvSpPr>
          <p:cNvPr id="46" name="Text 34"/>
          <p:cNvSpPr/>
          <p:nvPr/>
        </p:nvSpPr>
        <p:spPr>
          <a:xfrm>
            <a:off x="5879306" y="4288036"/>
            <a:ext cx="1572657"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FFFFFF"/>
                </a:solidFill>
              </a:rPr>
              <a:t>Proven Industry Track Record</a:t>
            </a:r>
            <a:endParaRPr lang="en-US" sz="834" dirty="0"/>
          </a:p>
        </p:txBody>
      </p:sp>
      <p:pic>
        <p:nvPicPr>
          <p:cNvPr id="47" name="Image 9" descr="preencoded.png">    </p:cNvPr>
          <p:cNvPicPr>
            <a:picLocks noChangeAspect="1"/>
          </p:cNvPicPr>
          <p:nvPr/>
        </p:nvPicPr>
        <p:blipFill>
          <a:blip r:embed="rId10"/>
          <a:stretch>
            <a:fillRect/>
          </a:stretch>
        </p:blipFill>
        <p:spPr>
          <a:xfrm>
            <a:off x="5693569" y="4556820"/>
            <a:ext cx="100013" cy="100013"/>
          </a:xfrm>
          <a:prstGeom prst="rect">
            <a:avLst/>
          </a:prstGeom>
        </p:spPr>
      </p:pic>
      <p:sp>
        <p:nvSpPr>
          <p:cNvPr id="48" name="Text 35"/>
          <p:cNvSpPr/>
          <p:nvPr/>
        </p:nvSpPr>
        <p:spPr>
          <a:xfrm>
            <a:off x="5879306" y="4529138"/>
            <a:ext cx="1561579"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FFFFFF"/>
                </a:solidFill>
              </a:rPr>
              <a:t>Regular Updates &amp; Upgrades</a:t>
            </a:r>
            <a:endParaRPr lang="en-US" sz="834"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28625"/>
            <a:ext cx="8001000" cy="580430"/>
          </a:xfrm>
          <a:prstGeom prst="rect">
            <a:avLst/>
          </a:prstGeom>
          <a:solidFill>
            <a:srgbClr val="000000">
              <a:alpha val="0"/>
            </a:srgbClr>
          </a:solidFill>
          <a:ln/>
        </p:spPr>
      </p:sp>
      <p:sp>
        <p:nvSpPr>
          <p:cNvPr id="5" name="Shape 1"/>
          <p:cNvSpPr/>
          <p:nvPr/>
        </p:nvSpPr>
        <p:spPr>
          <a:xfrm>
            <a:off x="571500" y="980480"/>
            <a:ext cx="8001000" cy="28575"/>
          </a:xfrm>
          <a:prstGeom prst="rect">
            <a:avLst/>
          </a:prstGeom>
          <a:solidFill>
            <a:srgbClr val="002B5C"/>
          </a:solidFill>
          <a:ln/>
        </p:spPr>
      </p:sp>
      <p:sp>
        <p:nvSpPr>
          <p:cNvPr id="6" name="Text 2"/>
          <p:cNvSpPr/>
          <p:nvPr/>
        </p:nvSpPr>
        <p:spPr>
          <a:xfrm>
            <a:off x="571500" y="428625"/>
            <a:ext cx="8001000" cy="40898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002B5C"/>
                </a:solidFill>
              </a:rPr>
              <a:t>Investment Decision and Next Steps</a:t>
            </a:r>
            <a:endParaRPr lang="en-US" sz="2121" dirty="0"/>
          </a:p>
        </p:txBody>
      </p:sp>
      <p:sp>
        <p:nvSpPr>
          <p:cNvPr id="7" name="Shape 3"/>
          <p:cNvSpPr/>
          <p:nvPr/>
        </p:nvSpPr>
        <p:spPr>
          <a:xfrm>
            <a:off x="571500" y="1123355"/>
            <a:ext cx="1893094" cy="780455"/>
          </a:xfrm>
          <a:prstGeom prst="rect">
            <a:avLst/>
          </a:prstGeom>
          <a:solidFill>
            <a:srgbClr val="F8F9FA"/>
          </a:solidFill>
          <a:ln/>
        </p:spPr>
      </p:sp>
      <p:sp>
        <p:nvSpPr>
          <p:cNvPr id="8" name="Shape 4"/>
          <p:cNvSpPr/>
          <p:nvPr/>
        </p:nvSpPr>
        <p:spPr>
          <a:xfrm>
            <a:off x="571500" y="1123355"/>
            <a:ext cx="1893094" cy="28575"/>
          </a:xfrm>
          <a:prstGeom prst="rect">
            <a:avLst/>
          </a:prstGeom>
          <a:solidFill>
            <a:srgbClr val="CCCCCC"/>
          </a:solidFill>
          <a:ln/>
        </p:spPr>
      </p:sp>
      <p:sp>
        <p:nvSpPr>
          <p:cNvPr id="9" name="Text 5"/>
          <p:cNvSpPr/>
          <p:nvPr/>
        </p:nvSpPr>
        <p:spPr>
          <a:xfrm>
            <a:off x="678656" y="1230511"/>
            <a:ext cx="1678781"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666666"/>
                </a:solidFill>
              </a:rPr>
              <a:t>Initial Investment</a:t>
            </a:r>
            <a:endParaRPr lang="en-US" sz="584" dirty="0"/>
          </a:p>
        </p:txBody>
      </p:sp>
      <p:sp>
        <p:nvSpPr>
          <p:cNvPr id="10" name="Text 6"/>
          <p:cNvSpPr/>
          <p:nvPr/>
        </p:nvSpPr>
        <p:spPr>
          <a:xfrm>
            <a:off x="678656" y="1382316"/>
            <a:ext cx="1678781"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333333"/>
                </a:solidFill>
              </a:rPr>
              <a:t>$500K-800K</a:t>
            </a:r>
            <a:endParaRPr lang="en-US" sz="1193" dirty="0"/>
          </a:p>
        </p:txBody>
      </p:sp>
      <p:sp>
        <p:nvSpPr>
          <p:cNvPr id="11" name="Text 7"/>
          <p:cNvSpPr/>
          <p:nvPr/>
        </p:nvSpPr>
        <p:spPr>
          <a:xfrm>
            <a:off x="678656" y="1651992"/>
            <a:ext cx="167878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666666"/>
                </a:solidFill>
              </a:rPr>
              <a:t>Dev &amp; Deployment</a:t>
            </a:r>
            <a:endParaRPr lang="en-US" sz="621" dirty="0"/>
          </a:p>
        </p:txBody>
      </p:sp>
      <p:sp>
        <p:nvSpPr>
          <p:cNvPr id="12" name="Shape 8"/>
          <p:cNvSpPr/>
          <p:nvPr/>
        </p:nvSpPr>
        <p:spPr>
          <a:xfrm>
            <a:off x="2607469" y="1123355"/>
            <a:ext cx="1893094" cy="780455"/>
          </a:xfrm>
          <a:prstGeom prst="rect">
            <a:avLst/>
          </a:prstGeom>
          <a:solidFill>
            <a:srgbClr val="F8F9FA"/>
          </a:solidFill>
          <a:ln/>
        </p:spPr>
      </p:sp>
      <p:sp>
        <p:nvSpPr>
          <p:cNvPr id="13" name="Shape 9"/>
          <p:cNvSpPr/>
          <p:nvPr/>
        </p:nvSpPr>
        <p:spPr>
          <a:xfrm>
            <a:off x="2607469" y="1123355"/>
            <a:ext cx="1893094" cy="28575"/>
          </a:xfrm>
          <a:prstGeom prst="rect">
            <a:avLst/>
          </a:prstGeom>
          <a:solidFill>
            <a:srgbClr val="CCCCCC"/>
          </a:solidFill>
          <a:ln/>
        </p:spPr>
      </p:sp>
      <p:sp>
        <p:nvSpPr>
          <p:cNvPr id="14" name="Text 10"/>
          <p:cNvSpPr/>
          <p:nvPr/>
        </p:nvSpPr>
        <p:spPr>
          <a:xfrm>
            <a:off x="2714625" y="1230511"/>
            <a:ext cx="1678781"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666666"/>
                </a:solidFill>
              </a:rPr>
              <a:t>Annual OpEx</a:t>
            </a:r>
            <a:endParaRPr lang="en-US" sz="584" dirty="0"/>
          </a:p>
        </p:txBody>
      </p:sp>
      <p:sp>
        <p:nvSpPr>
          <p:cNvPr id="15" name="Text 11"/>
          <p:cNvSpPr/>
          <p:nvPr/>
        </p:nvSpPr>
        <p:spPr>
          <a:xfrm>
            <a:off x="2714625" y="1382316"/>
            <a:ext cx="1678781"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333333"/>
                </a:solidFill>
              </a:rPr>
              <a:t>$200K-300K</a:t>
            </a:r>
            <a:endParaRPr lang="en-US" sz="1193" dirty="0"/>
          </a:p>
        </p:txBody>
      </p:sp>
      <p:sp>
        <p:nvSpPr>
          <p:cNvPr id="16" name="Text 12"/>
          <p:cNvSpPr/>
          <p:nvPr/>
        </p:nvSpPr>
        <p:spPr>
          <a:xfrm>
            <a:off x="2714625" y="1651992"/>
            <a:ext cx="167878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666666"/>
                </a:solidFill>
              </a:rPr>
              <a:t>GPU &amp; Maintenance</a:t>
            </a:r>
            <a:endParaRPr lang="en-US" sz="621" dirty="0"/>
          </a:p>
        </p:txBody>
      </p:sp>
      <p:sp>
        <p:nvSpPr>
          <p:cNvPr id="17" name="Shape 13"/>
          <p:cNvSpPr/>
          <p:nvPr/>
        </p:nvSpPr>
        <p:spPr>
          <a:xfrm>
            <a:off x="4643438" y="1123355"/>
            <a:ext cx="1893094" cy="780455"/>
          </a:xfrm>
          <a:prstGeom prst="rect">
            <a:avLst/>
          </a:prstGeom>
          <a:solidFill>
            <a:srgbClr val="002B5C"/>
          </a:solidFill>
          <a:ln/>
        </p:spPr>
      </p:sp>
      <p:sp>
        <p:nvSpPr>
          <p:cNvPr id="18" name="Shape 14"/>
          <p:cNvSpPr/>
          <p:nvPr/>
        </p:nvSpPr>
        <p:spPr>
          <a:xfrm>
            <a:off x="4643438" y="1123355"/>
            <a:ext cx="1893094" cy="28575"/>
          </a:xfrm>
          <a:prstGeom prst="rect">
            <a:avLst/>
          </a:prstGeom>
          <a:solidFill>
            <a:srgbClr val="FF4F00"/>
          </a:solidFill>
          <a:ln/>
        </p:spPr>
      </p:sp>
      <p:sp>
        <p:nvSpPr>
          <p:cNvPr id="19" name="Text 15"/>
          <p:cNvSpPr/>
          <p:nvPr/>
        </p:nvSpPr>
        <p:spPr>
          <a:xfrm>
            <a:off x="4750594" y="1230511"/>
            <a:ext cx="1678781"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FFFFFF">
                    <a:alpha val="70000"/>
                  </a:srgbClr>
                </a:solidFill>
              </a:rPr>
              <a:t>Year 1 ROI</a:t>
            </a:r>
            <a:endParaRPr lang="en-US" sz="584" dirty="0"/>
          </a:p>
        </p:txBody>
      </p:sp>
      <p:sp>
        <p:nvSpPr>
          <p:cNvPr id="20" name="Text 16"/>
          <p:cNvSpPr/>
          <p:nvPr/>
        </p:nvSpPr>
        <p:spPr>
          <a:xfrm>
            <a:off x="4750594" y="1382316"/>
            <a:ext cx="1678781"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4F00"/>
                </a:solidFill>
              </a:rPr>
              <a:t>$1M-1.5M</a:t>
            </a:r>
            <a:endParaRPr lang="en-US" sz="1193" dirty="0"/>
          </a:p>
        </p:txBody>
      </p:sp>
      <p:sp>
        <p:nvSpPr>
          <p:cNvPr id="21" name="Text 17"/>
          <p:cNvSpPr/>
          <p:nvPr/>
        </p:nvSpPr>
        <p:spPr>
          <a:xfrm>
            <a:off x="4750594" y="1651992"/>
            <a:ext cx="167878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FFFFFF">
                    <a:alpha val="80000"/>
                  </a:srgbClr>
                </a:solidFill>
              </a:rPr>
              <a:t>Yield &amp; Labor Savings</a:t>
            </a:r>
            <a:endParaRPr lang="en-US" sz="621" dirty="0"/>
          </a:p>
        </p:txBody>
      </p:sp>
      <p:sp>
        <p:nvSpPr>
          <p:cNvPr id="22" name="Shape 18"/>
          <p:cNvSpPr/>
          <p:nvPr/>
        </p:nvSpPr>
        <p:spPr>
          <a:xfrm>
            <a:off x="6679406" y="1123355"/>
            <a:ext cx="1893094" cy="780455"/>
          </a:xfrm>
          <a:prstGeom prst="rect">
            <a:avLst/>
          </a:prstGeom>
          <a:solidFill>
            <a:srgbClr val="002B5C"/>
          </a:solidFill>
          <a:ln/>
        </p:spPr>
      </p:sp>
      <p:sp>
        <p:nvSpPr>
          <p:cNvPr id="23" name="Shape 19"/>
          <p:cNvSpPr/>
          <p:nvPr/>
        </p:nvSpPr>
        <p:spPr>
          <a:xfrm>
            <a:off x="6679406" y="1123355"/>
            <a:ext cx="1893094" cy="28575"/>
          </a:xfrm>
          <a:prstGeom prst="rect">
            <a:avLst/>
          </a:prstGeom>
          <a:solidFill>
            <a:srgbClr val="FF4F00"/>
          </a:solidFill>
          <a:ln/>
        </p:spPr>
      </p:sp>
      <p:sp>
        <p:nvSpPr>
          <p:cNvPr id="24" name="Text 20"/>
          <p:cNvSpPr/>
          <p:nvPr/>
        </p:nvSpPr>
        <p:spPr>
          <a:xfrm>
            <a:off x="6786563" y="1230511"/>
            <a:ext cx="1678781"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FFFFFF">
                    <a:alpha val="70000"/>
                  </a:srgbClr>
                </a:solidFill>
              </a:rPr>
              <a:t>3-Year Benefit</a:t>
            </a:r>
            <a:endParaRPr lang="en-US" sz="584" dirty="0"/>
          </a:p>
        </p:txBody>
      </p:sp>
      <p:sp>
        <p:nvSpPr>
          <p:cNvPr id="25" name="Text 21"/>
          <p:cNvSpPr/>
          <p:nvPr/>
        </p:nvSpPr>
        <p:spPr>
          <a:xfrm>
            <a:off x="6786563" y="1382316"/>
            <a:ext cx="1678781"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4F00"/>
                </a:solidFill>
              </a:rPr>
              <a:t>$3M-4.5M</a:t>
            </a:r>
            <a:endParaRPr lang="en-US" sz="1193" dirty="0"/>
          </a:p>
        </p:txBody>
      </p:sp>
      <p:sp>
        <p:nvSpPr>
          <p:cNvPr id="26" name="Text 22"/>
          <p:cNvSpPr/>
          <p:nvPr/>
        </p:nvSpPr>
        <p:spPr>
          <a:xfrm>
            <a:off x="6786563" y="1651992"/>
            <a:ext cx="167878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FFFFFF">
                    <a:alpha val="80000"/>
                  </a:srgbClr>
                </a:solidFill>
              </a:rPr>
              <a:t>Cumulative Value</a:t>
            </a:r>
            <a:endParaRPr lang="en-US" sz="621" dirty="0"/>
          </a:p>
        </p:txBody>
      </p:sp>
      <p:sp>
        <p:nvSpPr>
          <p:cNvPr id="27" name="Text 23"/>
          <p:cNvSpPr/>
          <p:nvPr/>
        </p:nvSpPr>
        <p:spPr>
          <a:xfrm>
            <a:off x="571500" y="2018109"/>
            <a:ext cx="4223910" cy="175022"/>
          </a:xfrm>
          <a:prstGeom prst="rect">
            <a:avLst/>
          </a:prstGeom>
          <a:noFill/>
          <a:ln/>
        </p:spPr>
        <p:txBody>
          <a:bodyPr wrap="none" lIns="85090" tIns="0" rIns="0" bIns="0" rtlCol="0" anchor="t">
            <a:spAutoFit/>
          </a:bodyPr>
          <a:lstStyle/>
          <a:p>
            <a:pPr algn="l" indent="0" marL="0">
              <a:lnSpc>
                <a:spcPts val="1200"/>
              </a:lnSpc>
              <a:buNone/>
            </a:pPr>
            <a:r>
              <a:rPr lang="en-US" sz="885" b="1" dirty="0">
                <a:solidFill>
                  <a:srgbClr val="002B5C"/>
                </a:solidFill>
              </a:rPr>
              <a:t>Decision Criteria Met</a:t>
            </a:r>
            <a:endParaRPr lang="en-US" sz="885" dirty="0"/>
          </a:p>
        </p:txBody>
      </p:sp>
      <p:pic>
        <p:nvPicPr>
          <p:cNvPr id="28" name="Image 1" descr="preencoded.png">    </p:cNvPr>
          <p:cNvPicPr>
            <a:picLocks noChangeAspect="1"/>
          </p:cNvPicPr>
          <p:nvPr/>
        </p:nvPicPr>
        <p:blipFill>
          <a:blip r:embed="rId2"/>
          <a:stretch>
            <a:fillRect/>
          </a:stretch>
        </p:blipFill>
        <p:spPr>
          <a:xfrm>
            <a:off x="571500" y="2318147"/>
            <a:ext cx="100013" cy="100013"/>
          </a:xfrm>
          <a:prstGeom prst="rect">
            <a:avLst/>
          </a:prstGeom>
        </p:spPr>
      </p:pic>
      <p:sp>
        <p:nvSpPr>
          <p:cNvPr id="29" name="Text 24"/>
          <p:cNvSpPr/>
          <p:nvPr/>
        </p:nvSpPr>
        <p:spPr>
          <a:xfrm>
            <a:off x="728663" y="2300288"/>
            <a:ext cx="1308171"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333333"/>
                </a:solidFill>
              </a:rPr>
              <a:t>Technical Feasibility Verified</a:t>
            </a:r>
            <a:endParaRPr lang="en-US" sz="727" dirty="0"/>
          </a:p>
        </p:txBody>
      </p:sp>
      <p:pic>
        <p:nvPicPr>
          <p:cNvPr id="30" name="Image 2" descr="preencoded.png">    </p:cNvPr>
          <p:cNvPicPr>
            <a:picLocks noChangeAspect="1"/>
          </p:cNvPicPr>
          <p:nvPr/>
        </p:nvPicPr>
        <p:blipFill>
          <a:blip r:embed="rId3"/>
          <a:stretch>
            <a:fillRect/>
          </a:stretch>
        </p:blipFill>
        <p:spPr>
          <a:xfrm>
            <a:off x="2712030" y="2318147"/>
            <a:ext cx="100013" cy="100013"/>
          </a:xfrm>
          <a:prstGeom prst="rect">
            <a:avLst/>
          </a:prstGeom>
        </p:spPr>
      </p:pic>
      <p:sp>
        <p:nvSpPr>
          <p:cNvPr id="31" name="Text 25"/>
          <p:cNvSpPr/>
          <p:nvPr/>
        </p:nvSpPr>
        <p:spPr>
          <a:xfrm>
            <a:off x="2869192" y="2300288"/>
            <a:ext cx="1262881"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333333"/>
                </a:solidFill>
              </a:rPr>
              <a:t>Business Value &gt; 100% ROI</a:t>
            </a:r>
            <a:endParaRPr lang="en-US" sz="727" dirty="0"/>
          </a:p>
        </p:txBody>
      </p:sp>
      <p:pic>
        <p:nvPicPr>
          <p:cNvPr id="32" name="Image 3" descr="preencoded.png">    </p:cNvPr>
          <p:cNvPicPr>
            <a:picLocks noChangeAspect="1"/>
          </p:cNvPicPr>
          <p:nvPr/>
        </p:nvPicPr>
        <p:blipFill>
          <a:blip r:embed="rId4"/>
          <a:stretch>
            <a:fillRect/>
          </a:stretch>
        </p:blipFill>
        <p:spPr>
          <a:xfrm>
            <a:off x="571500" y="2511028"/>
            <a:ext cx="100013" cy="100013"/>
          </a:xfrm>
          <a:prstGeom prst="rect">
            <a:avLst/>
          </a:prstGeom>
        </p:spPr>
      </p:pic>
      <p:sp>
        <p:nvSpPr>
          <p:cNvPr id="33" name="Text 26"/>
          <p:cNvSpPr/>
          <p:nvPr/>
        </p:nvSpPr>
        <p:spPr>
          <a:xfrm>
            <a:off x="728663" y="2493169"/>
            <a:ext cx="1175063"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333333"/>
                </a:solidFill>
              </a:rPr>
              <a:t>Risk Mitigation Complete</a:t>
            </a:r>
            <a:endParaRPr lang="en-US" sz="727" dirty="0"/>
          </a:p>
        </p:txBody>
      </p:sp>
      <p:pic>
        <p:nvPicPr>
          <p:cNvPr id="34" name="Image 4" descr="preencoded.png">    </p:cNvPr>
          <p:cNvPicPr>
            <a:picLocks noChangeAspect="1"/>
          </p:cNvPicPr>
          <p:nvPr/>
        </p:nvPicPr>
        <p:blipFill>
          <a:blip r:embed="rId5"/>
          <a:stretch>
            <a:fillRect/>
          </a:stretch>
        </p:blipFill>
        <p:spPr>
          <a:xfrm>
            <a:off x="2712030" y="2511028"/>
            <a:ext cx="100013" cy="100013"/>
          </a:xfrm>
          <a:prstGeom prst="rect">
            <a:avLst/>
          </a:prstGeom>
        </p:spPr>
      </p:pic>
      <p:sp>
        <p:nvSpPr>
          <p:cNvPr id="35" name="Text 27"/>
          <p:cNvSpPr/>
          <p:nvPr/>
        </p:nvSpPr>
        <p:spPr>
          <a:xfrm>
            <a:off x="2869192" y="2493169"/>
            <a:ext cx="1292377"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333333"/>
                </a:solidFill>
              </a:rPr>
              <a:t>Timeline Reasonable (8 Mo)</a:t>
            </a:r>
            <a:endParaRPr lang="en-US" sz="727" dirty="0"/>
          </a:p>
        </p:txBody>
      </p:sp>
      <p:sp>
        <p:nvSpPr>
          <p:cNvPr id="36" name="Text 28"/>
          <p:cNvSpPr/>
          <p:nvPr/>
        </p:nvSpPr>
        <p:spPr>
          <a:xfrm>
            <a:off x="571500" y="2843213"/>
            <a:ext cx="4223910" cy="175022"/>
          </a:xfrm>
          <a:prstGeom prst="rect">
            <a:avLst/>
          </a:prstGeom>
          <a:noFill/>
          <a:ln/>
        </p:spPr>
        <p:txBody>
          <a:bodyPr wrap="none" lIns="85090" tIns="0" rIns="0" bIns="0" rtlCol="0" anchor="t">
            <a:spAutoFit/>
          </a:bodyPr>
          <a:lstStyle/>
          <a:p>
            <a:pPr algn="l" indent="0" marL="0">
              <a:lnSpc>
                <a:spcPts val="1200"/>
              </a:lnSpc>
              <a:buNone/>
            </a:pPr>
            <a:r>
              <a:rPr lang="en-US" sz="885" b="1" dirty="0">
                <a:solidFill>
                  <a:srgbClr val="002B5C"/>
                </a:solidFill>
              </a:rPr>
              <a:t>Recommended Next Steps</a:t>
            </a:r>
            <a:endParaRPr lang="en-US" sz="885" dirty="0"/>
          </a:p>
        </p:txBody>
      </p:sp>
      <p:sp>
        <p:nvSpPr>
          <p:cNvPr id="37" name="Shape 29"/>
          <p:cNvSpPr/>
          <p:nvPr/>
        </p:nvSpPr>
        <p:spPr>
          <a:xfrm>
            <a:off x="571500" y="3125391"/>
            <a:ext cx="4223910" cy="285750"/>
          </a:xfrm>
          <a:prstGeom prst="rect">
            <a:avLst/>
          </a:prstGeom>
          <a:solidFill>
            <a:srgbClr val="F0F4F8"/>
          </a:solidFill>
          <a:ln/>
        </p:spPr>
      </p:sp>
      <p:sp>
        <p:nvSpPr>
          <p:cNvPr id="38" name="Shape 30"/>
          <p:cNvSpPr/>
          <p:nvPr/>
        </p:nvSpPr>
        <p:spPr>
          <a:xfrm>
            <a:off x="657225" y="3182541"/>
            <a:ext cx="171450" cy="171450"/>
          </a:xfrm>
          <a:prstGeom prst="rect">
            <a:avLst/>
          </a:prstGeom>
          <a:solidFill>
            <a:srgbClr val="002B5C"/>
          </a:solidFill>
          <a:ln/>
        </p:spPr>
      </p:sp>
      <p:sp>
        <p:nvSpPr>
          <p:cNvPr id="39" name="Text 31"/>
          <p:cNvSpPr/>
          <p:nvPr/>
        </p:nvSpPr>
        <p:spPr>
          <a:xfrm>
            <a:off x="657225" y="3182541"/>
            <a:ext cx="171450" cy="171450"/>
          </a:xfrm>
          <a:prstGeom prst="rect">
            <a:avLst/>
          </a:prstGeom>
          <a:noFill/>
          <a:ln/>
        </p:spPr>
        <p:txBody>
          <a:bodyPr wrap="square" lIns="0" tIns="0" rIns="0" bIns="0" rtlCol="0" anchor="ctr">
            <a:spAutoFit/>
          </a:bodyPr>
          <a:lstStyle/>
          <a:p>
            <a:pPr algn="ctr" indent="0" marL="0">
              <a:lnSpc>
                <a:spcPts val="800"/>
              </a:lnSpc>
              <a:buNone/>
            </a:pPr>
            <a:r>
              <a:rPr lang="en-US" sz="584" b="1" dirty="0">
                <a:solidFill>
                  <a:srgbClr val="FFFFFF"/>
                </a:solidFill>
              </a:rPr>
              <a:t>1</a:t>
            </a:r>
            <a:endParaRPr lang="en-US" sz="584" dirty="0"/>
          </a:p>
        </p:txBody>
      </p:sp>
      <p:sp>
        <p:nvSpPr>
          <p:cNvPr id="40" name="Text 32"/>
          <p:cNvSpPr/>
          <p:nvPr/>
        </p:nvSpPr>
        <p:spPr>
          <a:xfrm>
            <a:off x="914400" y="3195042"/>
            <a:ext cx="1602739" cy="146447"/>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333333"/>
                </a:solidFill>
              </a:rPr>
              <a:t>Executive Committee Approval</a:t>
            </a:r>
            <a:endParaRPr lang="en-US" sz="734" dirty="0"/>
          </a:p>
        </p:txBody>
      </p:sp>
      <p:sp>
        <p:nvSpPr>
          <p:cNvPr id="41" name="Text 33"/>
          <p:cNvSpPr/>
          <p:nvPr/>
        </p:nvSpPr>
        <p:spPr>
          <a:xfrm>
            <a:off x="4210124" y="3204865"/>
            <a:ext cx="499560"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666666"/>
                </a:solidFill>
              </a:rPr>
              <a:t>This Month</a:t>
            </a:r>
            <a:endParaRPr lang="en-US" sz="634" dirty="0"/>
          </a:p>
        </p:txBody>
      </p:sp>
      <p:sp>
        <p:nvSpPr>
          <p:cNvPr id="42" name="Shape 34"/>
          <p:cNvSpPr/>
          <p:nvPr/>
        </p:nvSpPr>
        <p:spPr>
          <a:xfrm>
            <a:off x="571500" y="3468291"/>
            <a:ext cx="4223910" cy="285750"/>
          </a:xfrm>
          <a:prstGeom prst="rect">
            <a:avLst/>
          </a:prstGeom>
          <a:solidFill>
            <a:srgbClr val="F0F4F8"/>
          </a:solidFill>
          <a:ln/>
        </p:spPr>
      </p:sp>
      <p:sp>
        <p:nvSpPr>
          <p:cNvPr id="43" name="Shape 35"/>
          <p:cNvSpPr/>
          <p:nvPr/>
        </p:nvSpPr>
        <p:spPr>
          <a:xfrm>
            <a:off x="657225" y="3525441"/>
            <a:ext cx="171450" cy="171450"/>
          </a:xfrm>
          <a:prstGeom prst="rect">
            <a:avLst/>
          </a:prstGeom>
          <a:solidFill>
            <a:srgbClr val="002B5C"/>
          </a:solidFill>
          <a:ln/>
        </p:spPr>
      </p:sp>
      <p:sp>
        <p:nvSpPr>
          <p:cNvPr id="44" name="Text 36"/>
          <p:cNvSpPr/>
          <p:nvPr/>
        </p:nvSpPr>
        <p:spPr>
          <a:xfrm>
            <a:off x="657225" y="3525441"/>
            <a:ext cx="171450" cy="171450"/>
          </a:xfrm>
          <a:prstGeom prst="rect">
            <a:avLst/>
          </a:prstGeom>
          <a:noFill/>
          <a:ln/>
        </p:spPr>
        <p:txBody>
          <a:bodyPr wrap="square" lIns="0" tIns="0" rIns="0" bIns="0" rtlCol="0" anchor="ctr">
            <a:spAutoFit/>
          </a:bodyPr>
          <a:lstStyle/>
          <a:p>
            <a:pPr algn="ctr" indent="0" marL="0">
              <a:lnSpc>
                <a:spcPts val="800"/>
              </a:lnSpc>
              <a:buNone/>
            </a:pPr>
            <a:r>
              <a:rPr lang="en-US" sz="584" b="1" dirty="0">
                <a:solidFill>
                  <a:srgbClr val="FFFFFF"/>
                </a:solidFill>
              </a:rPr>
              <a:t>2</a:t>
            </a:r>
            <a:endParaRPr lang="en-US" sz="584" dirty="0"/>
          </a:p>
        </p:txBody>
      </p:sp>
      <p:sp>
        <p:nvSpPr>
          <p:cNvPr id="45" name="Text 37"/>
          <p:cNvSpPr/>
          <p:nvPr/>
        </p:nvSpPr>
        <p:spPr>
          <a:xfrm>
            <a:off x="914400" y="3537942"/>
            <a:ext cx="1204029" cy="146447"/>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333333"/>
                </a:solidFill>
              </a:rPr>
              <a:t>Project Team Assembly</a:t>
            </a:r>
            <a:endParaRPr lang="en-US" sz="734" dirty="0"/>
          </a:p>
        </p:txBody>
      </p:sp>
      <p:sp>
        <p:nvSpPr>
          <p:cNvPr id="46" name="Text 38"/>
          <p:cNvSpPr/>
          <p:nvPr/>
        </p:nvSpPr>
        <p:spPr>
          <a:xfrm>
            <a:off x="4338014" y="3547765"/>
            <a:ext cx="371670"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666666"/>
                </a:solidFill>
              </a:rPr>
              <a:t>Month 1</a:t>
            </a:r>
            <a:endParaRPr lang="en-US" sz="634" dirty="0"/>
          </a:p>
        </p:txBody>
      </p:sp>
      <p:sp>
        <p:nvSpPr>
          <p:cNvPr id="47" name="Shape 39"/>
          <p:cNvSpPr/>
          <p:nvPr/>
        </p:nvSpPr>
        <p:spPr>
          <a:xfrm>
            <a:off x="571500" y="3811191"/>
            <a:ext cx="4223910" cy="285750"/>
          </a:xfrm>
          <a:prstGeom prst="rect">
            <a:avLst/>
          </a:prstGeom>
          <a:solidFill>
            <a:srgbClr val="F0F4F8"/>
          </a:solidFill>
          <a:ln/>
        </p:spPr>
      </p:sp>
      <p:sp>
        <p:nvSpPr>
          <p:cNvPr id="48" name="Shape 40"/>
          <p:cNvSpPr/>
          <p:nvPr/>
        </p:nvSpPr>
        <p:spPr>
          <a:xfrm>
            <a:off x="657225" y="3868341"/>
            <a:ext cx="171450" cy="171450"/>
          </a:xfrm>
          <a:prstGeom prst="rect">
            <a:avLst/>
          </a:prstGeom>
          <a:solidFill>
            <a:srgbClr val="002B5C"/>
          </a:solidFill>
          <a:ln/>
        </p:spPr>
      </p:sp>
      <p:sp>
        <p:nvSpPr>
          <p:cNvPr id="49" name="Text 41"/>
          <p:cNvSpPr/>
          <p:nvPr/>
        </p:nvSpPr>
        <p:spPr>
          <a:xfrm>
            <a:off x="657225" y="3868341"/>
            <a:ext cx="171450" cy="171450"/>
          </a:xfrm>
          <a:prstGeom prst="rect">
            <a:avLst/>
          </a:prstGeom>
          <a:noFill/>
          <a:ln/>
        </p:spPr>
        <p:txBody>
          <a:bodyPr wrap="square" lIns="0" tIns="0" rIns="0" bIns="0" rtlCol="0" anchor="ctr">
            <a:spAutoFit/>
          </a:bodyPr>
          <a:lstStyle/>
          <a:p>
            <a:pPr algn="ctr" indent="0" marL="0">
              <a:lnSpc>
                <a:spcPts val="800"/>
              </a:lnSpc>
              <a:buNone/>
            </a:pPr>
            <a:r>
              <a:rPr lang="en-US" sz="584" b="1" dirty="0">
                <a:solidFill>
                  <a:srgbClr val="FFFFFF"/>
                </a:solidFill>
              </a:rPr>
              <a:t>3</a:t>
            </a:r>
            <a:endParaRPr lang="en-US" sz="584" dirty="0"/>
          </a:p>
        </p:txBody>
      </p:sp>
      <p:sp>
        <p:nvSpPr>
          <p:cNvPr id="50" name="Text 42"/>
          <p:cNvSpPr/>
          <p:nvPr/>
        </p:nvSpPr>
        <p:spPr>
          <a:xfrm>
            <a:off x="914400" y="3880842"/>
            <a:ext cx="1311297" cy="146447"/>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333333"/>
                </a:solidFill>
              </a:rPr>
              <a:t>Pilot Deployment (Line 1)</a:t>
            </a:r>
            <a:endParaRPr lang="en-US" sz="734" dirty="0"/>
          </a:p>
        </p:txBody>
      </p:sp>
      <p:sp>
        <p:nvSpPr>
          <p:cNvPr id="51" name="Text 43"/>
          <p:cNvSpPr/>
          <p:nvPr/>
        </p:nvSpPr>
        <p:spPr>
          <a:xfrm>
            <a:off x="4338014" y="3890665"/>
            <a:ext cx="371670"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666666"/>
                </a:solidFill>
              </a:rPr>
              <a:t>Month 6</a:t>
            </a:r>
            <a:endParaRPr lang="en-US" sz="634" dirty="0"/>
          </a:p>
        </p:txBody>
      </p:sp>
      <p:sp>
        <p:nvSpPr>
          <p:cNvPr id="52" name="Shape 44"/>
          <p:cNvSpPr/>
          <p:nvPr/>
        </p:nvSpPr>
        <p:spPr>
          <a:xfrm>
            <a:off x="571500" y="4154091"/>
            <a:ext cx="4223910" cy="285750"/>
          </a:xfrm>
          <a:prstGeom prst="rect">
            <a:avLst/>
          </a:prstGeom>
          <a:solidFill>
            <a:srgbClr val="F0F4F8"/>
          </a:solidFill>
          <a:ln/>
        </p:spPr>
      </p:sp>
      <p:sp>
        <p:nvSpPr>
          <p:cNvPr id="53" name="Shape 45"/>
          <p:cNvSpPr/>
          <p:nvPr/>
        </p:nvSpPr>
        <p:spPr>
          <a:xfrm>
            <a:off x="657225" y="4211241"/>
            <a:ext cx="171450" cy="171450"/>
          </a:xfrm>
          <a:prstGeom prst="rect">
            <a:avLst/>
          </a:prstGeom>
          <a:solidFill>
            <a:srgbClr val="002B5C"/>
          </a:solidFill>
          <a:ln/>
        </p:spPr>
      </p:sp>
      <p:sp>
        <p:nvSpPr>
          <p:cNvPr id="54" name="Text 46"/>
          <p:cNvSpPr/>
          <p:nvPr/>
        </p:nvSpPr>
        <p:spPr>
          <a:xfrm>
            <a:off x="657225" y="4211241"/>
            <a:ext cx="171450" cy="171450"/>
          </a:xfrm>
          <a:prstGeom prst="rect">
            <a:avLst/>
          </a:prstGeom>
          <a:noFill/>
          <a:ln/>
        </p:spPr>
        <p:txBody>
          <a:bodyPr wrap="square" lIns="0" tIns="0" rIns="0" bIns="0" rtlCol="0" anchor="ctr">
            <a:spAutoFit/>
          </a:bodyPr>
          <a:lstStyle/>
          <a:p>
            <a:pPr algn="ctr" indent="0" marL="0">
              <a:lnSpc>
                <a:spcPts val="800"/>
              </a:lnSpc>
              <a:buNone/>
            </a:pPr>
            <a:r>
              <a:rPr lang="en-US" sz="584" b="1" dirty="0">
                <a:solidFill>
                  <a:srgbClr val="FFFFFF"/>
                </a:solidFill>
              </a:rPr>
              <a:t>4</a:t>
            </a:r>
            <a:endParaRPr lang="en-US" sz="584" dirty="0"/>
          </a:p>
        </p:txBody>
      </p:sp>
      <p:sp>
        <p:nvSpPr>
          <p:cNvPr id="55" name="Text 47"/>
          <p:cNvSpPr/>
          <p:nvPr/>
        </p:nvSpPr>
        <p:spPr>
          <a:xfrm>
            <a:off x="914400" y="4223742"/>
            <a:ext cx="1193732" cy="146447"/>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333333"/>
                </a:solidFill>
              </a:rPr>
              <a:t>Full Production Rollout</a:t>
            </a:r>
            <a:endParaRPr lang="en-US" sz="734" dirty="0"/>
          </a:p>
        </p:txBody>
      </p:sp>
      <p:sp>
        <p:nvSpPr>
          <p:cNvPr id="56" name="Text 48"/>
          <p:cNvSpPr/>
          <p:nvPr/>
        </p:nvSpPr>
        <p:spPr>
          <a:xfrm>
            <a:off x="4338014" y="4233565"/>
            <a:ext cx="371670"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666666"/>
                </a:solidFill>
              </a:rPr>
              <a:t>Month 8</a:t>
            </a:r>
            <a:endParaRPr lang="en-US" sz="634" dirty="0"/>
          </a:p>
        </p:txBody>
      </p:sp>
      <p:sp>
        <p:nvSpPr>
          <p:cNvPr id="57" name="Shape 49"/>
          <p:cNvSpPr/>
          <p:nvPr/>
        </p:nvSpPr>
        <p:spPr>
          <a:xfrm>
            <a:off x="5052585" y="2018109"/>
            <a:ext cx="3519915" cy="1000125"/>
          </a:xfrm>
          <a:prstGeom prst="rect">
            <a:avLst/>
          </a:prstGeom>
          <a:solidFill>
            <a:srgbClr val="EEEEEE"/>
          </a:solidFill>
          <a:ln w="9144">
            <a:solidFill>
              <a:srgbClr val="DDDDDD"/>
            </a:solidFill>
            <a:prstDash val="solid"/>
          </a:ln>
        </p:spPr>
      </p:sp>
      <p:pic>
        <p:nvPicPr>
          <p:cNvPr id="58" name="Image 5" descr="preencoded.png">    </p:cNvPr>
          <p:cNvPicPr>
            <a:picLocks noChangeAspect="1"/>
          </p:cNvPicPr>
          <p:nvPr/>
        </p:nvPicPr>
        <p:blipFill>
          <a:blip r:embed="rId6"/>
          <a:stretch>
            <a:fillRect/>
          </a:stretch>
        </p:blipFill>
        <p:spPr>
          <a:xfrm>
            <a:off x="5052585" y="2018109"/>
            <a:ext cx="3519915" cy="1000125"/>
          </a:xfrm>
          <a:prstGeom prst="rect">
            <a:avLst/>
          </a:prstGeom>
        </p:spPr>
      </p:pic>
      <p:sp>
        <p:nvSpPr>
          <p:cNvPr id="59" name="Shape 50"/>
          <p:cNvSpPr/>
          <p:nvPr/>
        </p:nvSpPr>
        <p:spPr>
          <a:xfrm>
            <a:off x="5052585" y="3103959"/>
            <a:ext cx="3519915" cy="857250"/>
          </a:xfrm>
          <a:prstGeom prst="rect">
            <a:avLst/>
          </a:prstGeom>
          <a:solidFill>
            <a:srgbClr val="F9F9F9"/>
          </a:solidFill>
          <a:ln/>
        </p:spPr>
      </p:sp>
      <p:sp>
        <p:nvSpPr>
          <p:cNvPr id="60" name="Shape 51"/>
          <p:cNvSpPr/>
          <p:nvPr/>
        </p:nvSpPr>
        <p:spPr>
          <a:xfrm>
            <a:off x="5052585" y="3103959"/>
            <a:ext cx="28575" cy="857250"/>
          </a:xfrm>
          <a:prstGeom prst="rect">
            <a:avLst/>
          </a:prstGeom>
          <a:solidFill>
            <a:srgbClr val="666666"/>
          </a:solidFill>
          <a:ln/>
        </p:spPr>
      </p:sp>
      <p:sp>
        <p:nvSpPr>
          <p:cNvPr id="61" name="Text 52"/>
          <p:cNvSpPr/>
          <p:nvPr/>
        </p:nvSpPr>
        <p:spPr>
          <a:xfrm>
            <a:off x="5138310" y="3189684"/>
            <a:ext cx="3348465"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33333"/>
                </a:solidFill>
              </a:rPr>
              <a:t>Required Resources</a:t>
            </a:r>
            <a:endParaRPr lang="en-US" sz="683" dirty="0"/>
          </a:p>
        </p:txBody>
      </p:sp>
      <p:sp>
        <p:nvSpPr>
          <p:cNvPr id="62" name="Text 53"/>
          <p:cNvSpPr/>
          <p:nvPr/>
        </p:nvSpPr>
        <p:spPr>
          <a:xfrm>
            <a:off x="5138310" y="3382566"/>
            <a:ext cx="3348465"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555555"/>
                </a:solidFill>
              </a:rPr>
              <a:t>AI/ML Development Team (6-8 FTE)</a:t>
            </a:r>
            <a:endParaRPr lang="en-US" sz="727" dirty="0"/>
          </a:p>
        </p:txBody>
      </p:sp>
      <p:sp>
        <p:nvSpPr>
          <p:cNvPr id="63" name="Text 54"/>
          <p:cNvSpPr/>
          <p:nvPr/>
        </p:nvSpPr>
        <p:spPr>
          <a:xfrm>
            <a:off x="5138310" y="3546872"/>
            <a:ext cx="3348465"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555555"/>
                </a:solidFill>
              </a:rPr>
              <a:t>GPU Infrastructure (2x NVIDIA H100)</a:t>
            </a:r>
            <a:endParaRPr lang="en-US" sz="727" dirty="0"/>
          </a:p>
        </p:txBody>
      </p:sp>
      <p:sp>
        <p:nvSpPr>
          <p:cNvPr id="64" name="Text 55"/>
          <p:cNvSpPr/>
          <p:nvPr/>
        </p:nvSpPr>
        <p:spPr>
          <a:xfrm>
            <a:off x="5138310" y="3711178"/>
            <a:ext cx="3348465"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555555"/>
                </a:solidFill>
              </a:rPr>
              <a:t>Manufacturing Engineering Support (2-3 FTE)</a:t>
            </a:r>
            <a:endParaRPr lang="en-US" sz="727" dirty="0"/>
          </a:p>
        </p:txBody>
      </p:sp>
      <p:sp>
        <p:nvSpPr>
          <p:cNvPr id="65" name="Shape 56"/>
          <p:cNvSpPr/>
          <p:nvPr/>
        </p:nvSpPr>
        <p:spPr>
          <a:xfrm>
            <a:off x="571500" y="4820245"/>
            <a:ext cx="8001000" cy="280392"/>
          </a:xfrm>
          <a:prstGeom prst="rect">
            <a:avLst/>
          </a:prstGeom>
          <a:solidFill>
            <a:srgbClr val="FF4F00"/>
          </a:solidFill>
          <a:ln/>
        </p:spPr>
      </p:sp>
      <p:sp>
        <p:nvSpPr>
          <p:cNvPr id="66" name="Text 57"/>
          <p:cNvSpPr/>
          <p:nvPr/>
        </p:nvSpPr>
        <p:spPr>
          <a:xfrm>
            <a:off x="571500" y="4820245"/>
            <a:ext cx="8001000" cy="280392"/>
          </a:xfrm>
          <a:prstGeom prst="rect">
            <a:avLst/>
          </a:prstGeom>
          <a:noFill/>
          <a:ln/>
        </p:spPr>
        <p:txBody>
          <a:bodyPr wrap="square" lIns="51054" tIns="51054" rIns="51054" bIns="51054" rtlCol="0" anchor="t">
            <a:spAutoFit/>
          </a:bodyPr>
          <a:lstStyle/>
          <a:p>
            <a:pPr algn="ctr" indent="0" marL="0">
              <a:lnSpc>
                <a:spcPts val="1400"/>
              </a:lnSpc>
              <a:buNone/>
            </a:pPr>
            <a:r>
              <a:rPr lang="en-US" sz="987" b="1" spc="1" kern="0" dirty="0">
                <a:solidFill>
                  <a:srgbClr val="FFFFFF"/>
                </a:solidFill>
              </a:rPr>
              <a:t>Recommended Action: Approve Project Initiation</a:t>
            </a:r>
            <a:endParaRPr lang="en-US" sz="98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2026-01-17T05:36:57Z</dcterms:created>
  <dcterms:modified xsi:type="dcterms:W3CDTF">2026-01-17T05:36:57Z</dcterms:modified>
</cp:coreProperties>
</file>